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3"/>
  </p:notesMasterIdLst>
  <p:sldIdLst>
    <p:sldId id="257" r:id="rId2"/>
    <p:sldId id="323" r:id="rId3"/>
    <p:sldId id="322" r:id="rId4"/>
    <p:sldId id="317" r:id="rId5"/>
    <p:sldId id="319" r:id="rId6"/>
    <p:sldId id="390" r:id="rId7"/>
    <p:sldId id="391" r:id="rId8"/>
    <p:sldId id="392" r:id="rId9"/>
    <p:sldId id="402" r:id="rId10"/>
    <p:sldId id="403" r:id="rId11"/>
    <p:sldId id="404" r:id="rId12"/>
    <p:sldId id="405" r:id="rId13"/>
    <p:sldId id="407" r:id="rId14"/>
    <p:sldId id="408" r:id="rId15"/>
    <p:sldId id="406" r:id="rId16"/>
    <p:sldId id="357" r:id="rId17"/>
    <p:sldId id="358" r:id="rId18"/>
    <p:sldId id="359" r:id="rId19"/>
    <p:sldId id="360" r:id="rId20"/>
    <p:sldId id="361" r:id="rId21"/>
    <p:sldId id="362" r:id="rId22"/>
    <p:sldId id="363" r:id="rId23"/>
    <p:sldId id="365" r:id="rId24"/>
    <p:sldId id="364" r:id="rId25"/>
    <p:sldId id="388" r:id="rId26"/>
    <p:sldId id="383" r:id="rId27"/>
    <p:sldId id="366" r:id="rId28"/>
    <p:sldId id="368" r:id="rId29"/>
    <p:sldId id="367" r:id="rId30"/>
    <p:sldId id="370" r:id="rId31"/>
    <p:sldId id="384" r:id="rId32"/>
    <p:sldId id="385" r:id="rId33"/>
    <p:sldId id="371" r:id="rId34"/>
    <p:sldId id="372" r:id="rId35"/>
    <p:sldId id="373" r:id="rId36"/>
    <p:sldId id="374" r:id="rId37"/>
    <p:sldId id="375" r:id="rId38"/>
    <p:sldId id="376" r:id="rId39"/>
    <p:sldId id="381" r:id="rId40"/>
    <p:sldId id="382" r:id="rId41"/>
    <p:sldId id="394" r:id="rId42"/>
    <p:sldId id="396" r:id="rId43"/>
    <p:sldId id="395" r:id="rId44"/>
    <p:sldId id="397" r:id="rId45"/>
    <p:sldId id="398" r:id="rId46"/>
    <p:sldId id="399" r:id="rId47"/>
    <p:sldId id="400" r:id="rId48"/>
    <p:sldId id="401" r:id="rId49"/>
    <p:sldId id="409" r:id="rId50"/>
    <p:sldId id="410" r:id="rId51"/>
    <p:sldId id="356" r:id="rId5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191" autoAdjust="0"/>
    <p:restoredTop sz="94660"/>
  </p:normalViewPr>
  <p:slideViewPr>
    <p:cSldViewPr>
      <p:cViewPr varScale="1">
        <p:scale>
          <a:sx n="67" d="100"/>
          <a:sy n="67" d="100"/>
        </p:scale>
        <p:origin x="1452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microsoft.com/office/2015/10/relationships/revisionInfo" Target="revisionInfo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5BB1CA-D4D1-4052-BB55-2B7D3E8029F1}" type="datetimeFigureOut">
              <a:rPr lang="en-US" smtClean="0"/>
              <a:pPr/>
              <a:t>3/17/2019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5A5784-93A2-494A-AA95-91D34290EA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4538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066800"/>
            <a:ext cx="8229600" cy="8382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2057400"/>
            <a:ext cx="4038600" cy="4068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057400"/>
            <a:ext cx="4038600" cy="4068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72D039A8-6B2D-46B2-9F06-B3F4BB0F330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3/17/2019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.gif"/><Relationship Id="rId4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image" Target="../media/image20.wmf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2.wmf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gif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42863" y="42863"/>
            <a:ext cx="9066212" cy="6773862"/>
          </a:xfrm>
          <a:prstGeom prst="rect">
            <a:avLst/>
          </a:prstGeom>
          <a:solidFill>
            <a:srgbClr val="CC9900"/>
          </a:solidFill>
          <a:ln w="76200">
            <a:solidFill>
              <a:srgbClr val="0066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 sz="2400"/>
          </a:p>
        </p:txBody>
      </p:sp>
      <p:pic>
        <p:nvPicPr>
          <p:cNvPr id="3075" name="Picture 3" descr="C:\My Pictures\surveyart.bmp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1000" y="304800"/>
            <a:ext cx="8382000" cy="628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4580" name="Text Box 4"/>
          <p:cNvSpPr txBox="1">
            <a:spLocks noChangeArrowheads="1"/>
          </p:cNvSpPr>
          <p:nvPr/>
        </p:nvSpPr>
        <p:spPr bwMode="auto">
          <a:xfrm>
            <a:off x="42863" y="920679"/>
            <a:ext cx="9058274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63500" dir="2212194" algn="ctr" rotWithShape="0">
              <a:srgbClr val="663300"/>
            </a:outerShdw>
          </a:effectLst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7200" b="1" dirty="0">
                <a:solidFill>
                  <a:schemeClr val="bg1"/>
                </a:solidFill>
              </a:rPr>
              <a:t>Operating Systems</a:t>
            </a:r>
          </a:p>
        </p:txBody>
      </p:sp>
      <p:sp>
        <p:nvSpPr>
          <p:cNvPr id="24582" name="AutoShape 6"/>
          <p:cNvSpPr>
            <a:spLocks noChangeArrowheads="1"/>
          </p:cNvSpPr>
          <p:nvPr/>
        </p:nvSpPr>
        <p:spPr bwMode="auto">
          <a:xfrm>
            <a:off x="1409700" y="2098699"/>
            <a:ext cx="6324600" cy="3456682"/>
          </a:xfrm>
          <a:prstGeom prst="flowChartDecision">
            <a:avLst/>
          </a:prstGeom>
          <a:solidFill>
            <a:schemeClr val="bg1"/>
          </a:solidFill>
          <a:ln w="76200">
            <a:solidFill>
              <a:srgbClr val="CC9900"/>
            </a:solidFill>
            <a:miter lim="800000"/>
            <a:headEnd/>
            <a:tailEnd/>
          </a:ln>
          <a:effectLst>
            <a:prstShdw prst="shdw17" dist="17961" dir="13500000">
              <a:schemeClr val="tx1"/>
            </a:prst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2400" b="1" i="1" dirty="0">
                <a:solidFill>
                  <a:srgbClr val="7030A0"/>
                </a:solidFill>
              </a:rPr>
              <a:t>Lecture#1</a:t>
            </a:r>
          </a:p>
          <a:p>
            <a:pPr algn="ctr">
              <a:defRPr/>
            </a:pPr>
            <a:r>
              <a:rPr lang="en-US" sz="2400" b="1" dirty="0">
                <a:solidFill>
                  <a:srgbClr val="7030A0"/>
                </a:solidFill>
              </a:rPr>
              <a:t>Course Outline/Intro,</a:t>
            </a:r>
          </a:p>
          <a:p>
            <a:pPr algn="ctr">
              <a:defRPr/>
            </a:pPr>
            <a:r>
              <a:rPr lang="en-US" sz="2400" b="1" dirty="0">
                <a:solidFill>
                  <a:srgbClr val="7030A0"/>
                </a:solidFill>
              </a:rPr>
              <a:t>CPU and its Parts </a:t>
            </a:r>
          </a:p>
          <a:p>
            <a:pPr algn="ctr">
              <a:defRPr/>
            </a:pPr>
            <a:r>
              <a:rPr lang="en-US" sz="2400" b="1" dirty="0">
                <a:solidFill>
                  <a:srgbClr val="7030A0"/>
                </a:solidFill>
              </a:rPr>
              <a:t>Computer System, </a:t>
            </a:r>
          </a:p>
          <a:p>
            <a:pPr algn="ctr">
              <a:defRPr/>
            </a:pPr>
            <a:r>
              <a:rPr lang="en-US" sz="2400" b="1" dirty="0">
                <a:solidFill>
                  <a:srgbClr val="7030A0"/>
                </a:solidFill>
              </a:rPr>
              <a:t>Operating systems, Types,</a:t>
            </a:r>
          </a:p>
          <a:p>
            <a:pPr algn="ctr">
              <a:defRPr/>
            </a:pPr>
            <a:r>
              <a:rPr lang="en-US" sz="2400" b="1" dirty="0">
                <a:solidFill>
                  <a:srgbClr val="7030A0"/>
                </a:solidFill>
              </a:rPr>
              <a:t>Functions</a:t>
            </a:r>
          </a:p>
          <a:p>
            <a:pPr algn="ctr">
              <a:defRPr/>
            </a:pPr>
            <a:endParaRPr lang="en-US" sz="2400" b="1" dirty="0">
              <a:solidFill>
                <a:srgbClr val="7030A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4000" b="1" i="1" dirty="0">
                <a:solidFill>
                  <a:srgbClr val="0070C0"/>
                </a:solidFill>
              </a:rPr>
              <a:t>Text Book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b="1" i="1" dirty="0"/>
              <a:t>Modern Operating System By Tanenbaum A.S. 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4000" b="1" i="1" dirty="0">
                <a:solidFill>
                  <a:srgbClr val="0070C0"/>
                </a:solidFill>
              </a:rPr>
              <a:t>Helping Book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b="1" i="1" dirty="0"/>
              <a:t>Operating Systems: Internals and Design Principles By William </a:t>
            </a:r>
            <a:r>
              <a:rPr lang="en-US" b="1" i="1" dirty="0" smtClean="0"/>
              <a:t>Stalling</a:t>
            </a:r>
            <a:endParaRPr lang="en-US" b="1" i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0931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sz="8800" b="1" i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ORIENTATION</a:t>
            </a:r>
          </a:p>
        </p:txBody>
      </p:sp>
    </p:spTree>
    <p:extLst>
      <p:ext uri="{BB962C8B-B14F-4D97-AF65-F5344CB8AC3E}">
        <p14:creationId xmlns:p14="http://schemas.microsoft.com/office/powerpoint/2010/main" val="42597096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762000"/>
          </a:xfrm>
        </p:spPr>
        <p:txBody>
          <a:bodyPr/>
          <a:lstStyle/>
          <a:p>
            <a:pPr eaLnBrk="1" hangingPunct="1"/>
            <a:r>
              <a:rPr lang="en-IE" b="1" dirty="0">
                <a:solidFill>
                  <a:schemeClr val="accent3">
                    <a:lumMod val="50000"/>
                  </a:schemeClr>
                </a:solidFill>
              </a:rPr>
              <a:t>How do we understand an OS?</a:t>
            </a:r>
            <a:endParaRPr lang="en-GB" b="1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32771" name="Rectangle 8"/>
          <p:cNvSpPr>
            <a:spLocks noChangeArrowheads="1"/>
          </p:cNvSpPr>
          <p:nvPr/>
        </p:nvSpPr>
        <p:spPr bwMode="auto">
          <a:xfrm>
            <a:off x="228600" y="2549525"/>
            <a:ext cx="5638800" cy="584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</a:pPr>
            <a:endParaRPr lang="en-IE" sz="2800"/>
          </a:p>
        </p:txBody>
      </p:sp>
      <p:sp>
        <p:nvSpPr>
          <p:cNvPr id="214025" name="Rectangle 9"/>
          <p:cNvSpPr>
            <a:spLocks noChangeArrowheads="1"/>
          </p:cNvSpPr>
          <p:nvPr/>
        </p:nvSpPr>
        <p:spPr bwMode="auto">
          <a:xfrm>
            <a:off x="0" y="1066800"/>
            <a:ext cx="9144000" cy="5791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</a:pPr>
            <a:r>
              <a:rPr lang="en-IE" sz="2800" b="1" dirty="0">
                <a:latin typeface="Times New Roman" pitchFamily="18" charset="0"/>
                <a:cs typeface="Times New Roman" pitchFamily="18" charset="0"/>
              </a:rPr>
              <a:t>We need </a:t>
            </a:r>
            <a:r>
              <a:rPr lang="en-IE" sz="2800" b="1" dirty="0" smtClean="0">
                <a:latin typeface="Times New Roman" pitchFamily="18" charset="0"/>
                <a:cs typeface="Times New Roman" pitchFamily="18" charset="0"/>
              </a:rPr>
              <a:t>an </a:t>
            </a:r>
            <a:r>
              <a:rPr lang="en-IE" sz="2800" b="1" dirty="0">
                <a:latin typeface="Times New Roman" pitchFamily="18" charset="0"/>
                <a:cs typeface="Times New Roman" pitchFamily="18" charset="0"/>
              </a:rPr>
              <a:t>“</a:t>
            </a:r>
            <a:r>
              <a:rPr lang="en-IE" sz="2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Operating SYSTEM</a:t>
            </a:r>
            <a:r>
              <a:rPr lang="en-IE" sz="2800" b="1" dirty="0">
                <a:latin typeface="Times New Roman" pitchFamily="18" charset="0"/>
                <a:cs typeface="Times New Roman" pitchFamily="18" charset="0"/>
              </a:rPr>
              <a:t>” in order to understand a signal, in our case it is our brain to which an input signal is conveyed via our eye.</a:t>
            </a:r>
          </a:p>
          <a:p>
            <a:pPr marL="342900" indent="-34290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</a:pPr>
            <a:endParaRPr lang="en-IE" sz="2800" b="1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ct val="20000"/>
              </a:spcBef>
              <a:buClr>
                <a:schemeClr val="tx2"/>
              </a:buClr>
              <a:buSzPct val="75000"/>
            </a:pPr>
            <a:endParaRPr lang="en-GB" sz="28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0" y="2549525"/>
            <a:ext cx="5239329" cy="4185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9999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40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40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4025" grpId="0" build="p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762000"/>
          </a:xfrm>
        </p:spPr>
        <p:txBody>
          <a:bodyPr/>
          <a:lstStyle/>
          <a:p>
            <a:pPr eaLnBrk="1" hangingPunct="1"/>
            <a:r>
              <a:rPr lang="en-IE" b="1" dirty="0">
                <a:solidFill>
                  <a:schemeClr val="accent3">
                    <a:lumMod val="50000"/>
                  </a:schemeClr>
                </a:solidFill>
              </a:rPr>
              <a:t>An Example </a:t>
            </a:r>
            <a:endParaRPr lang="en-GB" b="1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32771" name="Rectangle 8"/>
          <p:cNvSpPr>
            <a:spLocks noChangeArrowheads="1"/>
          </p:cNvSpPr>
          <p:nvPr/>
        </p:nvSpPr>
        <p:spPr bwMode="auto">
          <a:xfrm>
            <a:off x="228600" y="2549525"/>
            <a:ext cx="5638800" cy="584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</a:pPr>
            <a:endParaRPr lang="en-IE" sz="2800"/>
          </a:p>
        </p:txBody>
      </p:sp>
      <p:sp>
        <p:nvSpPr>
          <p:cNvPr id="214025" name="Rectangle 9"/>
          <p:cNvSpPr>
            <a:spLocks noChangeArrowheads="1"/>
          </p:cNvSpPr>
          <p:nvPr/>
        </p:nvSpPr>
        <p:spPr bwMode="auto">
          <a:xfrm>
            <a:off x="-1" y="1043354"/>
            <a:ext cx="9087729" cy="5791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</a:pPr>
            <a:r>
              <a:rPr lang="en-IE" sz="2800" b="1" dirty="0">
                <a:latin typeface="Times New Roman" pitchFamily="18" charset="0"/>
                <a:cs typeface="Times New Roman" pitchFamily="18" charset="0"/>
              </a:rPr>
              <a:t>Signal</a:t>
            </a:r>
          </a:p>
          <a:p>
            <a:pPr marL="342900" indent="-34290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</a:pPr>
            <a:endParaRPr lang="en-IE" sz="2800" b="1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</a:pPr>
            <a:endParaRPr lang="en-IE" sz="2800" b="1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</a:pPr>
            <a:endParaRPr lang="en-IE" sz="2800" b="1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</a:pPr>
            <a:endParaRPr lang="en-IE" sz="2800" b="1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ct val="20000"/>
              </a:spcBef>
              <a:buClr>
                <a:schemeClr val="tx2"/>
              </a:buClr>
              <a:buSzPct val="75000"/>
            </a:pPr>
            <a:endParaRPr lang="en-IE" sz="2800" b="1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ct val="20000"/>
              </a:spcBef>
              <a:buClr>
                <a:schemeClr val="tx2"/>
              </a:buClr>
              <a:buSzPct val="75000"/>
            </a:pPr>
            <a:endParaRPr lang="en-GB" sz="28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3089" y="823404"/>
            <a:ext cx="2590800" cy="172612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8308" y="792752"/>
            <a:ext cx="2124747" cy="15240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0135" y="3938954"/>
            <a:ext cx="2433973" cy="194435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163479" y="1067701"/>
            <a:ext cx="10454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064194"/>
            <a:ext cx="15231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Respond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0781" y="3916239"/>
            <a:ext cx="2362689" cy="177201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02139" y="3902171"/>
            <a:ext cx="176041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</a:t>
            </a:r>
          </a:p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</a:p>
        </p:txBody>
      </p:sp>
      <p:sp>
        <p:nvSpPr>
          <p:cNvPr id="9" name="Arrow: Right 8"/>
          <p:cNvSpPr/>
          <p:nvPr/>
        </p:nvSpPr>
        <p:spPr>
          <a:xfrm>
            <a:off x="4343887" y="1673649"/>
            <a:ext cx="1918669" cy="48795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Arrow: Right 14"/>
          <p:cNvSpPr/>
          <p:nvPr/>
        </p:nvSpPr>
        <p:spPr>
          <a:xfrm rot="5400000">
            <a:off x="6784034" y="2868501"/>
            <a:ext cx="1371600" cy="48795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16" name="Arrow: Right 15"/>
          <p:cNvSpPr/>
          <p:nvPr/>
        </p:nvSpPr>
        <p:spPr>
          <a:xfrm rot="10800000">
            <a:off x="4343889" y="4911131"/>
            <a:ext cx="1761090" cy="48795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2690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025" name="Rectangle 9"/>
          <p:cNvSpPr>
            <a:spLocks noChangeArrowheads="1"/>
          </p:cNvSpPr>
          <p:nvPr/>
        </p:nvSpPr>
        <p:spPr bwMode="auto">
          <a:xfrm>
            <a:off x="10551" y="2160564"/>
            <a:ext cx="9144000" cy="4722054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/>
          <a:lstStyle/>
          <a:p>
            <a:pPr algn="ctr">
              <a:spcBef>
                <a:spcPct val="50000"/>
              </a:spcBef>
              <a:defRPr/>
            </a:pPr>
            <a:r>
              <a:rPr lang="en-US" sz="4400" b="1" dirty="0">
                <a:solidFill>
                  <a:schemeClr val="accent3">
                    <a:lumMod val="75000"/>
                  </a:schemeClr>
                </a:solidFill>
                <a:latin typeface="Times New Roman" pitchFamily="18" charset="0"/>
              </a:rPr>
              <a:t>Overview to Basics</a:t>
            </a:r>
          </a:p>
        </p:txBody>
      </p:sp>
    </p:spTree>
    <p:extLst>
      <p:ext uri="{BB962C8B-B14F-4D97-AF65-F5344CB8AC3E}">
        <p14:creationId xmlns:p14="http://schemas.microsoft.com/office/powerpoint/2010/main" val="26250578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title"/>
          </p:nvPr>
        </p:nvSpPr>
        <p:spPr>
          <a:xfrm>
            <a:off x="0" y="34924"/>
            <a:ext cx="9144000" cy="1031875"/>
          </a:xfrm>
        </p:spPr>
        <p:txBody>
          <a:bodyPr>
            <a:normAutofit/>
          </a:bodyPr>
          <a:lstStyle/>
          <a:p>
            <a:pPr eaLnBrk="1" hangingPunct="1"/>
            <a:r>
              <a:rPr lang="en-IE" b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a CPU?</a:t>
            </a:r>
            <a:endParaRPr lang="en-GB" b="1" dirty="0">
              <a:solidFill>
                <a:schemeClr val="accent3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771" name="Rectangle 8"/>
          <p:cNvSpPr>
            <a:spLocks noChangeArrowheads="1"/>
          </p:cNvSpPr>
          <p:nvPr/>
        </p:nvSpPr>
        <p:spPr bwMode="auto">
          <a:xfrm>
            <a:off x="228600" y="2549525"/>
            <a:ext cx="5638800" cy="584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</a:pPr>
            <a:endParaRPr lang="en-IE" sz="2800"/>
          </a:p>
        </p:txBody>
      </p:sp>
      <p:sp>
        <p:nvSpPr>
          <p:cNvPr id="214025" name="Rectangle 9"/>
          <p:cNvSpPr>
            <a:spLocks noChangeArrowheads="1"/>
          </p:cNvSpPr>
          <p:nvPr/>
        </p:nvSpPr>
        <p:spPr bwMode="auto">
          <a:xfrm>
            <a:off x="0" y="1064454"/>
            <a:ext cx="9144000" cy="5791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/>
          <a:lstStyle/>
          <a:p>
            <a:pPr marL="342900" indent="-342900" algn="just">
              <a:lnSpc>
                <a:spcPct val="15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</a:pPr>
            <a:r>
              <a:rPr lang="en-IE" sz="2800" b="1" dirty="0">
                <a:latin typeface="Times New Roman" pitchFamily="18" charset="0"/>
                <a:cs typeface="Times New Roman" pitchFamily="18" charset="0"/>
              </a:rPr>
              <a:t>CPU(Central processing Unit): Brain of computer where calculations and decision are made. It is also called </a:t>
            </a:r>
            <a:r>
              <a:rPr lang="en-IE" sz="2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microprocessor.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</a:pPr>
            <a:r>
              <a:rPr lang="en-IE" sz="2800" b="1" dirty="0">
                <a:latin typeface="Times New Roman" pitchFamily="18" charset="0"/>
                <a:cs typeface="Times New Roman" pitchFamily="18" charset="0"/>
              </a:rPr>
              <a:t>Three parts of CPU:</a:t>
            </a:r>
          </a:p>
          <a:p>
            <a:pPr marL="800100" lvl="1" indent="-34290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</a:pPr>
            <a:r>
              <a:rPr lang="en-IE" sz="2800" b="1" dirty="0">
                <a:latin typeface="Times New Roman" pitchFamily="18" charset="0"/>
                <a:cs typeface="Times New Roman" pitchFamily="18" charset="0"/>
              </a:rPr>
              <a:t>ALU: Performs mathematical and logical operations</a:t>
            </a:r>
          </a:p>
          <a:p>
            <a:pPr marL="800100" lvl="1" indent="-34290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</a:pPr>
            <a:r>
              <a:rPr lang="en-IE" sz="2800" b="1" dirty="0">
                <a:latin typeface="Times New Roman" pitchFamily="18" charset="0"/>
                <a:cs typeface="Times New Roman" pitchFamily="18" charset="0"/>
              </a:rPr>
              <a:t>CU: Interconnect CPU to other parts and control traffic.</a:t>
            </a:r>
          </a:p>
          <a:p>
            <a:pPr marL="800100" lvl="1" indent="-34290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</a:pPr>
            <a:r>
              <a:rPr lang="en-IE" sz="2800" b="1" dirty="0">
                <a:latin typeface="Times New Roman" pitchFamily="18" charset="0"/>
                <a:cs typeface="Times New Roman" pitchFamily="18" charset="0"/>
              </a:rPr>
              <a:t>Memory: Storage area, temporary or permanent. RAM,ROM and Hard disk.</a:t>
            </a:r>
          </a:p>
        </p:txBody>
      </p:sp>
    </p:spTree>
    <p:extLst>
      <p:ext uri="{BB962C8B-B14F-4D97-AF65-F5344CB8AC3E}">
        <p14:creationId xmlns:p14="http://schemas.microsoft.com/office/powerpoint/2010/main" val="3384048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40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40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40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140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140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140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140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140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40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140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4025" grpId="0" build="p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title"/>
          </p:nvPr>
        </p:nvSpPr>
        <p:spPr>
          <a:xfrm>
            <a:off x="0" y="34924"/>
            <a:ext cx="9144000" cy="1031875"/>
          </a:xfrm>
        </p:spPr>
        <p:txBody>
          <a:bodyPr>
            <a:normAutofit/>
          </a:bodyPr>
          <a:lstStyle/>
          <a:p>
            <a:r>
              <a:rPr lang="en-IE" b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a CPU?</a:t>
            </a:r>
            <a:endParaRPr lang="en-GB" b="1" dirty="0">
              <a:solidFill>
                <a:schemeClr val="accent3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771" name="Rectangle 8"/>
          <p:cNvSpPr>
            <a:spLocks noChangeArrowheads="1"/>
          </p:cNvSpPr>
          <p:nvPr/>
        </p:nvSpPr>
        <p:spPr bwMode="auto">
          <a:xfrm>
            <a:off x="228600" y="2549525"/>
            <a:ext cx="5638800" cy="584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</a:pPr>
            <a:endParaRPr lang="en-IE" sz="2800"/>
          </a:p>
        </p:txBody>
      </p:sp>
      <p:sp>
        <p:nvSpPr>
          <p:cNvPr id="214025" name="Rectangle 9"/>
          <p:cNvSpPr>
            <a:spLocks noChangeArrowheads="1"/>
          </p:cNvSpPr>
          <p:nvPr/>
        </p:nvSpPr>
        <p:spPr bwMode="auto">
          <a:xfrm>
            <a:off x="0" y="1064454"/>
            <a:ext cx="9144000" cy="5791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/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</a:pPr>
            <a:endParaRPr lang="en-IE" sz="28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01D59E72-9F10-4157-A224-185D9DBBE4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" y="1905000"/>
            <a:ext cx="5512154" cy="3400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9099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40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40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4025" grpId="0" build="p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1600200"/>
            <a:ext cx="7315200" cy="5181600"/>
          </a:xfrm>
        </p:spPr>
      </p:pic>
      <p:sp>
        <p:nvSpPr>
          <p:cNvPr id="3" name="Rectangle 7">
            <a:extLst>
              <a:ext uri="{FF2B5EF4-FFF2-40B4-BE49-F238E27FC236}">
                <a16:creationId xmlns:a16="http://schemas.microsoft.com/office/drawing/2014/main" xmlns="" id="{145CA7EB-BB3D-4AAF-9542-4430874279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4924"/>
            <a:ext cx="9144000" cy="1031875"/>
          </a:xfrm>
        </p:spPr>
        <p:txBody>
          <a:bodyPr>
            <a:normAutofit/>
          </a:bodyPr>
          <a:lstStyle/>
          <a:p>
            <a:r>
              <a:rPr lang="en-IE" b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CPU works?</a:t>
            </a:r>
            <a:endParaRPr lang="en-GB" b="1" dirty="0">
              <a:solidFill>
                <a:schemeClr val="accent3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06979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5"/>
          <p:cNvSpPr>
            <a:spLocks noGrp="1"/>
          </p:cNvSpPr>
          <p:nvPr>
            <p:ph type="title"/>
          </p:nvPr>
        </p:nvSpPr>
        <p:spPr>
          <a:xfrm>
            <a:off x="-5862" y="0"/>
            <a:ext cx="9149862" cy="609600"/>
          </a:xfrm>
        </p:spPr>
        <p:txBody>
          <a:bodyPr>
            <a:normAutofit fontScale="90000"/>
          </a:bodyPr>
          <a:lstStyle/>
          <a:p>
            <a:r>
              <a:rPr lang="en-US" altLang="en-US" sz="4000" b="1" dirty="0">
                <a:solidFill>
                  <a:schemeClr val="accent3">
                    <a:lumMod val="50000"/>
                  </a:schemeClr>
                </a:solidFill>
              </a:rPr>
              <a:t>What is Bus?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0" y="838200"/>
            <a:ext cx="9144000" cy="3276600"/>
          </a:xfrm>
        </p:spPr>
        <p:txBody>
          <a:bodyPr>
            <a:normAutofit/>
          </a:bodyPr>
          <a:lstStyle/>
          <a:p>
            <a:pPr>
              <a:buClr>
                <a:schemeClr val="tx1"/>
              </a:buClr>
            </a:pPr>
            <a:r>
              <a:rPr lang="en-US" altLang="en-US" sz="2800" b="1" dirty="0">
                <a:solidFill>
                  <a:srgbClr val="FF0000"/>
                </a:solidFill>
              </a:rPr>
              <a:t>A bus</a:t>
            </a:r>
            <a:r>
              <a:rPr lang="en-US" altLang="en-US" sz="2800" b="1" dirty="0"/>
              <a:t> in computer terms, is simply a channel over which information flows between two or more devices.</a:t>
            </a:r>
          </a:p>
          <a:p>
            <a:pPr>
              <a:buClr>
                <a:schemeClr val="tx1"/>
              </a:buClr>
            </a:pPr>
            <a:r>
              <a:rPr lang="en-US" altLang="en-US" sz="2800" b="1" dirty="0"/>
              <a:t>There are three types of bus:-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altLang="en-US" b="1" dirty="0">
                <a:solidFill>
                  <a:srgbClr val="FF0000"/>
                </a:solidFill>
              </a:rPr>
              <a:t>Address bus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altLang="en-US" b="1" dirty="0">
                <a:solidFill>
                  <a:srgbClr val="FF0000"/>
                </a:solidFill>
              </a:rPr>
              <a:t>Data bus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altLang="en-US" b="1" dirty="0">
                <a:solidFill>
                  <a:srgbClr val="FF0000"/>
                </a:solidFill>
              </a:rPr>
              <a:t>Control bus</a:t>
            </a:r>
          </a:p>
        </p:txBody>
      </p:sp>
      <p:pic>
        <p:nvPicPr>
          <p:cNvPr id="12294" name="Picture 6" descr="H:\shivam &amp; yogendra\GM_CLASS_2_DATA_BUS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0" y="2580861"/>
            <a:ext cx="5486400" cy="30678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5405399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2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2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6" dur="2000"/>
                                        <p:tgtEl>
                                          <p:spTgt spid="12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0" grpId="0"/>
      <p:bldP spid="7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90600"/>
          </a:xfrm>
        </p:spPr>
        <p:txBody>
          <a:bodyPr>
            <a:normAutofit/>
          </a:bodyPr>
          <a:lstStyle/>
          <a:p>
            <a:r>
              <a:rPr lang="en-US" altLang="en-US" sz="4000" b="1" dirty="0">
                <a:solidFill>
                  <a:schemeClr val="accent3">
                    <a:lumMod val="50000"/>
                  </a:schemeClr>
                </a:solidFill>
              </a:rPr>
              <a:t>Memory</a:t>
            </a:r>
          </a:p>
        </p:txBody>
      </p:sp>
      <p:sp>
        <p:nvSpPr>
          <p:cNvPr id="11267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9144000" cy="58674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is one of the most important factor in the microprocessor.</a:t>
            </a:r>
          </a:p>
          <a:p>
            <a:pPr>
              <a:lnSpc>
                <a:spcPct val="150000"/>
              </a:lnSpc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used to store the data or information in a binary format.</a:t>
            </a:r>
          </a:p>
          <a:p>
            <a:pPr>
              <a:lnSpc>
                <a:spcPct val="150000"/>
              </a:lnSpc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can be permanent such as hard disk or it can be temporary such as RAM.</a:t>
            </a:r>
          </a:p>
          <a:p>
            <a:pPr>
              <a:lnSpc>
                <a:spcPct val="150000"/>
              </a:lnSpc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Register is the smallest memory unit.               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24096188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2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2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6" grpId="0"/>
      <p:bldP spid="11267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90600"/>
          </a:xfrm>
        </p:spPr>
        <p:txBody>
          <a:bodyPr/>
          <a:lstStyle/>
          <a:p>
            <a:r>
              <a:rPr lang="en-US" b="1" dirty="0">
                <a:solidFill>
                  <a:schemeClr val="accent3">
                    <a:lumMod val="50000"/>
                  </a:schemeClr>
                </a:solidFill>
              </a:rPr>
              <a:t>Memory Hierarchy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43000" y="1447800"/>
            <a:ext cx="6948488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8299177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 algn="ctr">
              <a:buNone/>
            </a:pPr>
            <a:r>
              <a:rPr lang="en-US" sz="5400" b="1" dirty="0">
                <a:solidFill>
                  <a:schemeClr val="accent3">
                    <a:lumMod val="50000"/>
                  </a:schemeClr>
                </a:solidFill>
              </a:rPr>
              <a:t>Fetch Execute Cycle</a:t>
            </a:r>
          </a:p>
        </p:txBody>
      </p:sp>
    </p:spTree>
    <p:extLst>
      <p:ext uri="{BB962C8B-B14F-4D97-AF65-F5344CB8AC3E}">
        <p14:creationId xmlns:p14="http://schemas.microsoft.com/office/powerpoint/2010/main" val="1631382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14400"/>
          </a:xfrm>
        </p:spPr>
        <p:txBody>
          <a:bodyPr/>
          <a:lstStyle/>
          <a:p>
            <a:r>
              <a:rPr lang="en-US" b="1" dirty="0">
                <a:solidFill>
                  <a:schemeClr val="accent3">
                    <a:lumMod val="50000"/>
                  </a:schemeClr>
                </a:solidFill>
              </a:rPr>
              <a:t>Fetch Execute Cycle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62000"/>
            <a:ext cx="9144000" cy="60960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Fetch: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Fetch Operation is used for taking the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instructions/data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those are given by the user and the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Instructions/data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those are stored into the Memory will be fetched.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Decode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Decode Operation is used for interpreting the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Instructions, which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means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that the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Instructions are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decoded. In this way,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CPU will find out which Operation is to be performed on the Instructions.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Execute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Execute Operation is performed by the CPU.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produced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the CPU are then Stored into the Memory and after that they are displayed on the user Screen.</a:t>
            </a:r>
          </a:p>
        </p:txBody>
      </p:sp>
    </p:spTree>
    <p:extLst>
      <p:ext uri="{BB962C8B-B14F-4D97-AF65-F5344CB8AC3E}">
        <p14:creationId xmlns:p14="http://schemas.microsoft.com/office/powerpoint/2010/main" val="2796789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371600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</a:rPr>
              <a:t>HOW </a:t>
            </a:r>
            <a:r>
              <a:rPr lang="en-US" b="1" dirty="0">
                <a:solidFill>
                  <a:schemeClr val="accent3">
                    <a:lumMod val="50000"/>
                  </a:schemeClr>
                </a:solidFill>
              </a:rPr>
              <a:t>ALU,CU AND REGISTER ARE WORKING TOGETHER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5425" y="1681162"/>
            <a:ext cx="6153150" cy="4943475"/>
          </a:xfrm>
        </p:spPr>
      </p:pic>
    </p:spTree>
    <p:extLst>
      <p:ext uri="{BB962C8B-B14F-4D97-AF65-F5344CB8AC3E}">
        <p14:creationId xmlns:p14="http://schemas.microsoft.com/office/powerpoint/2010/main" val="25342904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025" name="Rectangle 9"/>
          <p:cNvSpPr>
            <a:spLocks noChangeArrowheads="1"/>
          </p:cNvSpPr>
          <p:nvPr/>
        </p:nvSpPr>
        <p:spPr bwMode="auto">
          <a:xfrm>
            <a:off x="10551" y="2160564"/>
            <a:ext cx="9144000" cy="4722054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/>
          <a:lstStyle/>
          <a:p>
            <a:pPr algn="ctr">
              <a:spcBef>
                <a:spcPct val="50000"/>
              </a:spcBef>
              <a:defRPr/>
            </a:pPr>
            <a:r>
              <a:rPr lang="en-US" sz="4400" b="1" dirty="0">
                <a:solidFill>
                  <a:schemeClr val="accent3">
                    <a:lumMod val="75000"/>
                  </a:schemeClr>
                </a:solidFill>
                <a:latin typeface="Times New Roman" pitchFamily="18" charset="0"/>
              </a:rPr>
              <a:t>Introduction to Computer System</a:t>
            </a:r>
          </a:p>
        </p:txBody>
      </p:sp>
    </p:spTree>
    <p:extLst>
      <p:ext uri="{BB962C8B-B14F-4D97-AF65-F5344CB8AC3E}">
        <p14:creationId xmlns:p14="http://schemas.microsoft.com/office/powerpoint/2010/main" val="12901832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title"/>
          </p:nvPr>
        </p:nvSpPr>
        <p:spPr>
          <a:xfrm>
            <a:off x="32825" y="25365"/>
            <a:ext cx="9144000" cy="1031875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What is Computer System</a:t>
            </a:r>
          </a:p>
        </p:txBody>
      </p:sp>
      <p:sp>
        <p:nvSpPr>
          <p:cNvPr id="32771" name="Rectangle 8"/>
          <p:cNvSpPr>
            <a:spLocks noChangeArrowheads="1"/>
          </p:cNvSpPr>
          <p:nvPr/>
        </p:nvSpPr>
        <p:spPr bwMode="auto">
          <a:xfrm>
            <a:off x="228600" y="2549525"/>
            <a:ext cx="5638800" cy="584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</a:pPr>
            <a:endParaRPr lang="en-IE" sz="2800"/>
          </a:p>
        </p:txBody>
      </p:sp>
      <p:sp>
        <p:nvSpPr>
          <p:cNvPr id="214025" name="Rectangle 9"/>
          <p:cNvSpPr>
            <a:spLocks noChangeArrowheads="1"/>
          </p:cNvSpPr>
          <p:nvPr/>
        </p:nvSpPr>
        <p:spPr bwMode="auto">
          <a:xfrm>
            <a:off x="0" y="609600"/>
            <a:ext cx="9144000" cy="6246054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/>
          <a:lstStyle/>
          <a:p>
            <a:pPr lvl="0"/>
            <a:endParaRPr lang="en-GB" sz="28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Picture 8" descr="hw01">
            <a:extLst>
              <a:ext uri="{FF2B5EF4-FFF2-40B4-BE49-F238E27FC236}">
                <a16:creationId xmlns:a16="http://schemas.microsoft.com/office/drawing/2014/main" xmlns="" id="{5668ACE3-E704-489B-9681-4458F7C641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5281" y="1752600"/>
            <a:ext cx="4219238" cy="33758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194" name="Picture 2" descr="Image result for Laptop">
            <a:extLst>
              <a:ext uri="{FF2B5EF4-FFF2-40B4-BE49-F238E27FC236}">
                <a16:creationId xmlns:a16="http://schemas.microsoft.com/office/drawing/2014/main" xmlns="" id="{3F46263E-5DB0-44E9-B59A-27472A5090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9800" y="1752599"/>
            <a:ext cx="4027487" cy="33758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30243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40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40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4025" grpId="0" build="p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title"/>
          </p:nvPr>
        </p:nvSpPr>
        <p:spPr>
          <a:xfrm>
            <a:off x="0" y="34924"/>
            <a:ext cx="9144000" cy="1031875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What is Computer System: Definition</a:t>
            </a:r>
            <a:endParaRPr lang="en-GB" b="1" dirty="0">
              <a:solidFill>
                <a:schemeClr val="accent3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771" name="Rectangle 8"/>
          <p:cNvSpPr>
            <a:spLocks noChangeArrowheads="1"/>
          </p:cNvSpPr>
          <p:nvPr/>
        </p:nvSpPr>
        <p:spPr bwMode="auto">
          <a:xfrm>
            <a:off x="228600" y="2549525"/>
            <a:ext cx="5638800" cy="584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</a:pPr>
            <a:endParaRPr lang="en-IE" sz="2800"/>
          </a:p>
        </p:txBody>
      </p:sp>
      <p:sp>
        <p:nvSpPr>
          <p:cNvPr id="214025" name="Rectangle 9"/>
          <p:cNvSpPr>
            <a:spLocks noChangeArrowheads="1"/>
          </p:cNvSpPr>
          <p:nvPr/>
        </p:nvSpPr>
        <p:spPr bwMode="auto">
          <a:xfrm>
            <a:off x="0" y="1064454"/>
            <a:ext cx="9144000" cy="5791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/>
          <a:lstStyle/>
          <a:p>
            <a:pPr marL="342900" indent="-342900" algn="just">
              <a:lnSpc>
                <a:spcPct val="15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system is defined as the combination of hardware, software,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data.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</a:pPr>
            <a:endParaRPr lang="en-IE" sz="24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xmlns="" id="{6FF15EDF-3846-4DA6-83CE-4DF1D947F3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2286000"/>
            <a:ext cx="3352800" cy="4133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1866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40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40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4025" grpId="0" build="p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title"/>
          </p:nvPr>
        </p:nvSpPr>
        <p:spPr>
          <a:xfrm>
            <a:off x="0" y="34924"/>
            <a:ext cx="9144000" cy="1031875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What is Computer System: Hardware</a:t>
            </a:r>
            <a:endParaRPr lang="en-GB" b="1" dirty="0">
              <a:solidFill>
                <a:schemeClr val="accent3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771" name="Rectangle 8"/>
          <p:cNvSpPr>
            <a:spLocks noChangeArrowheads="1"/>
          </p:cNvSpPr>
          <p:nvPr/>
        </p:nvSpPr>
        <p:spPr bwMode="auto">
          <a:xfrm>
            <a:off x="228600" y="2549525"/>
            <a:ext cx="5638800" cy="584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</a:pPr>
            <a:endParaRPr lang="en-IE" sz="2800"/>
          </a:p>
        </p:txBody>
      </p:sp>
      <p:sp>
        <p:nvSpPr>
          <p:cNvPr id="214025" name="Rectangle 9"/>
          <p:cNvSpPr>
            <a:spLocks noChangeArrowheads="1"/>
          </p:cNvSpPr>
          <p:nvPr/>
        </p:nvSpPr>
        <p:spPr bwMode="auto">
          <a:xfrm>
            <a:off x="0" y="1064454"/>
            <a:ext cx="9144000" cy="5791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/>
          <a:lstStyle/>
          <a:p>
            <a:pPr marL="342900" indent="-342900" algn="just">
              <a:lnSpc>
                <a:spcPct val="15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 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is the physical parts or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a computer, such as monitor, keyboard, computer data storage, graphic card, sound card, motherboard, and so on.</a:t>
            </a:r>
            <a:endParaRPr lang="en-IE" sz="24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098" name="Picture 2" descr="Image result for hardware">
            <a:extLst>
              <a:ext uri="{FF2B5EF4-FFF2-40B4-BE49-F238E27FC236}">
                <a16:creationId xmlns:a16="http://schemas.microsoft.com/office/drawing/2014/main" xmlns="" id="{D2687809-0D2D-42CE-8CC7-3236F38DD1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3525" y="3133725"/>
            <a:ext cx="6076950" cy="3419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4536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40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40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4025" grpId="0" build="p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title"/>
          </p:nvPr>
        </p:nvSpPr>
        <p:spPr>
          <a:xfrm>
            <a:off x="0" y="34924"/>
            <a:ext cx="9144000" cy="1031875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What is Computer System: Software</a:t>
            </a:r>
            <a:endParaRPr lang="en-GB" b="1" dirty="0">
              <a:solidFill>
                <a:schemeClr val="accent3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771" name="Rectangle 8"/>
          <p:cNvSpPr>
            <a:spLocks noChangeArrowheads="1"/>
          </p:cNvSpPr>
          <p:nvPr/>
        </p:nvSpPr>
        <p:spPr bwMode="auto">
          <a:xfrm>
            <a:off x="228600" y="2549525"/>
            <a:ext cx="5638800" cy="584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</a:pPr>
            <a:endParaRPr lang="en-IE" sz="2800"/>
          </a:p>
        </p:txBody>
      </p:sp>
      <p:sp>
        <p:nvSpPr>
          <p:cNvPr id="214025" name="Rectangle 9"/>
          <p:cNvSpPr>
            <a:spLocks noChangeArrowheads="1"/>
          </p:cNvSpPr>
          <p:nvPr/>
        </p:nvSpPr>
        <p:spPr bwMode="auto">
          <a:xfrm>
            <a:off x="0" y="1064454"/>
            <a:ext cx="9144000" cy="5791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/>
          <a:lstStyle/>
          <a:p>
            <a:pPr marL="342900" indent="-342900" algn="just">
              <a:lnSpc>
                <a:spcPct val="15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computer software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or simply 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is a part of a computer system that consists of data or computer instructions.</a:t>
            </a:r>
          </a:p>
          <a:p>
            <a:pPr marL="342900" indent="-342900" algn="just">
              <a:lnSpc>
                <a:spcPct val="15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Further divided as system or application software.</a:t>
            </a:r>
          </a:p>
          <a:p>
            <a:pPr marL="342900" indent="-342900" algn="just">
              <a:lnSpc>
                <a:spcPct val="15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Windows is ?</a:t>
            </a:r>
          </a:p>
          <a:p>
            <a:pPr algn="just">
              <a:lnSpc>
                <a:spcPct val="150000"/>
              </a:lnSpc>
              <a:spcBef>
                <a:spcPct val="20000"/>
              </a:spcBef>
              <a:buClr>
                <a:schemeClr val="tx2"/>
              </a:buClr>
              <a:buSzPct val="75000"/>
            </a:pPr>
            <a:endParaRPr lang="en-IE" sz="2400" b="1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  <a:spcBef>
                <a:spcPct val="20000"/>
              </a:spcBef>
              <a:buClr>
                <a:schemeClr val="tx2"/>
              </a:buClr>
              <a:buSzPct val="75000"/>
            </a:pPr>
            <a:endParaRPr lang="en-IE" sz="24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CF15DBF9-D1C0-47B0-9A04-51954CED28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0" y="3133725"/>
            <a:ext cx="5105400" cy="3387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3437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40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40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40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140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140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140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4025" grpId="0" build="p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title"/>
          </p:nvPr>
        </p:nvSpPr>
        <p:spPr>
          <a:xfrm>
            <a:off x="0" y="34924"/>
            <a:ext cx="9144000" cy="103187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What is Computer System: User and Data</a:t>
            </a:r>
            <a:endParaRPr lang="en-GB" b="1" dirty="0">
              <a:solidFill>
                <a:schemeClr val="accent3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771" name="Rectangle 8"/>
          <p:cNvSpPr>
            <a:spLocks noChangeArrowheads="1"/>
          </p:cNvSpPr>
          <p:nvPr/>
        </p:nvSpPr>
        <p:spPr bwMode="auto">
          <a:xfrm>
            <a:off x="228600" y="2549525"/>
            <a:ext cx="5638800" cy="584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</a:pPr>
            <a:endParaRPr lang="en-IE" sz="2800"/>
          </a:p>
        </p:txBody>
      </p:sp>
      <p:sp>
        <p:nvSpPr>
          <p:cNvPr id="214025" name="Rectangle 9"/>
          <p:cNvSpPr>
            <a:spLocks noChangeArrowheads="1"/>
          </p:cNvSpPr>
          <p:nvPr/>
        </p:nvSpPr>
        <p:spPr bwMode="auto">
          <a:xfrm>
            <a:off x="0" y="1064454"/>
            <a:ext cx="9144000" cy="5791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/>
          <a:lstStyle/>
          <a:p>
            <a:pPr marL="342900" indent="-342900" algn="just">
              <a:lnSpc>
                <a:spcPct val="15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 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is a person who uses a 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or network service.</a:t>
            </a:r>
          </a:p>
          <a:p>
            <a:pPr marL="342900" indent="-342900" algn="just">
              <a:lnSpc>
                <a:spcPct val="15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generally use a system or a software product without the technical expertise required to fully understand it. </a:t>
            </a:r>
            <a:endParaRPr lang="en-IE" sz="2400" b="1" dirty="0">
              <a:latin typeface="Times New Roman" panose="02020603050405020304" pitchFamily="18" charset="0"/>
              <a:cs typeface="Times New Roman" pitchFamily="18" charset="0"/>
            </a:endParaRPr>
          </a:p>
          <a:p>
            <a:pPr marL="342900" indent="-342900" algn="just">
              <a:lnSpc>
                <a:spcPct val="15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data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is information processed or stored by a 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This information may be in the form of text documents, images, audio clips, software programs, or other types of 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 </a:t>
            </a:r>
          </a:p>
          <a:p>
            <a:pPr marL="342900" indent="-342900" algn="just">
              <a:lnSpc>
                <a:spcPct val="15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data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may be processed by the 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computer's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CPU and is stored in files and folders on the 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computer's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hard disk.</a:t>
            </a:r>
            <a:endParaRPr lang="en-IE" sz="2400" b="1" dirty="0">
              <a:latin typeface="Times New Roman" panose="02020603050405020304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1530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40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40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40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140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140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140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40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140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4025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title"/>
          </p:nvPr>
        </p:nvSpPr>
        <p:spPr>
          <a:xfrm>
            <a:off x="0" y="34924"/>
            <a:ext cx="9144000" cy="103187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What is Computer System: How computer System Works?</a:t>
            </a:r>
            <a:endParaRPr lang="en-GB" b="1" dirty="0">
              <a:solidFill>
                <a:schemeClr val="accent3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771" name="Rectangle 8"/>
          <p:cNvSpPr>
            <a:spLocks noChangeArrowheads="1"/>
          </p:cNvSpPr>
          <p:nvPr/>
        </p:nvSpPr>
        <p:spPr bwMode="auto">
          <a:xfrm>
            <a:off x="228600" y="2549525"/>
            <a:ext cx="5638800" cy="584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</a:pPr>
            <a:endParaRPr lang="en-IE" sz="2800"/>
          </a:p>
        </p:txBody>
      </p:sp>
      <p:sp>
        <p:nvSpPr>
          <p:cNvPr id="214025" name="Rectangle 9"/>
          <p:cNvSpPr>
            <a:spLocks noChangeArrowheads="1"/>
          </p:cNvSpPr>
          <p:nvPr/>
        </p:nvSpPr>
        <p:spPr bwMode="auto">
          <a:xfrm>
            <a:off x="0" y="1064454"/>
            <a:ext cx="9144000" cy="5791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/>
          <a:lstStyle/>
          <a:p>
            <a:pPr marL="342900" indent="-342900" algn="just">
              <a:lnSpc>
                <a:spcPct val="15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user interacts with a computer via operating system as a medium.</a:t>
            </a:r>
          </a:p>
        </p:txBody>
      </p:sp>
      <p:pic>
        <p:nvPicPr>
          <p:cNvPr id="7172" name="Picture 4" descr="Image result for computer software">
            <a:extLst>
              <a:ext uri="{FF2B5EF4-FFF2-40B4-BE49-F238E27FC236}">
                <a16:creationId xmlns:a16="http://schemas.microsoft.com/office/drawing/2014/main" xmlns="" id="{EDCA96A8-F9D9-4334-8C86-05468977FA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7987" y="1828800"/>
            <a:ext cx="3248025" cy="4814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066973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025" name="Rectangle 9"/>
          <p:cNvSpPr>
            <a:spLocks noChangeArrowheads="1"/>
          </p:cNvSpPr>
          <p:nvPr/>
        </p:nvSpPr>
        <p:spPr bwMode="auto">
          <a:xfrm>
            <a:off x="10551" y="2160564"/>
            <a:ext cx="9144000" cy="4722054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/>
          <a:lstStyle/>
          <a:p>
            <a:pPr algn="ctr">
              <a:spcBef>
                <a:spcPct val="50000"/>
              </a:spcBef>
              <a:defRPr/>
            </a:pPr>
            <a:r>
              <a:rPr lang="en-US" sz="4400" b="1" dirty="0">
                <a:solidFill>
                  <a:schemeClr val="accent3">
                    <a:lumMod val="75000"/>
                  </a:schemeClr>
                </a:solidFill>
                <a:latin typeface="Times New Roman" pitchFamily="18" charset="0"/>
              </a:rPr>
              <a:t>Operating System</a:t>
            </a:r>
          </a:p>
        </p:txBody>
      </p:sp>
    </p:spTree>
    <p:extLst>
      <p:ext uri="{BB962C8B-B14F-4D97-AF65-F5344CB8AC3E}">
        <p14:creationId xmlns:p14="http://schemas.microsoft.com/office/powerpoint/2010/main" val="38708290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title"/>
          </p:nvPr>
        </p:nvSpPr>
        <p:spPr>
          <a:xfrm>
            <a:off x="0" y="34924"/>
            <a:ext cx="9144000" cy="1031875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Operating System: Definition</a:t>
            </a:r>
            <a:endParaRPr lang="en-GB" b="1" dirty="0">
              <a:solidFill>
                <a:schemeClr val="accent3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771" name="Rectangle 8"/>
          <p:cNvSpPr>
            <a:spLocks noChangeArrowheads="1"/>
          </p:cNvSpPr>
          <p:nvPr/>
        </p:nvSpPr>
        <p:spPr bwMode="auto">
          <a:xfrm>
            <a:off x="228600" y="2549525"/>
            <a:ext cx="5638800" cy="584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</a:pPr>
            <a:endParaRPr lang="en-IE" sz="2800"/>
          </a:p>
        </p:txBody>
      </p:sp>
      <p:sp>
        <p:nvSpPr>
          <p:cNvPr id="214025" name="Rectangle 9"/>
          <p:cNvSpPr>
            <a:spLocks noChangeArrowheads="1"/>
          </p:cNvSpPr>
          <p:nvPr/>
        </p:nvSpPr>
        <p:spPr bwMode="auto">
          <a:xfrm>
            <a:off x="0" y="1064454"/>
            <a:ext cx="9144000" cy="5791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/>
          <a:lstStyle/>
          <a:p>
            <a:pPr marL="342900" indent="-342900" algn="just">
              <a:lnSpc>
                <a:spcPct val="15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</a:pPr>
            <a:r>
              <a:rPr lang="en-US" sz="2400" b="1" dirty="0">
                <a:solidFill>
                  <a:srgbClr val="FF0000"/>
                </a:solidFill>
                <a:latin typeface="Times New Roman" pitchFamily="18" charset="0"/>
              </a:rPr>
              <a:t>An Operating System </a:t>
            </a:r>
            <a:r>
              <a:rPr lang="en-US" sz="2400" dirty="0">
                <a:latin typeface="Times New Roman" pitchFamily="18" charset="0"/>
              </a:rPr>
              <a:t>(commonly abbreviated as OS &amp; O/S) is an integrated set of programs which controls the overall operations of the computer system and </a:t>
            </a:r>
            <a:r>
              <a:rPr lang="en-US" sz="2400" b="1" dirty="0">
                <a:latin typeface="Times New Roman" pitchFamily="18" charset="0"/>
              </a:rPr>
              <a:t>acts as a layer between the hardware, applications and users.</a:t>
            </a:r>
            <a:r>
              <a:rPr lang="en-US" sz="2400" dirty="0">
                <a:latin typeface="Times New Roman" pitchFamily="18" charset="0"/>
              </a:rPr>
              <a:t> </a:t>
            </a:r>
          </a:p>
          <a:p>
            <a:pPr algn="just">
              <a:lnSpc>
                <a:spcPct val="150000"/>
              </a:lnSpc>
              <a:spcBef>
                <a:spcPct val="20000"/>
              </a:spcBef>
              <a:buClr>
                <a:schemeClr val="tx2"/>
              </a:buClr>
              <a:buSzPct val="75000"/>
            </a:pPr>
            <a:endParaRPr lang="en-US" sz="2400" dirty="0">
              <a:latin typeface="Times New Roman" pitchFamily="18" charset="0"/>
            </a:endParaRPr>
          </a:p>
          <a:p>
            <a:pPr marL="342900" indent="-342900" algn="just">
              <a:lnSpc>
                <a:spcPct val="15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</a:pP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In simplest terms, an </a:t>
            </a:r>
            <a:r>
              <a:rPr lang="en-GB" sz="2400" b="1" dirty="0">
                <a:latin typeface="Times New Roman" pitchFamily="18" charset="0"/>
                <a:cs typeface="Times New Roman" pitchFamily="18" charset="0"/>
              </a:rPr>
              <a:t>operating system</a:t>
            </a: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 is a collection of programs that manage a computer system's internal workings— its memory, processors, devices, and file system. </a:t>
            </a:r>
          </a:p>
        </p:txBody>
      </p:sp>
    </p:spTree>
    <p:extLst>
      <p:ext uri="{BB962C8B-B14F-4D97-AF65-F5344CB8AC3E}">
        <p14:creationId xmlns:p14="http://schemas.microsoft.com/office/powerpoint/2010/main" val="22116853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Oval 2">
            <a:extLst>
              <a:ext uri="{FF2B5EF4-FFF2-40B4-BE49-F238E27FC236}">
                <a16:creationId xmlns:a16="http://schemas.microsoft.com/office/drawing/2014/main" xmlns="" id="{90DFC239-F5E6-41D9-8310-7C8D34E1B1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112" y="3029338"/>
            <a:ext cx="1749295" cy="1877625"/>
          </a:xfrm>
          <a:prstGeom prst="ellipse">
            <a:avLst/>
          </a:prstGeom>
          <a:solidFill>
            <a:srgbClr val="3399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8575">
                <a:solidFill>
                  <a:srgbClr val="FF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spcBef>
                <a:spcPct val="20000"/>
              </a:spcBef>
            </a:pPr>
            <a:r>
              <a:rPr lang="en-US" altLang="zh-CN" b="1">
                <a:solidFill>
                  <a:schemeClr val="bg1"/>
                </a:solidFill>
                <a:latin typeface="Arial" panose="020B0604020202020204" pitchFamily="34" charset="0"/>
                <a:ea typeface="標楷體" pitchFamily="65" charset="-128"/>
              </a:rPr>
              <a:t>Operating</a:t>
            </a:r>
          </a:p>
          <a:p>
            <a:pPr algn="ctr">
              <a:spcBef>
                <a:spcPct val="20000"/>
              </a:spcBef>
            </a:pPr>
            <a:r>
              <a:rPr lang="en-US" altLang="zh-CN" b="1">
                <a:solidFill>
                  <a:schemeClr val="bg1"/>
                </a:solidFill>
                <a:latin typeface="Arial" panose="020B0604020202020204" pitchFamily="34" charset="0"/>
                <a:ea typeface="標楷體" pitchFamily="65" charset="-128"/>
              </a:rPr>
              <a:t>System</a:t>
            </a:r>
          </a:p>
        </p:txBody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xmlns="" id="{3074EB11-1378-4249-B35D-A0BBC25194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1113" y="1676401"/>
            <a:ext cx="5907087" cy="781050"/>
          </a:xfrm>
          <a:prstGeom prst="rect">
            <a:avLst/>
          </a:prstGeom>
          <a:solidFill>
            <a:schemeClr val="bg1"/>
          </a:solidFill>
          <a:ln w="38100">
            <a:solidFill>
              <a:srgbClr val="6699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spcBef>
                <a:spcPct val="20000"/>
              </a:spcBef>
            </a:pPr>
            <a:r>
              <a:rPr lang="en-US" altLang="zh-CN" sz="2000" b="1">
                <a:latin typeface="Arial" panose="020B0604020202020204" pitchFamily="34" charset="0"/>
                <a:ea typeface="標楷體" pitchFamily="65" charset="-128"/>
              </a:rPr>
              <a:t>Device configuration</a:t>
            </a:r>
          </a:p>
          <a:p>
            <a:pPr>
              <a:spcBef>
                <a:spcPct val="20000"/>
              </a:spcBef>
            </a:pPr>
            <a:r>
              <a:rPr lang="en-US" altLang="zh-CN" sz="1800">
                <a:latin typeface="Arial" panose="020B0604020202020204" pitchFamily="34" charset="0"/>
                <a:ea typeface="標楷體" pitchFamily="65" charset="-128"/>
              </a:rPr>
              <a:t>Controls peripheral devices connected to the computer</a:t>
            </a:r>
          </a:p>
        </p:txBody>
      </p:sp>
      <p:sp>
        <p:nvSpPr>
          <p:cNvPr id="34820" name="Rectangle 4">
            <a:extLst>
              <a:ext uri="{FF2B5EF4-FFF2-40B4-BE49-F238E27FC236}">
                <a16:creationId xmlns:a16="http://schemas.microsoft.com/office/drawing/2014/main" xmlns="" id="{64F14BD0-DDD5-44AD-B2E1-E1C587852C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1113" y="2681623"/>
            <a:ext cx="5907087" cy="1286506"/>
          </a:xfrm>
          <a:prstGeom prst="rect">
            <a:avLst/>
          </a:prstGeom>
          <a:solidFill>
            <a:schemeClr val="bg1"/>
          </a:solidFill>
          <a:ln w="38100">
            <a:solidFill>
              <a:srgbClr val="6699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>
              <a:spcBef>
                <a:spcPct val="20000"/>
              </a:spcBef>
            </a:pPr>
            <a:r>
              <a:rPr lang="en-US" altLang="zh-CN" sz="2000" b="1" dirty="0">
                <a:latin typeface="Arial" panose="020B0604020202020204" pitchFamily="34" charset="0"/>
                <a:ea typeface="標楷體" pitchFamily="65" charset="-128"/>
              </a:rPr>
              <a:t>File management</a:t>
            </a:r>
          </a:p>
          <a:p>
            <a:pPr>
              <a:spcBef>
                <a:spcPct val="20000"/>
              </a:spcBef>
            </a:pPr>
            <a:r>
              <a:rPr lang="en-US" altLang="zh-CN" sz="1800" dirty="0">
                <a:latin typeface="Arial" panose="020B0604020202020204" pitchFamily="34" charset="0"/>
                <a:ea typeface="標楷體" pitchFamily="65" charset="-128"/>
              </a:rPr>
              <a:t>Transfers files between main memory and secondary storage, manages file folders, allocates the secondary storage space, and provides file protection and recovery</a:t>
            </a:r>
          </a:p>
        </p:txBody>
      </p:sp>
      <p:sp>
        <p:nvSpPr>
          <p:cNvPr id="34821" name="Rectangle 5">
            <a:extLst>
              <a:ext uri="{FF2B5EF4-FFF2-40B4-BE49-F238E27FC236}">
                <a16:creationId xmlns:a16="http://schemas.microsoft.com/office/drawing/2014/main" xmlns="" id="{A7C42A15-AACE-43D2-BBEC-D631FA0667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1113" y="4266168"/>
            <a:ext cx="5907087" cy="1009507"/>
          </a:xfrm>
          <a:prstGeom prst="rect">
            <a:avLst/>
          </a:prstGeom>
          <a:solidFill>
            <a:schemeClr val="bg1"/>
          </a:solidFill>
          <a:ln w="38100">
            <a:solidFill>
              <a:srgbClr val="6699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>
              <a:spcBef>
                <a:spcPct val="20000"/>
              </a:spcBef>
            </a:pPr>
            <a:r>
              <a:rPr lang="en-US" altLang="zh-CN" sz="2000" b="1">
                <a:latin typeface="Arial" panose="020B0604020202020204" pitchFamily="34" charset="0"/>
                <a:ea typeface="標楷體" pitchFamily="65" charset="-128"/>
              </a:rPr>
              <a:t>Memory management</a:t>
            </a:r>
          </a:p>
          <a:p>
            <a:pPr>
              <a:spcBef>
                <a:spcPct val="20000"/>
              </a:spcBef>
            </a:pPr>
            <a:r>
              <a:rPr lang="en-US" altLang="zh-CN" sz="1800">
                <a:latin typeface="Arial" panose="020B0604020202020204" pitchFamily="34" charset="0"/>
                <a:ea typeface="標楷體" pitchFamily="65" charset="-128"/>
              </a:rPr>
              <a:t>Allocates the use of random access memory (RAM) to requesting processes</a:t>
            </a:r>
          </a:p>
        </p:txBody>
      </p:sp>
      <p:sp>
        <p:nvSpPr>
          <p:cNvPr id="34822" name="Rectangle 6">
            <a:extLst>
              <a:ext uri="{FF2B5EF4-FFF2-40B4-BE49-F238E27FC236}">
                <a16:creationId xmlns:a16="http://schemas.microsoft.com/office/drawing/2014/main" xmlns="" id="{44527ADF-BA1D-499E-A79E-A5E0D47596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1113" y="5466621"/>
            <a:ext cx="5907087" cy="732508"/>
          </a:xfrm>
          <a:prstGeom prst="rect">
            <a:avLst/>
          </a:prstGeom>
          <a:solidFill>
            <a:schemeClr val="bg1"/>
          </a:solidFill>
          <a:ln w="38100">
            <a:solidFill>
              <a:srgbClr val="6699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>
              <a:spcBef>
                <a:spcPct val="20000"/>
              </a:spcBef>
            </a:pPr>
            <a:r>
              <a:rPr lang="en-US" altLang="zh-CN" sz="2000" b="1">
                <a:latin typeface="Arial" panose="020B0604020202020204" pitchFamily="34" charset="0"/>
                <a:ea typeface="標楷體" pitchFamily="65" charset="-128"/>
              </a:rPr>
              <a:t>Interface platform</a:t>
            </a:r>
          </a:p>
          <a:p>
            <a:pPr>
              <a:spcBef>
                <a:spcPct val="20000"/>
              </a:spcBef>
            </a:pPr>
            <a:r>
              <a:rPr lang="en-US" altLang="zh-CN" sz="1800">
                <a:latin typeface="Arial" panose="020B0604020202020204" pitchFamily="34" charset="0"/>
                <a:ea typeface="標楷體" pitchFamily="65" charset="-128"/>
              </a:rPr>
              <a:t>Allows the computer to run other applications</a:t>
            </a:r>
          </a:p>
        </p:txBody>
      </p:sp>
      <p:sp>
        <p:nvSpPr>
          <p:cNvPr id="34823" name="AutoShape 7">
            <a:extLst>
              <a:ext uri="{FF2B5EF4-FFF2-40B4-BE49-F238E27FC236}">
                <a16:creationId xmlns:a16="http://schemas.microsoft.com/office/drawing/2014/main" xmlns="" id="{D5C5DE1D-4D7E-43D6-B38B-EAE2B496F3E4}"/>
              </a:ext>
            </a:extLst>
          </p:cNvPr>
          <p:cNvSpPr>
            <a:spLocks/>
          </p:cNvSpPr>
          <p:nvPr/>
        </p:nvSpPr>
        <p:spPr bwMode="auto">
          <a:xfrm>
            <a:off x="2335213" y="1763962"/>
            <a:ext cx="218662" cy="4222501"/>
          </a:xfrm>
          <a:prstGeom prst="leftBracket">
            <a:avLst>
              <a:gd name="adj" fmla="val 150061"/>
            </a:avLst>
          </a:prstGeom>
          <a:noFill/>
          <a:ln w="38100">
            <a:solidFill>
              <a:srgbClr val="6699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824" name="Line 8">
            <a:extLst>
              <a:ext uri="{FF2B5EF4-FFF2-40B4-BE49-F238E27FC236}">
                <a16:creationId xmlns:a16="http://schemas.microsoft.com/office/drawing/2014/main" xmlns="" id="{63B8BD65-D022-472D-B1AA-349CBC14A9A2}"/>
              </a:ext>
            </a:extLst>
          </p:cNvPr>
          <p:cNvSpPr>
            <a:spLocks noChangeShapeType="1"/>
          </p:cNvSpPr>
          <p:nvPr/>
        </p:nvSpPr>
        <p:spPr bwMode="auto">
          <a:xfrm>
            <a:off x="2335213" y="3394075"/>
            <a:ext cx="218662" cy="0"/>
          </a:xfrm>
          <a:prstGeom prst="line">
            <a:avLst/>
          </a:prstGeom>
          <a:noFill/>
          <a:ln w="38100">
            <a:solidFill>
              <a:srgbClr val="6699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4825" name="Line 9">
            <a:extLst>
              <a:ext uri="{FF2B5EF4-FFF2-40B4-BE49-F238E27FC236}">
                <a16:creationId xmlns:a16="http://schemas.microsoft.com/office/drawing/2014/main" xmlns="" id="{B5DF637C-35AB-4816-87DD-853F72AED3A8}"/>
              </a:ext>
            </a:extLst>
          </p:cNvPr>
          <p:cNvSpPr>
            <a:spLocks noChangeShapeType="1"/>
          </p:cNvSpPr>
          <p:nvPr/>
        </p:nvSpPr>
        <p:spPr bwMode="auto">
          <a:xfrm>
            <a:off x="2335213" y="4691063"/>
            <a:ext cx="218662" cy="0"/>
          </a:xfrm>
          <a:prstGeom prst="line">
            <a:avLst/>
          </a:prstGeom>
          <a:noFill/>
          <a:ln w="38100">
            <a:solidFill>
              <a:srgbClr val="6699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4826" name="Line 10">
            <a:extLst>
              <a:ext uri="{FF2B5EF4-FFF2-40B4-BE49-F238E27FC236}">
                <a16:creationId xmlns:a16="http://schemas.microsoft.com/office/drawing/2014/main" xmlns="" id="{D72CADE9-8963-44AC-92E1-ACB71CA00808}"/>
              </a:ext>
            </a:extLst>
          </p:cNvPr>
          <p:cNvSpPr>
            <a:spLocks noChangeShapeType="1"/>
          </p:cNvSpPr>
          <p:nvPr/>
        </p:nvSpPr>
        <p:spPr bwMode="auto">
          <a:xfrm>
            <a:off x="2119313" y="4043363"/>
            <a:ext cx="218662" cy="0"/>
          </a:xfrm>
          <a:prstGeom prst="line">
            <a:avLst/>
          </a:prstGeom>
          <a:noFill/>
          <a:ln w="38100">
            <a:solidFill>
              <a:srgbClr val="6699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4827" name="Rectangle 11">
            <a:extLst>
              <a:ext uri="{FF2B5EF4-FFF2-40B4-BE49-F238E27FC236}">
                <a16:creationId xmlns:a16="http://schemas.microsoft.com/office/drawing/2014/main" xmlns="" id="{50F1FD2B-0982-4AE9-B240-109734AE5F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9688"/>
            <a:ext cx="9144000" cy="762000"/>
          </a:xfrm>
        </p:spPr>
        <p:txBody>
          <a:bodyPr>
            <a:normAutofit fontScale="90000"/>
          </a:bodyPr>
          <a:lstStyle/>
          <a:p>
            <a:r>
              <a:rPr lang="en-US" sz="4000" b="1" dirty="0">
                <a:solidFill>
                  <a:schemeClr val="accent3">
                    <a:lumMod val="75000"/>
                  </a:schemeClr>
                </a:solidFill>
              </a:rPr>
              <a:t>Operating System: Function performed by OS</a:t>
            </a:r>
            <a:endParaRPr lang="en-US" altLang="en-US" sz="4000" dirty="0"/>
          </a:p>
        </p:txBody>
      </p:sp>
    </p:spTree>
    <p:extLst>
      <p:ext uri="{BB962C8B-B14F-4D97-AF65-F5344CB8AC3E}">
        <p14:creationId xmlns:p14="http://schemas.microsoft.com/office/powerpoint/2010/main" val="2469272679"/>
      </p:ext>
    </p:extLst>
  </p:cSld>
  <p:clrMapOvr>
    <a:masterClrMapping/>
  </p:clrMapOvr>
  <p:transition>
    <p:strips dir="rd"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title"/>
          </p:nvPr>
        </p:nvSpPr>
        <p:spPr>
          <a:xfrm>
            <a:off x="-114300" y="0"/>
            <a:ext cx="9372600" cy="1031875"/>
          </a:xfrm>
        </p:spPr>
        <p:txBody>
          <a:bodyPr>
            <a:noAutofit/>
          </a:bodyPr>
          <a:lstStyle/>
          <a:p>
            <a:r>
              <a:rPr lang="en-US" sz="3800" b="1" dirty="0">
                <a:solidFill>
                  <a:schemeClr val="accent3">
                    <a:lumMod val="75000"/>
                  </a:schemeClr>
                </a:solidFill>
              </a:rPr>
              <a:t>Operating System: Function performed by OS</a:t>
            </a:r>
            <a:endParaRPr lang="en-GB" sz="3800" b="1" dirty="0">
              <a:solidFill>
                <a:schemeClr val="accent3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771" name="Rectangle 8"/>
          <p:cNvSpPr>
            <a:spLocks noChangeArrowheads="1"/>
          </p:cNvSpPr>
          <p:nvPr/>
        </p:nvSpPr>
        <p:spPr bwMode="auto">
          <a:xfrm>
            <a:off x="228600" y="2549525"/>
            <a:ext cx="5638800" cy="584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</a:pPr>
            <a:endParaRPr lang="en-IE" sz="2800"/>
          </a:p>
        </p:txBody>
      </p:sp>
      <p:sp>
        <p:nvSpPr>
          <p:cNvPr id="214025" name="Rectangle 9"/>
          <p:cNvSpPr>
            <a:spLocks noChangeArrowheads="1"/>
          </p:cNvSpPr>
          <p:nvPr/>
        </p:nvSpPr>
        <p:spPr bwMode="auto">
          <a:xfrm>
            <a:off x="0" y="914400"/>
            <a:ext cx="9144000" cy="5941254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/>
          <a:lstStyle/>
          <a:p>
            <a:pPr marL="288000" indent="-342900">
              <a:lnSpc>
                <a:spcPct val="150000"/>
              </a:lnSpc>
              <a:buFontTx/>
              <a:buAutoNum type="arabicPeriod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Memory management</a:t>
            </a:r>
          </a:p>
          <a:p>
            <a:pPr marL="288000" indent="-342900">
              <a:lnSpc>
                <a:spcPct val="150000"/>
              </a:lnSpc>
              <a:buFontTx/>
              <a:buAutoNum type="arabicPeriod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Disk management</a:t>
            </a:r>
          </a:p>
          <a:p>
            <a:pPr marL="288000" indent="-342900">
              <a:lnSpc>
                <a:spcPct val="150000"/>
              </a:lnSpc>
              <a:buFontTx/>
              <a:buAutoNum type="arabicPeriod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File management</a:t>
            </a:r>
          </a:p>
          <a:p>
            <a:pPr marL="288000" indent="-342900">
              <a:lnSpc>
                <a:spcPct val="150000"/>
              </a:lnSpc>
              <a:buFontTx/>
              <a:buAutoNum type="arabicPeriod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Provide working environment to the users</a:t>
            </a:r>
          </a:p>
          <a:p>
            <a:pPr marL="288000" indent="-342900">
              <a:lnSpc>
                <a:spcPct val="150000"/>
              </a:lnSpc>
              <a:buFontTx/>
              <a:buAutoNum type="arabicPeriod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Handling I/O devices</a:t>
            </a:r>
          </a:p>
          <a:p>
            <a:pPr marL="288000" indent="-342900">
              <a:lnSpc>
                <a:spcPct val="150000"/>
              </a:lnSpc>
              <a:buFontTx/>
              <a:buAutoNum type="arabicPeriod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Handling security</a:t>
            </a:r>
          </a:p>
          <a:p>
            <a:pPr marL="288000" indent="-342900">
              <a:lnSpc>
                <a:spcPct val="150000"/>
              </a:lnSpc>
              <a:buFontTx/>
              <a:buAutoNum type="arabicPeriod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Scheduling</a:t>
            </a:r>
          </a:p>
          <a:p>
            <a:pPr marL="288000" indent="-342900">
              <a:lnSpc>
                <a:spcPct val="150000"/>
              </a:lnSpc>
              <a:buFontTx/>
              <a:buAutoNum type="arabicPeriod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Copying/Moving data from one device to another</a:t>
            </a:r>
            <a:endParaRPr lang="en-US" altLang="zh-TW" sz="2800" dirty="0">
              <a:latin typeface="Times New Roman" pitchFamily="18" charset="0"/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296479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140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140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140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2140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2140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2140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2140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21402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4025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title"/>
          </p:nvPr>
        </p:nvSpPr>
        <p:spPr>
          <a:xfrm>
            <a:off x="0" y="34924"/>
            <a:ext cx="9144000" cy="1031875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Operating System: Advantages</a:t>
            </a:r>
            <a:endParaRPr lang="en-GB" b="1" dirty="0">
              <a:solidFill>
                <a:schemeClr val="accent3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771" name="Rectangle 8"/>
          <p:cNvSpPr>
            <a:spLocks noChangeArrowheads="1"/>
          </p:cNvSpPr>
          <p:nvPr/>
        </p:nvSpPr>
        <p:spPr bwMode="auto">
          <a:xfrm>
            <a:off x="228600" y="2549525"/>
            <a:ext cx="5638800" cy="584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</a:pPr>
            <a:endParaRPr lang="en-IE" sz="2800"/>
          </a:p>
        </p:txBody>
      </p:sp>
      <p:sp>
        <p:nvSpPr>
          <p:cNvPr id="214025" name="Rectangle 9"/>
          <p:cNvSpPr>
            <a:spLocks noChangeArrowheads="1"/>
          </p:cNvSpPr>
          <p:nvPr/>
        </p:nvSpPr>
        <p:spPr bwMode="auto">
          <a:xfrm>
            <a:off x="0" y="304800"/>
            <a:ext cx="9144000" cy="6550854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/>
          <a:lstStyle/>
          <a:p>
            <a:pPr algn="just">
              <a:lnSpc>
                <a:spcPct val="150000"/>
              </a:lnSpc>
              <a:spcBef>
                <a:spcPct val="20000"/>
              </a:spcBef>
              <a:buClr>
                <a:schemeClr val="tx2"/>
              </a:buClr>
              <a:buSzPct val="75000"/>
            </a:pPr>
            <a:endParaRPr lang="en-GB" sz="2400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 algn="just">
              <a:lnSpc>
                <a:spcPct val="15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</a:pPr>
            <a:r>
              <a:rPr lang="en-US" altLang="zh-TW" sz="2800" dirty="0">
                <a:latin typeface="Times New Roman" pitchFamily="18" charset="0"/>
                <a:ea typeface="新細明體" charset="-120"/>
              </a:rPr>
              <a:t>Hides the messy details which must be performed</a:t>
            </a:r>
            <a:br>
              <a:rPr lang="en-US" altLang="zh-TW" sz="2800" dirty="0">
                <a:latin typeface="Times New Roman" pitchFamily="18" charset="0"/>
                <a:ea typeface="新細明體" charset="-120"/>
              </a:rPr>
            </a:br>
            <a:r>
              <a:rPr lang="en-US" altLang="zh-TW" sz="2800" dirty="0">
                <a:latin typeface="Times New Roman" pitchFamily="18" charset="0"/>
                <a:ea typeface="新細明體" charset="-120"/>
              </a:rPr>
              <a:t>(e.g. underlying hardware operations).</a:t>
            </a:r>
          </a:p>
          <a:p>
            <a:pPr marL="342900" indent="-342900" algn="just">
              <a:lnSpc>
                <a:spcPct val="15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</a:pPr>
            <a:r>
              <a:rPr lang="en-US" altLang="zh-TW" sz="2800" dirty="0">
                <a:latin typeface="Times New Roman" pitchFamily="18" charset="0"/>
                <a:ea typeface="新細明體" charset="-120"/>
              </a:rPr>
              <a:t>Provide a GUI(Graphical User Interface), make it easier to use.</a:t>
            </a:r>
          </a:p>
          <a:p>
            <a:pPr marL="342900" indent="-342900" algn="just">
              <a:lnSpc>
                <a:spcPct val="15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</a:pPr>
            <a:r>
              <a:rPr lang="en-US" altLang="zh-TW" sz="2800" dirty="0">
                <a:latin typeface="Times New Roman" pitchFamily="18" charset="0"/>
                <a:ea typeface="新細明體" charset="-120"/>
              </a:rPr>
              <a:t>Process management, (CPU) each program gets time with the resource</a:t>
            </a:r>
          </a:p>
          <a:p>
            <a:pPr marL="342900" indent="-342900" algn="just">
              <a:lnSpc>
                <a:spcPct val="15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</a:pPr>
            <a:r>
              <a:rPr lang="en-US" altLang="zh-TW" sz="2800" dirty="0">
                <a:latin typeface="Times New Roman" pitchFamily="18" charset="0"/>
                <a:ea typeface="新細明體" charset="-120"/>
              </a:rPr>
              <a:t>Memory management, (memory / disk) each program gets space on the resource </a:t>
            </a:r>
          </a:p>
          <a:p>
            <a:pPr marL="342900" indent="-342900" algn="just">
              <a:lnSpc>
                <a:spcPct val="15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</a:pPr>
            <a:endParaRPr lang="en-US" altLang="zh-TW" sz="2800" dirty="0">
              <a:latin typeface="Times New Roman" pitchFamily="18" charset="0"/>
              <a:ea typeface="新細明體" charset="-120"/>
            </a:endParaRPr>
          </a:p>
          <a:p>
            <a:pPr algn="just">
              <a:lnSpc>
                <a:spcPct val="150000"/>
              </a:lnSpc>
              <a:spcBef>
                <a:spcPct val="20000"/>
              </a:spcBef>
              <a:buClr>
                <a:schemeClr val="tx2"/>
              </a:buClr>
              <a:buSzPct val="75000"/>
            </a:pPr>
            <a:endParaRPr lang="en-GB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6979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40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40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40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140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140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140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40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140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4025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title"/>
          </p:nvPr>
        </p:nvSpPr>
        <p:spPr>
          <a:xfrm>
            <a:off x="0" y="34924"/>
            <a:ext cx="9144000" cy="1031875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Operating System: </a:t>
            </a:r>
            <a:r>
              <a:rPr lang="en-US" b="1" dirty="0">
                <a:solidFill>
                  <a:srgbClr val="FF0000"/>
                </a:solidFill>
              </a:rPr>
              <a:t>Remember!</a:t>
            </a:r>
            <a:endParaRPr lang="en-GB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771" name="Rectangle 8"/>
          <p:cNvSpPr>
            <a:spLocks noChangeArrowheads="1"/>
          </p:cNvSpPr>
          <p:nvPr/>
        </p:nvSpPr>
        <p:spPr bwMode="auto">
          <a:xfrm>
            <a:off x="228600" y="2549525"/>
            <a:ext cx="5638800" cy="584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</a:pPr>
            <a:endParaRPr lang="en-IE" sz="2800"/>
          </a:p>
        </p:txBody>
      </p:sp>
      <p:sp>
        <p:nvSpPr>
          <p:cNvPr id="214025" name="Rectangle 9"/>
          <p:cNvSpPr>
            <a:spLocks noChangeArrowheads="1"/>
          </p:cNvSpPr>
          <p:nvPr/>
        </p:nvSpPr>
        <p:spPr bwMode="auto">
          <a:xfrm>
            <a:off x="0" y="304800"/>
            <a:ext cx="9144000" cy="6550854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/>
          <a:lstStyle/>
          <a:p>
            <a:pPr algn="just">
              <a:lnSpc>
                <a:spcPct val="150000"/>
              </a:lnSpc>
              <a:spcBef>
                <a:spcPct val="20000"/>
              </a:spcBef>
              <a:buClr>
                <a:schemeClr val="tx2"/>
              </a:buClr>
              <a:buSzPct val="75000"/>
            </a:pPr>
            <a:endParaRPr lang="en-GB" sz="2400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 algn="just">
              <a:lnSpc>
                <a:spcPct val="15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</a:pPr>
            <a:r>
              <a:rPr lang="en-US" altLang="zh-TW" sz="4000" dirty="0">
                <a:latin typeface="Times New Roman" pitchFamily="18" charset="0"/>
                <a:ea typeface="新細明體" charset="-120"/>
              </a:rPr>
              <a:t>Remember an operating system is a </a:t>
            </a:r>
            <a:r>
              <a:rPr lang="en-US" altLang="zh-TW" sz="4000" b="1" i="1" dirty="0">
                <a:solidFill>
                  <a:srgbClr val="FF0000"/>
                </a:solidFill>
                <a:latin typeface="Times New Roman" pitchFamily="18" charset="0"/>
                <a:ea typeface="新細明體" charset="-120"/>
              </a:rPr>
              <a:t>“System Software”.</a:t>
            </a:r>
          </a:p>
          <a:p>
            <a:pPr marL="342900" indent="-342900" algn="just">
              <a:lnSpc>
                <a:spcPct val="15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</a:pPr>
            <a:endParaRPr lang="en-US" altLang="zh-TW" sz="2800" dirty="0">
              <a:latin typeface="Times New Roman" pitchFamily="18" charset="0"/>
              <a:ea typeface="新細明體" charset="-120"/>
            </a:endParaRPr>
          </a:p>
          <a:p>
            <a:pPr algn="just">
              <a:lnSpc>
                <a:spcPct val="150000"/>
              </a:lnSpc>
              <a:spcBef>
                <a:spcPct val="20000"/>
              </a:spcBef>
              <a:buClr>
                <a:schemeClr val="tx2"/>
              </a:buClr>
              <a:buSzPct val="75000"/>
            </a:pPr>
            <a:endParaRPr lang="en-GB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64496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title"/>
          </p:nvPr>
        </p:nvSpPr>
        <p:spPr>
          <a:xfrm>
            <a:off x="0" y="34924"/>
            <a:ext cx="9144000" cy="1031875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Operating System: Examples</a:t>
            </a:r>
            <a:endParaRPr lang="en-GB" b="1" dirty="0">
              <a:solidFill>
                <a:schemeClr val="accent3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771" name="Rectangle 8"/>
          <p:cNvSpPr>
            <a:spLocks noChangeArrowheads="1"/>
          </p:cNvSpPr>
          <p:nvPr/>
        </p:nvSpPr>
        <p:spPr bwMode="auto">
          <a:xfrm>
            <a:off x="228600" y="2549525"/>
            <a:ext cx="5638800" cy="584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</a:pPr>
            <a:endParaRPr lang="en-IE" sz="2800"/>
          </a:p>
        </p:txBody>
      </p:sp>
      <p:sp>
        <p:nvSpPr>
          <p:cNvPr id="214025" name="Rectangle 9"/>
          <p:cNvSpPr>
            <a:spLocks noChangeArrowheads="1"/>
          </p:cNvSpPr>
          <p:nvPr/>
        </p:nvSpPr>
        <p:spPr bwMode="auto">
          <a:xfrm>
            <a:off x="0" y="1066798"/>
            <a:ext cx="9144000" cy="578885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/>
          <a:lstStyle/>
          <a:p>
            <a:pPr>
              <a:lnSpc>
                <a:spcPct val="150000"/>
              </a:lnSpc>
              <a:tabLst>
                <a:tab pos="114300" algn="l"/>
                <a:tab pos="177800" algn="l"/>
                <a:tab pos="685800" algn="l"/>
              </a:tabLst>
              <a:defRPr/>
            </a:pPr>
            <a:r>
              <a:rPr lang="en-US" sz="2800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Microsoft Operating System</a:t>
            </a:r>
          </a:p>
          <a:p>
            <a:pPr>
              <a:lnSpc>
                <a:spcPct val="150000"/>
              </a:lnSpc>
              <a:buFontTx/>
              <a:buChar char="•"/>
              <a:tabLst>
                <a:tab pos="114300" algn="l"/>
                <a:tab pos="177800" algn="l"/>
                <a:tab pos="685800" algn="l"/>
              </a:tabLst>
              <a:defRPr/>
            </a:pPr>
            <a:r>
              <a:rPr lang="en-US" sz="2800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Disk Operating System (MS-DOS)</a:t>
            </a:r>
          </a:p>
          <a:p>
            <a:pPr>
              <a:lnSpc>
                <a:spcPct val="150000"/>
              </a:lnSpc>
              <a:buFontTx/>
              <a:buChar char="•"/>
              <a:tabLst>
                <a:tab pos="114300" algn="l"/>
                <a:tab pos="177800" algn="l"/>
                <a:tab pos="685800" algn="l"/>
              </a:tabLst>
              <a:defRPr/>
            </a:pPr>
            <a:r>
              <a:rPr lang="en-US" sz="2800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Windows Vista</a:t>
            </a:r>
          </a:p>
          <a:p>
            <a:pPr>
              <a:lnSpc>
                <a:spcPct val="150000"/>
              </a:lnSpc>
              <a:buFontTx/>
              <a:buChar char="•"/>
              <a:tabLst>
                <a:tab pos="114300" algn="l"/>
                <a:tab pos="177800" algn="l"/>
                <a:tab pos="685800" algn="l"/>
              </a:tabLst>
              <a:defRPr/>
            </a:pPr>
            <a:r>
              <a:rPr lang="en-US" sz="2800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Windows XP</a:t>
            </a:r>
          </a:p>
          <a:p>
            <a:pPr>
              <a:lnSpc>
                <a:spcPct val="150000"/>
              </a:lnSpc>
              <a:buFontTx/>
              <a:buChar char="•"/>
              <a:tabLst>
                <a:tab pos="114300" algn="l"/>
                <a:tab pos="177800" algn="l"/>
                <a:tab pos="685800" algn="l"/>
              </a:tabLst>
              <a:defRPr/>
            </a:pPr>
            <a:r>
              <a:rPr lang="en-US" sz="2800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Windows 2000</a:t>
            </a:r>
          </a:p>
          <a:p>
            <a:pPr>
              <a:lnSpc>
                <a:spcPct val="150000"/>
              </a:lnSpc>
              <a:buFontTx/>
              <a:buChar char="•"/>
              <a:tabLst>
                <a:tab pos="114300" algn="l"/>
                <a:tab pos="177800" algn="l"/>
                <a:tab pos="685800" algn="l"/>
              </a:tabLst>
              <a:defRPr/>
            </a:pPr>
            <a:r>
              <a:rPr lang="en-US" sz="2800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Windows 98</a:t>
            </a:r>
          </a:p>
          <a:p>
            <a:pPr>
              <a:lnSpc>
                <a:spcPct val="150000"/>
              </a:lnSpc>
              <a:buFontTx/>
              <a:buChar char="•"/>
              <a:tabLst>
                <a:tab pos="114300" algn="l"/>
                <a:tab pos="177800" algn="l"/>
                <a:tab pos="685800" algn="l"/>
              </a:tabLst>
              <a:defRPr/>
            </a:pPr>
            <a:r>
              <a:rPr lang="en-US" sz="2800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Windows 7,8,10</a:t>
            </a:r>
          </a:p>
        </p:txBody>
      </p:sp>
    </p:spTree>
    <p:extLst>
      <p:ext uri="{BB962C8B-B14F-4D97-AF65-F5344CB8AC3E}">
        <p14:creationId xmlns:p14="http://schemas.microsoft.com/office/powerpoint/2010/main" val="3879424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40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40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40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140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140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140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40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140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140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140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140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140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140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140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4025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title"/>
          </p:nvPr>
        </p:nvSpPr>
        <p:spPr>
          <a:xfrm>
            <a:off x="0" y="34924"/>
            <a:ext cx="9144000" cy="1031875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Operating System: Other Examples</a:t>
            </a:r>
            <a:endParaRPr lang="en-GB" b="1" dirty="0">
              <a:solidFill>
                <a:schemeClr val="accent3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771" name="Rectangle 8"/>
          <p:cNvSpPr>
            <a:spLocks noChangeArrowheads="1"/>
          </p:cNvSpPr>
          <p:nvPr/>
        </p:nvSpPr>
        <p:spPr bwMode="auto">
          <a:xfrm>
            <a:off x="228600" y="2549525"/>
            <a:ext cx="5638800" cy="584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</a:pPr>
            <a:endParaRPr lang="en-IE" sz="2800"/>
          </a:p>
        </p:txBody>
      </p:sp>
      <p:sp>
        <p:nvSpPr>
          <p:cNvPr id="214025" name="Rectangle 9"/>
          <p:cNvSpPr>
            <a:spLocks noChangeArrowheads="1"/>
          </p:cNvSpPr>
          <p:nvPr/>
        </p:nvSpPr>
        <p:spPr bwMode="auto">
          <a:xfrm>
            <a:off x="0" y="1066798"/>
            <a:ext cx="9144000" cy="578885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/>
          <a:lstStyle/>
          <a:p>
            <a:pPr>
              <a:lnSpc>
                <a:spcPct val="150000"/>
              </a:lnSpc>
              <a:buFontTx/>
              <a:buChar char="•"/>
              <a:tabLst>
                <a:tab pos="114300" algn="l"/>
                <a:tab pos="177800" algn="l"/>
                <a:tab pos="685800" algn="l"/>
              </a:tabLst>
              <a:defRPr/>
            </a:pPr>
            <a:r>
              <a:rPr lang="en-US" sz="2800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UNIX</a:t>
            </a:r>
          </a:p>
          <a:p>
            <a:pPr>
              <a:lnSpc>
                <a:spcPct val="150000"/>
              </a:lnSpc>
              <a:buFontTx/>
              <a:buChar char="•"/>
              <a:tabLst>
                <a:tab pos="114300" algn="l"/>
                <a:tab pos="177800" algn="l"/>
                <a:tab pos="685800" algn="l"/>
              </a:tabLst>
              <a:defRPr/>
            </a:pPr>
            <a:r>
              <a:rPr lang="en-US" sz="2800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LINUX</a:t>
            </a:r>
          </a:p>
          <a:p>
            <a:pPr>
              <a:lnSpc>
                <a:spcPct val="150000"/>
              </a:lnSpc>
              <a:buFontTx/>
              <a:buChar char="•"/>
              <a:tabLst>
                <a:tab pos="114300" algn="l"/>
                <a:tab pos="177800" algn="l"/>
                <a:tab pos="685800" algn="l"/>
              </a:tabLst>
              <a:defRPr/>
            </a:pPr>
            <a:r>
              <a:rPr lang="en-US" sz="2800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Apple Mac OS</a:t>
            </a:r>
          </a:p>
          <a:p>
            <a:pPr>
              <a:lnSpc>
                <a:spcPct val="150000"/>
              </a:lnSpc>
              <a:buFontTx/>
              <a:buChar char="•"/>
              <a:tabLst>
                <a:tab pos="114300" algn="l"/>
                <a:tab pos="177800" algn="l"/>
                <a:tab pos="685800" algn="l"/>
              </a:tabLst>
              <a:defRPr/>
            </a:pPr>
            <a:r>
              <a:rPr lang="en-US" sz="2800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Ubuntu</a:t>
            </a:r>
          </a:p>
        </p:txBody>
      </p:sp>
    </p:spTree>
    <p:extLst>
      <p:ext uri="{BB962C8B-B14F-4D97-AF65-F5344CB8AC3E}">
        <p14:creationId xmlns:p14="http://schemas.microsoft.com/office/powerpoint/2010/main" val="3263959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title"/>
          </p:nvPr>
        </p:nvSpPr>
        <p:spPr>
          <a:xfrm>
            <a:off x="0" y="34924"/>
            <a:ext cx="9144000" cy="1031875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Operating System: DOS OS</a:t>
            </a:r>
            <a:endParaRPr lang="en-GB" b="1" dirty="0">
              <a:solidFill>
                <a:schemeClr val="accent3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771" name="Rectangle 8"/>
          <p:cNvSpPr>
            <a:spLocks noChangeArrowheads="1"/>
          </p:cNvSpPr>
          <p:nvPr/>
        </p:nvSpPr>
        <p:spPr bwMode="auto">
          <a:xfrm>
            <a:off x="228600" y="2549525"/>
            <a:ext cx="5638800" cy="584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</a:pPr>
            <a:endParaRPr lang="en-IE" sz="2800"/>
          </a:p>
        </p:txBody>
      </p:sp>
      <p:sp>
        <p:nvSpPr>
          <p:cNvPr id="214025" name="Rectangle 9"/>
          <p:cNvSpPr>
            <a:spLocks noChangeArrowheads="1"/>
          </p:cNvSpPr>
          <p:nvPr/>
        </p:nvSpPr>
        <p:spPr bwMode="auto">
          <a:xfrm>
            <a:off x="0" y="1066798"/>
            <a:ext cx="9144000" cy="578885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/>
          <a:lstStyle/>
          <a:p>
            <a:pPr>
              <a:lnSpc>
                <a:spcPct val="150000"/>
              </a:lnSpc>
              <a:buFontTx/>
              <a:buChar char="•"/>
              <a:tabLst>
                <a:tab pos="114300" algn="l"/>
                <a:tab pos="177800" algn="l"/>
                <a:tab pos="685800" algn="l"/>
              </a:tabLst>
              <a:defRPr/>
            </a:pPr>
            <a:endParaRPr lang="en-US" sz="2800" dirty="0">
              <a:effectLst>
                <a:outerShdw blurRad="38100" dist="38100" dir="2700000" algn="tl">
                  <a:srgbClr val="FFFFFF"/>
                </a:outerShdw>
              </a:effectLst>
              <a:latin typeface="Times New Roman" pitchFamily="18" charset="0"/>
            </a:endParaRPr>
          </a:p>
        </p:txBody>
      </p:sp>
      <p:pic>
        <p:nvPicPr>
          <p:cNvPr id="1026" name="Picture 2" descr="Image result for DOS">
            <a:extLst>
              <a:ext uri="{FF2B5EF4-FFF2-40B4-BE49-F238E27FC236}">
                <a16:creationId xmlns:a16="http://schemas.microsoft.com/office/drawing/2014/main" xmlns="" id="{1B39C273-AB69-4DAB-948C-1F08F5726C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1752600"/>
            <a:ext cx="6217795" cy="3448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01463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title"/>
          </p:nvPr>
        </p:nvSpPr>
        <p:spPr>
          <a:xfrm>
            <a:off x="0" y="34924"/>
            <a:ext cx="9144000" cy="1031875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accent3">
                    <a:lumMod val="75000"/>
                  </a:schemeClr>
                </a:solidFill>
              </a:rPr>
              <a:t>Operating System: Windows 98,(GUI) Based</a:t>
            </a:r>
            <a:endParaRPr lang="en-GB" sz="4000" b="1" dirty="0">
              <a:solidFill>
                <a:schemeClr val="accent3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771" name="Rectangle 8"/>
          <p:cNvSpPr>
            <a:spLocks noChangeArrowheads="1"/>
          </p:cNvSpPr>
          <p:nvPr/>
        </p:nvSpPr>
        <p:spPr bwMode="auto">
          <a:xfrm>
            <a:off x="228600" y="2549525"/>
            <a:ext cx="5638800" cy="584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</a:pPr>
            <a:endParaRPr lang="en-IE" sz="2800"/>
          </a:p>
        </p:txBody>
      </p:sp>
      <p:sp>
        <p:nvSpPr>
          <p:cNvPr id="214025" name="Rectangle 9"/>
          <p:cNvSpPr>
            <a:spLocks noChangeArrowheads="1"/>
          </p:cNvSpPr>
          <p:nvPr/>
        </p:nvSpPr>
        <p:spPr bwMode="auto">
          <a:xfrm>
            <a:off x="0" y="1066798"/>
            <a:ext cx="9144000" cy="578885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/>
          <a:lstStyle/>
          <a:p>
            <a:pPr>
              <a:lnSpc>
                <a:spcPct val="150000"/>
              </a:lnSpc>
              <a:buFontTx/>
              <a:buChar char="•"/>
              <a:tabLst>
                <a:tab pos="114300" algn="l"/>
                <a:tab pos="177800" algn="l"/>
                <a:tab pos="685800" algn="l"/>
              </a:tabLst>
              <a:defRPr/>
            </a:pPr>
            <a:endParaRPr lang="en-US" sz="2800" dirty="0">
              <a:effectLst>
                <a:outerShdw blurRad="38100" dist="38100" dir="2700000" algn="tl">
                  <a:srgbClr val="FFFFFF"/>
                </a:outerShdw>
              </a:effectLst>
              <a:latin typeface="Times New Roman" pitchFamily="18" charset="0"/>
            </a:endParaRPr>
          </a:p>
        </p:txBody>
      </p:sp>
      <p:pic>
        <p:nvPicPr>
          <p:cNvPr id="2050" name="Picture 2" descr="Image result for windows 98">
            <a:extLst>
              <a:ext uri="{FF2B5EF4-FFF2-40B4-BE49-F238E27FC236}">
                <a16:creationId xmlns:a16="http://schemas.microsoft.com/office/drawing/2014/main" xmlns="" id="{F41D9FFA-EEBB-438C-9BD3-C5B17BA14F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1371600"/>
            <a:ext cx="6781800" cy="5086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872940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025" name="Rectangle 9"/>
          <p:cNvSpPr>
            <a:spLocks noChangeArrowheads="1"/>
          </p:cNvSpPr>
          <p:nvPr/>
        </p:nvSpPr>
        <p:spPr bwMode="auto">
          <a:xfrm>
            <a:off x="10551" y="2160564"/>
            <a:ext cx="9144000" cy="4722054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/>
          <a:lstStyle/>
          <a:p>
            <a:pPr algn="ctr">
              <a:spcBef>
                <a:spcPct val="50000"/>
              </a:spcBef>
              <a:defRPr/>
            </a:pPr>
            <a:r>
              <a:rPr lang="en-US" sz="4400" b="1" dirty="0">
                <a:solidFill>
                  <a:schemeClr val="accent3">
                    <a:lumMod val="75000"/>
                  </a:schemeClr>
                </a:solidFill>
                <a:latin typeface="Times New Roman" pitchFamily="18" charset="0"/>
              </a:rPr>
              <a:t>Types of Operating System</a:t>
            </a:r>
          </a:p>
        </p:txBody>
      </p:sp>
    </p:spTree>
    <p:extLst>
      <p:ext uri="{BB962C8B-B14F-4D97-AF65-F5344CB8AC3E}">
        <p14:creationId xmlns:p14="http://schemas.microsoft.com/office/powerpoint/2010/main" val="5259978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title"/>
          </p:nvPr>
        </p:nvSpPr>
        <p:spPr>
          <a:xfrm>
            <a:off x="0" y="34924"/>
            <a:ext cx="9144000" cy="1031875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3">
                    <a:lumMod val="75000"/>
                  </a:schemeClr>
                </a:solidFill>
                <a:latin typeface="Times New Roman" pitchFamily="18" charset="0"/>
              </a:rPr>
              <a:t>Types of Operating System</a:t>
            </a:r>
            <a:endParaRPr lang="en-GB" b="1" dirty="0">
              <a:solidFill>
                <a:schemeClr val="accent3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771" name="Rectangle 8"/>
          <p:cNvSpPr>
            <a:spLocks noChangeArrowheads="1"/>
          </p:cNvSpPr>
          <p:nvPr/>
        </p:nvSpPr>
        <p:spPr bwMode="auto">
          <a:xfrm>
            <a:off x="228600" y="2549525"/>
            <a:ext cx="5638800" cy="584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</a:pPr>
            <a:endParaRPr lang="en-IE" sz="2800"/>
          </a:p>
        </p:txBody>
      </p:sp>
      <p:sp>
        <p:nvSpPr>
          <p:cNvPr id="214025" name="Rectangle 9"/>
          <p:cNvSpPr>
            <a:spLocks noChangeArrowheads="1"/>
          </p:cNvSpPr>
          <p:nvPr/>
        </p:nvSpPr>
        <p:spPr bwMode="auto">
          <a:xfrm>
            <a:off x="0" y="1066798"/>
            <a:ext cx="9144000" cy="578885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/>
          <a:lstStyle/>
          <a:p>
            <a:pPr>
              <a:lnSpc>
                <a:spcPct val="150000"/>
              </a:lnSpc>
              <a:tabLst>
                <a:tab pos="114300" algn="l"/>
                <a:tab pos="177800" algn="l"/>
                <a:tab pos="685800" algn="l"/>
              </a:tabLst>
              <a:defRPr/>
            </a:pPr>
            <a:r>
              <a:rPr lang="en-US" sz="2800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Some types of operating systems are: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  <a:tabLst>
                <a:tab pos="114300" algn="l"/>
                <a:tab pos="177800" algn="l"/>
                <a:tab pos="685800" algn="l"/>
              </a:tabLst>
              <a:defRPr/>
            </a:pPr>
            <a:r>
              <a:rPr lang="en-GB" sz="2800" dirty="0">
                <a:latin typeface="Times New Roman" pitchFamily="18" charset="0"/>
                <a:cs typeface="Times New Roman" pitchFamily="18" charset="0"/>
              </a:rPr>
              <a:t>Mainframe OS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  <a:tabLst>
                <a:tab pos="114300" algn="l"/>
                <a:tab pos="177800" algn="l"/>
                <a:tab pos="685800" algn="l"/>
              </a:tabLst>
              <a:defRPr/>
            </a:pPr>
            <a:r>
              <a:rPr lang="en-GB" sz="2800" dirty="0">
                <a:latin typeface="Times New Roman" pitchFamily="18" charset="0"/>
                <a:cs typeface="Times New Roman" pitchFamily="18" charset="0"/>
              </a:rPr>
              <a:t>Server OS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  <a:tabLst>
                <a:tab pos="114300" algn="l"/>
                <a:tab pos="177800" algn="l"/>
                <a:tab pos="685800" algn="l"/>
              </a:tabLst>
              <a:defRPr/>
            </a:pPr>
            <a:r>
              <a:rPr lang="en-GB" sz="2800" dirty="0">
                <a:latin typeface="Times New Roman" pitchFamily="18" charset="0"/>
                <a:cs typeface="Times New Roman" pitchFamily="18" charset="0"/>
              </a:rPr>
              <a:t>Multiprocessor OS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  <a:tabLst>
                <a:tab pos="114300" algn="l"/>
                <a:tab pos="177800" algn="l"/>
                <a:tab pos="685800" algn="l"/>
              </a:tabLst>
              <a:defRPr/>
            </a:pPr>
            <a:r>
              <a:rPr lang="en-GB" sz="2800" dirty="0">
                <a:latin typeface="Times New Roman" pitchFamily="18" charset="0"/>
                <a:cs typeface="Times New Roman" pitchFamily="18" charset="0"/>
              </a:rPr>
              <a:t>PC OS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  <a:tabLst>
                <a:tab pos="114300" algn="l"/>
                <a:tab pos="177800" algn="l"/>
                <a:tab pos="685800" algn="l"/>
              </a:tabLst>
              <a:defRPr/>
            </a:pPr>
            <a:r>
              <a:rPr lang="en-GB" sz="2800" dirty="0">
                <a:latin typeface="Times New Roman" pitchFamily="18" charset="0"/>
                <a:cs typeface="Times New Roman" pitchFamily="18" charset="0"/>
              </a:rPr>
              <a:t>Real Time OS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  <a:tabLst>
                <a:tab pos="114300" algn="l"/>
                <a:tab pos="177800" algn="l"/>
                <a:tab pos="685800" algn="l"/>
              </a:tabLst>
              <a:defRPr/>
            </a:pPr>
            <a:r>
              <a:rPr lang="en-GB" sz="2800" dirty="0">
                <a:latin typeface="Times New Roman" pitchFamily="18" charset="0"/>
                <a:cs typeface="Times New Roman" pitchFamily="18" charset="0"/>
              </a:rPr>
              <a:t>Embedded OS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  <a:tabLst>
                <a:tab pos="114300" algn="l"/>
                <a:tab pos="177800" algn="l"/>
                <a:tab pos="685800" algn="l"/>
              </a:tabLst>
              <a:defRPr/>
            </a:pPr>
            <a:r>
              <a:rPr lang="en-GB" sz="2800" dirty="0">
                <a:latin typeface="Times New Roman" pitchFamily="18" charset="0"/>
                <a:cs typeface="Times New Roman" pitchFamily="18" charset="0"/>
              </a:rPr>
              <a:t>Networking OS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  <a:tabLst>
                <a:tab pos="114300" algn="l"/>
                <a:tab pos="177800" algn="l"/>
                <a:tab pos="685800" algn="l"/>
              </a:tabLst>
              <a:defRPr/>
            </a:pPr>
            <a:endParaRPr lang="en-US" sz="2800" dirty="0">
              <a:effectLst>
                <a:outerShdw blurRad="38100" dist="38100" dir="2700000" algn="tl">
                  <a:srgbClr val="FFFFFF"/>
                </a:outerShdw>
              </a:effectLst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28480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title"/>
          </p:nvPr>
        </p:nvSpPr>
        <p:spPr>
          <a:xfrm>
            <a:off x="0" y="34924"/>
            <a:ext cx="9144000" cy="1031875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3">
                    <a:lumMod val="75000"/>
                  </a:schemeClr>
                </a:solidFill>
                <a:latin typeface="Times New Roman" pitchFamily="18" charset="0"/>
              </a:rPr>
              <a:t>Types of OS: Main Frame OS</a:t>
            </a:r>
            <a:endParaRPr lang="en-GB" b="1" dirty="0">
              <a:solidFill>
                <a:schemeClr val="accent3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771" name="Rectangle 8"/>
          <p:cNvSpPr>
            <a:spLocks noChangeArrowheads="1"/>
          </p:cNvSpPr>
          <p:nvPr/>
        </p:nvSpPr>
        <p:spPr bwMode="auto">
          <a:xfrm>
            <a:off x="228600" y="2549525"/>
            <a:ext cx="5638800" cy="584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</a:pPr>
            <a:endParaRPr lang="en-IE" sz="2800"/>
          </a:p>
        </p:txBody>
      </p:sp>
      <p:sp>
        <p:nvSpPr>
          <p:cNvPr id="214025" name="Rectangle 9"/>
          <p:cNvSpPr>
            <a:spLocks noChangeArrowheads="1"/>
          </p:cNvSpPr>
          <p:nvPr/>
        </p:nvSpPr>
        <p:spPr bwMode="auto">
          <a:xfrm>
            <a:off x="0" y="1066798"/>
            <a:ext cx="9144000" cy="578885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/>
          <a:lstStyle/>
          <a:p>
            <a:pPr marL="514350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GB" sz="2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GB" sz="2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mainframe operating system </a:t>
            </a:r>
            <a:r>
              <a:rPr lang="en-GB" sz="2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runs on a mainframe computer.</a:t>
            </a:r>
          </a:p>
          <a:p>
            <a:pPr marL="514350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GB" sz="2800" dirty="0">
                <a:latin typeface="Times New Roman" pitchFamily="18" charset="0"/>
                <a:cs typeface="Times New Roman" pitchFamily="18" charset="0"/>
              </a:rPr>
              <a:t>Mainframe computer is a powerful device used mainly by governments and businesses to process large amounts of information and support a great number of users.</a:t>
            </a:r>
          </a:p>
          <a:p>
            <a:pPr marL="514350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GB" sz="2800" dirty="0">
                <a:latin typeface="Times New Roman" pitchFamily="18" charset="0"/>
                <a:cs typeface="Times New Roman" pitchFamily="18" charset="0"/>
              </a:rPr>
              <a:t>Example : OS used by banks are composed of mainframe OS.</a:t>
            </a:r>
          </a:p>
        </p:txBody>
      </p:sp>
    </p:spTree>
    <p:extLst>
      <p:ext uri="{BB962C8B-B14F-4D97-AF65-F5344CB8AC3E}">
        <p14:creationId xmlns:p14="http://schemas.microsoft.com/office/powerpoint/2010/main" val="1320772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40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40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40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140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140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140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4025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title"/>
          </p:nvPr>
        </p:nvSpPr>
        <p:spPr>
          <a:xfrm>
            <a:off x="0" y="34924"/>
            <a:ext cx="9144000" cy="1031875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3">
                    <a:lumMod val="75000"/>
                  </a:schemeClr>
                </a:solidFill>
                <a:latin typeface="Times New Roman" pitchFamily="18" charset="0"/>
              </a:rPr>
              <a:t>Types of OS: Networking OS</a:t>
            </a:r>
            <a:endParaRPr lang="en-GB" b="1" dirty="0">
              <a:solidFill>
                <a:schemeClr val="accent3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771" name="Rectangle 8"/>
          <p:cNvSpPr>
            <a:spLocks noChangeArrowheads="1"/>
          </p:cNvSpPr>
          <p:nvPr/>
        </p:nvSpPr>
        <p:spPr bwMode="auto">
          <a:xfrm>
            <a:off x="228600" y="2549525"/>
            <a:ext cx="5638800" cy="584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</a:pPr>
            <a:endParaRPr lang="en-IE" sz="2800"/>
          </a:p>
        </p:txBody>
      </p:sp>
      <p:sp>
        <p:nvSpPr>
          <p:cNvPr id="214025" name="Rectangle 9"/>
          <p:cNvSpPr>
            <a:spLocks noChangeArrowheads="1"/>
          </p:cNvSpPr>
          <p:nvPr/>
        </p:nvSpPr>
        <p:spPr bwMode="auto">
          <a:xfrm>
            <a:off x="0" y="1066798"/>
            <a:ext cx="9144000" cy="578885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/>
          <a:lstStyle/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GB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 Networking Operating System (NOS) runs on a main server and enables the server to manage data, users, groups, security, applications, and other networking functions.</a:t>
            </a:r>
            <a:endParaRPr lang="en-GB" sz="2400" b="1" baseline="300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The network operating system is designed to allow shared file and printer access among multiple computers in a network, typically a local area network (LAN), a private network or to other networks.</a:t>
            </a:r>
          </a:p>
          <a:p>
            <a:pPr algn="just">
              <a:lnSpc>
                <a:spcPct val="150000"/>
              </a:lnSpc>
            </a:pPr>
            <a:r>
              <a:rPr lang="en-GB" sz="2400" b="1" u="sng" dirty="0">
                <a:latin typeface="Times New Roman" pitchFamily="18" charset="0"/>
                <a:cs typeface="Times New Roman" pitchFamily="18" charset="0"/>
              </a:rPr>
              <a:t>Examples</a:t>
            </a:r>
          </a:p>
          <a:p>
            <a:pPr algn="just">
              <a:lnSpc>
                <a:spcPct val="150000"/>
              </a:lnSpc>
            </a:pP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Microsoft Windows Server 2003, Microsoft Windows Server 2008, UNIX, Linux, Mac OS, and Novell NetWare.</a:t>
            </a:r>
          </a:p>
        </p:txBody>
      </p:sp>
    </p:spTree>
    <p:extLst>
      <p:ext uri="{BB962C8B-B14F-4D97-AF65-F5344CB8AC3E}">
        <p14:creationId xmlns:p14="http://schemas.microsoft.com/office/powerpoint/2010/main" val="1355408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40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40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40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140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140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140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40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140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4025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title"/>
          </p:nvPr>
        </p:nvSpPr>
        <p:spPr>
          <a:xfrm>
            <a:off x="0" y="34924"/>
            <a:ext cx="9144000" cy="1031875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3">
                    <a:lumMod val="75000"/>
                  </a:schemeClr>
                </a:solidFill>
                <a:latin typeface="Times New Roman" pitchFamily="18" charset="0"/>
              </a:rPr>
              <a:t>Types of OS: Distributed OS</a:t>
            </a:r>
            <a:endParaRPr lang="en-GB" b="1" dirty="0">
              <a:solidFill>
                <a:schemeClr val="accent3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771" name="Rectangle 8"/>
          <p:cNvSpPr>
            <a:spLocks noChangeArrowheads="1"/>
          </p:cNvSpPr>
          <p:nvPr/>
        </p:nvSpPr>
        <p:spPr bwMode="auto">
          <a:xfrm>
            <a:off x="228600" y="2549525"/>
            <a:ext cx="5638800" cy="584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</a:pPr>
            <a:endParaRPr lang="en-IE" sz="2800"/>
          </a:p>
        </p:txBody>
      </p:sp>
      <p:sp>
        <p:nvSpPr>
          <p:cNvPr id="214025" name="Rectangle 9"/>
          <p:cNvSpPr>
            <a:spLocks noChangeArrowheads="1"/>
          </p:cNvSpPr>
          <p:nvPr/>
        </p:nvSpPr>
        <p:spPr bwMode="auto">
          <a:xfrm>
            <a:off x="0" y="1066798"/>
            <a:ext cx="9144000" cy="578885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/>
          <a:lstStyle/>
          <a:p>
            <a:pPr lvl="1" indent="-457200"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It manages a group of independent computers and makes them appear to be a single computer.</a:t>
            </a:r>
          </a:p>
          <a:p>
            <a:pPr lvl="1" indent="-457200"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The development of networked computers that could be linked and communicate with each other, gave rise to distributed computing. </a:t>
            </a:r>
          </a:p>
          <a:p>
            <a:pPr lvl="1" indent="-457200"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Distributed computations are carried out on more than one machine. When computers in a group work in cooperation, they make a distributed system.</a:t>
            </a:r>
          </a:p>
        </p:txBody>
      </p:sp>
    </p:spTree>
    <p:extLst>
      <p:ext uri="{BB962C8B-B14F-4D97-AF65-F5344CB8AC3E}">
        <p14:creationId xmlns:p14="http://schemas.microsoft.com/office/powerpoint/2010/main" val="36180017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40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40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140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140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140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140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4025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title"/>
          </p:nvPr>
        </p:nvSpPr>
        <p:spPr>
          <a:xfrm>
            <a:off x="0" y="34924"/>
            <a:ext cx="9144000" cy="1031875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3">
                    <a:lumMod val="75000"/>
                  </a:schemeClr>
                </a:solidFill>
                <a:latin typeface="Times New Roman" pitchFamily="18" charset="0"/>
              </a:rPr>
              <a:t>Types of OS: Real-Time OS</a:t>
            </a:r>
            <a:endParaRPr lang="en-GB" b="1" dirty="0">
              <a:solidFill>
                <a:schemeClr val="accent3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771" name="Rectangle 8"/>
          <p:cNvSpPr>
            <a:spLocks noChangeArrowheads="1"/>
          </p:cNvSpPr>
          <p:nvPr/>
        </p:nvSpPr>
        <p:spPr bwMode="auto">
          <a:xfrm>
            <a:off x="228600" y="2549525"/>
            <a:ext cx="5638800" cy="584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</a:pPr>
            <a:endParaRPr lang="en-IE" sz="2800"/>
          </a:p>
        </p:txBody>
      </p:sp>
      <p:sp>
        <p:nvSpPr>
          <p:cNvPr id="214025" name="Rectangle 9"/>
          <p:cNvSpPr>
            <a:spLocks noChangeArrowheads="1"/>
          </p:cNvSpPr>
          <p:nvPr/>
        </p:nvSpPr>
        <p:spPr bwMode="auto">
          <a:xfrm>
            <a:off x="0" y="1066798"/>
            <a:ext cx="9144000" cy="578885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/>
          <a:lstStyle/>
          <a:p>
            <a:pPr marL="519113" lvl="1" indent="-5143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sz="2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 real-time operating system is a multitasking operating system that aims at executing real-time applications. </a:t>
            </a:r>
          </a:p>
          <a:p>
            <a:pPr marL="519113" lvl="1" indent="-5143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marL="519113" lvl="1" indent="-5143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The main objective of real-time operating systems is their quick and predictable response to events. </a:t>
            </a:r>
          </a:p>
        </p:txBody>
      </p:sp>
    </p:spTree>
    <p:extLst>
      <p:ext uri="{BB962C8B-B14F-4D97-AF65-F5344CB8AC3E}">
        <p14:creationId xmlns:p14="http://schemas.microsoft.com/office/powerpoint/2010/main" val="54309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40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40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140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140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4025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title"/>
          </p:nvPr>
        </p:nvSpPr>
        <p:spPr>
          <a:xfrm>
            <a:off x="0" y="34924"/>
            <a:ext cx="9144000" cy="103187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accent3">
                    <a:lumMod val="75000"/>
                  </a:schemeClr>
                </a:solidFill>
                <a:latin typeface="Times New Roman" pitchFamily="18" charset="0"/>
              </a:rPr>
              <a:t>Types of OS: Real-Time OS(Examples)</a:t>
            </a:r>
            <a:endParaRPr lang="en-GB" b="1" dirty="0">
              <a:solidFill>
                <a:schemeClr val="accent3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771" name="Rectangle 8"/>
          <p:cNvSpPr>
            <a:spLocks noChangeArrowheads="1"/>
          </p:cNvSpPr>
          <p:nvPr/>
        </p:nvSpPr>
        <p:spPr bwMode="auto">
          <a:xfrm>
            <a:off x="228600" y="2549525"/>
            <a:ext cx="5638800" cy="584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</a:pPr>
            <a:endParaRPr lang="en-IE" sz="2800"/>
          </a:p>
        </p:txBody>
      </p:sp>
      <p:sp>
        <p:nvSpPr>
          <p:cNvPr id="214025" name="Rectangle 9"/>
          <p:cNvSpPr>
            <a:spLocks noChangeArrowheads="1"/>
          </p:cNvSpPr>
          <p:nvPr/>
        </p:nvSpPr>
        <p:spPr bwMode="auto">
          <a:xfrm>
            <a:off x="0" y="1066798"/>
            <a:ext cx="9144000" cy="578885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/>
          <a:lstStyle/>
          <a:p>
            <a:endParaRPr lang="en-GB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6">
            <a:extLst>
              <a:ext uri="{FF2B5EF4-FFF2-40B4-BE49-F238E27FC236}">
                <a16:creationId xmlns:a16="http://schemas.microsoft.com/office/drawing/2014/main" xmlns="" id="{FD957944-8547-41B6-9D4B-3E22E7DC0D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2120" y="1484784"/>
            <a:ext cx="2540000" cy="425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6" name="Picture 4">
            <a:extLst>
              <a:ext uri="{FF2B5EF4-FFF2-40B4-BE49-F238E27FC236}">
                <a16:creationId xmlns:a16="http://schemas.microsoft.com/office/drawing/2014/main" xmlns="" id="{0F4B3E0B-40E4-47EC-AD65-D2ACF48758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7784" y="2819400"/>
            <a:ext cx="3175000" cy="2717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7" name="Picture 5">
            <a:extLst>
              <a:ext uri="{FF2B5EF4-FFF2-40B4-BE49-F238E27FC236}">
                <a16:creationId xmlns:a16="http://schemas.microsoft.com/office/drawing/2014/main" xmlns="" id="{6822E96A-61D1-48F3-AFD6-13770E4755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2273300"/>
            <a:ext cx="2108200" cy="381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864939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title"/>
          </p:nvPr>
        </p:nvSpPr>
        <p:spPr>
          <a:xfrm>
            <a:off x="0" y="34924"/>
            <a:ext cx="9144000" cy="1031875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3">
                    <a:lumMod val="75000"/>
                  </a:schemeClr>
                </a:solidFill>
                <a:latin typeface="Times New Roman" pitchFamily="18" charset="0"/>
              </a:rPr>
              <a:t>Types of OS: Embedded OS</a:t>
            </a:r>
            <a:endParaRPr lang="en-GB" b="1" dirty="0">
              <a:solidFill>
                <a:schemeClr val="accent3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771" name="Rectangle 8"/>
          <p:cNvSpPr>
            <a:spLocks noChangeArrowheads="1"/>
          </p:cNvSpPr>
          <p:nvPr/>
        </p:nvSpPr>
        <p:spPr bwMode="auto">
          <a:xfrm>
            <a:off x="228600" y="2549525"/>
            <a:ext cx="5638800" cy="584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</a:pPr>
            <a:endParaRPr lang="en-IE" sz="2800"/>
          </a:p>
        </p:txBody>
      </p:sp>
      <p:sp>
        <p:nvSpPr>
          <p:cNvPr id="214025" name="Rectangle 9"/>
          <p:cNvSpPr>
            <a:spLocks noChangeArrowheads="1"/>
          </p:cNvSpPr>
          <p:nvPr/>
        </p:nvSpPr>
        <p:spPr bwMode="auto">
          <a:xfrm>
            <a:off x="0" y="1066798"/>
            <a:ext cx="9144000" cy="578885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/>
          <a:lstStyle/>
          <a:p>
            <a:pPr marL="461963" lvl="1" indent="-4572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sz="2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They are designed to operate on small machines like mobile phones, PDAs, etc.</a:t>
            </a:r>
          </a:p>
          <a:p>
            <a:pPr marL="461963" lvl="1" indent="-4572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They are able to operate with a limited number of resources. They are very compact and extremely efficient by design. </a:t>
            </a:r>
          </a:p>
          <a:p>
            <a:pPr marL="461963" lvl="1" indent="-4572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Examples</a:t>
            </a:r>
          </a:p>
          <a:p>
            <a:pPr marL="461963" lvl="1" indent="-4572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Palm OS, Android</a:t>
            </a:r>
          </a:p>
        </p:txBody>
      </p:sp>
    </p:spTree>
    <p:extLst>
      <p:ext uri="{BB962C8B-B14F-4D97-AF65-F5344CB8AC3E}">
        <p14:creationId xmlns:p14="http://schemas.microsoft.com/office/powerpoint/2010/main" val="5921483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025" name="Rectangle 9"/>
          <p:cNvSpPr>
            <a:spLocks noChangeArrowheads="1"/>
          </p:cNvSpPr>
          <p:nvPr/>
        </p:nvSpPr>
        <p:spPr bwMode="auto">
          <a:xfrm>
            <a:off x="10551" y="2160564"/>
            <a:ext cx="9144000" cy="4722054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/>
          <a:lstStyle/>
          <a:p>
            <a:pPr algn="ctr">
              <a:spcBef>
                <a:spcPct val="50000"/>
              </a:spcBef>
              <a:defRPr/>
            </a:pPr>
            <a:r>
              <a:rPr lang="en-US" sz="4400" b="1" dirty="0">
                <a:solidFill>
                  <a:schemeClr val="accent3">
                    <a:lumMod val="75000"/>
                  </a:schemeClr>
                </a:solidFill>
                <a:latin typeface="Times New Roman" pitchFamily="18" charset="0"/>
              </a:rPr>
              <a:t>Special Functions of Operating System</a:t>
            </a:r>
          </a:p>
        </p:txBody>
      </p:sp>
    </p:spTree>
    <p:extLst>
      <p:ext uri="{BB962C8B-B14F-4D97-AF65-F5344CB8AC3E}">
        <p14:creationId xmlns:p14="http://schemas.microsoft.com/office/powerpoint/2010/main" val="1184599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xmlns="" id="{12CC4942-62D9-468A-B824-FF33AA7014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-7034" y="0"/>
            <a:ext cx="9151034" cy="1143000"/>
          </a:xfrm>
        </p:spPr>
        <p:txBody>
          <a:bodyPr/>
          <a:lstStyle/>
          <a:p>
            <a:r>
              <a:rPr lang="en-US" b="1" dirty="0">
                <a:solidFill>
                  <a:schemeClr val="accent3">
                    <a:lumMod val="75000"/>
                  </a:schemeClr>
                </a:solidFill>
                <a:latin typeface="Times New Roman" pitchFamily="18" charset="0"/>
              </a:rPr>
              <a:t>Time sharing Process</a:t>
            </a:r>
            <a:endParaRPr lang="en-US" altLang="zh-TW" dirty="0"/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xmlns="" id="{9826DC7A-B7AF-4FEB-9B35-415F9034D08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1143000"/>
            <a:ext cx="9144000" cy="57150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case of multiple users, each user is given a time slice to interact with the CPU. </a:t>
            </a:r>
          </a:p>
          <a:p>
            <a:pPr>
              <a:lnSpc>
                <a:spcPct val="150000"/>
              </a:lnSpc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size of the time slice will depend on the system.</a:t>
            </a:r>
          </a:p>
          <a:p>
            <a:pPr>
              <a:lnSpc>
                <a:spcPct val="150000"/>
              </a:lnSpc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user is served in sequence.</a:t>
            </a:r>
          </a:p>
          <a:p>
            <a:pPr>
              <a:lnSpc>
                <a:spcPct val="150000"/>
              </a:lnSpc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example multiple users using printer connected to a pc in LAN network.</a:t>
            </a:r>
          </a:p>
        </p:txBody>
      </p:sp>
    </p:spTree>
    <p:extLst>
      <p:ext uri="{BB962C8B-B14F-4D97-AF65-F5344CB8AC3E}">
        <p14:creationId xmlns:p14="http://schemas.microsoft.com/office/powerpoint/2010/main" val="30601273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xmlns="" id="{AC11F5AD-F656-4FF0-9A4D-8B5B3D568D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9378"/>
            <a:ext cx="9144000" cy="981222"/>
          </a:xfrm>
        </p:spPr>
        <p:txBody>
          <a:bodyPr/>
          <a:lstStyle/>
          <a:p>
            <a:r>
              <a:rPr lang="en-US" b="1" dirty="0">
                <a:solidFill>
                  <a:schemeClr val="accent3">
                    <a:lumMod val="75000"/>
                  </a:schemeClr>
                </a:solidFill>
                <a:latin typeface="Times New Roman" pitchFamily="18" charset="0"/>
              </a:rPr>
              <a:t>Batch Processing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xmlns="" id="{BF26707F-98EE-4A1D-B35D-239BB4D001F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838200"/>
            <a:ext cx="9144000" cy="38100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Jobs, together with input data, are fed into the system in a batch. </a:t>
            </a:r>
          </a:p>
          <a:p>
            <a:pPr>
              <a:lnSpc>
                <a:spcPct val="150000"/>
              </a:lnSpc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jobs are then run one after another.</a:t>
            </a:r>
          </a:p>
          <a:p>
            <a:pPr>
              <a:lnSpc>
                <a:spcPct val="150000"/>
              </a:lnSpc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job can be started until previous job is completed</a:t>
            </a:r>
          </a:p>
        </p:txBody>
      </p:sp>
      <p:pic>
        <p:nvPicPr>
          <p:cNvPr id="22532" name="Picture 4" descr="G:\Computer\CS\Vol_2\cspicture2\13.2-e.jpg">
            <a:extLst>
              <a:ext uri="{FF2B5EF4-FFF2-40B4-BE49-F238E27FC236}">
                <a16:creationId xmlns:a16="http://schemas.microsoft.com/office/drawing/2014/main" xmlns="" id="{01235A68-BD67-4718-B550-AF37DB51AE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846"/>
          <a:stretch>
            <a:fillRect/>
          </a:stretch>
        </p:blipFill>
        <p:spPr bwMode="auto">
          <a:xfrm>
            <a:off x="457200" y="4695093"/>
            <a:ext cx="8229600" cy="157956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706979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xmlns="" id="{C4399E96-3804-4EA0-B188-4EF530B527B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accent3">
                    <a:lumMod val="75000"/>
                  </a:schemeClr>
                </a:solidFill>
                <a:latin typeface="Times New Roman" pitchFamily="18" charset="0"/>
              </a:rPr>
              <a:t>Other special Function performed by OS</a:t>
            </a:r>
            <a:endParaRPr lang="en-US" altLang="zh-TW" dirty="0"/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xmlns="" id="{9C822C83-E65B-46FF-BB16-F170DDE12B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1219200"/>
            <a:ext cx="9144000" cy="56388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Multi-tasking</a:t>
            </a:r>
          </a:p>
          <a:p>
            <a:pPr>
              <a:lnSpc>
                <a:spcPct val="150000"/>
              </a:lnSpc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Multi-programming</a:t>
            </a:r>
          </a:p>
          <a:p>
            <a:pPr>
              <a:lnSpc>
                <a:spcPct val="150000"/>
              </a:lnSpc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Parallel processing</a:t>
            </a:r>
          </a:p>
          <a:p>
            <a:pPr>
              <a:lnSpc>
                <a:spcPct val="150000"/>
              </a:lnSpc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Buffering</a:t>
            </a:r>
          </a:p>
          <a:p>
            <a:pPr>
              <a:lnSpc>
                <a:spcPct val="150000"/>
              </a:lnSpc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Spooling</a:t>
            </a:r>
          </a:p>
        </p:txBody>
      </p:sp>
    </p:spTree>
    <p:extLst>
      <p:ext uri="{BB962C8B-B14F-4D97-AF65-F5344CB8AC3E}">
        <p14:creationId xmlns:p14="http://schemas.microsoft.com/office/powerpoint/2010/main" val="615307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xmlns="" id="{73C10B52-77DD-4111-A7E9-5DF3A347C96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-7034" y="9378"/>
            <a:ext cx="9151034" cy="1143000"/>
          </a:xfrm>
        </p:spPr>
        <p:txBody>
          <a:bodyPr/>
          <a:lstStyle/>
          <a:p>
            <a:r>
              <a:rPr lang="en-US" b="1" dirty="0">
                <a:solidFill>
                  <a:schemeClr val="accent3">
                    <a:lumMod val="75000"/>
                  </a:schemeClr>
                </a:solidFill>
                <a:latin typeface="Times New Roman" pitchFamily="18" charset="0"/>
              </a:rPr>
              <a:t>Multi Tasking</a:t>
            </a:r>
            <a:endParaRPr lang="en-US" altLang="zh-TW" dirty="0"/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xmlns="" id="{DB31A312-B7E1-4482-AA09-12FEE30D4F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9308" y="838201"/>
            <a:ext cx="9114692" cy="2667000"/>
          </a:xfrm>
        </p:spPr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handle two or more programs at the same time from a single user ‘s perception</a:t>
            </a:r>
          </a:p>
        </p:txBody>
      </p:sp>
      <p:pic>
        <p:nvPicPr>
          <p:cNvPr id="12292" name="Picture 4" descr="G:\Computer\CS\Vol_2\cspicture2\13.4-e.jpg">
            <a:extLst>
              <a:ext uri="{FF2B5EF4-FFF2-40B4-BE49-F238E27FC236}">
                <a16:creationId xmlns:a16="http://schemas.microsoft.com/office/drawing/2014/main" xmlns="" id="{08608086-8A73-4F79-8495-7AA267988A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720"/>
          <a:stretch>
            <a:fillRect/>
          </a:stretch>
        </p:blipFill>
        <p:spPr bwMode="auto">
          <a:xfrm>
            <a:off x="148883" y="2667000"/>
            <a:ext cx="8839200" cy="2286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045638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1" grpId="0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xmlns="" id="{DA6E8C85-2D75-4DE4-B73E-E26B153153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r>
              <a:rPr lang="en-US" b="1" dirty="0">
                <a:solidFill>
                  <a:schemeClr val="accent3">
                    <a:lumMod val="75000"/>
                  </a:schemeClr>
                </a:solidFill>
                <a:latin typeface="Times New Roman" pitchFamily="18" charset="0"/>
              </a:rPr>
              <a:t>Multi Programming</a:t>
            </a:r>
            <a:endParaRPr lang="en-US" altLang="zh-TW" dirty="0"/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xmlns="" id="{DFAD435A-A541-4CBA-A534-D352DC824D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1295400"/>
            <a:ext cx="9144000" cy="55626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or more programs store in the main memory(RAM) at the same time</a:t>
            </a:r>
          </a:p>
          <a:p>
            <a:pPr>
              <a:lnSpc>
                <a:spcPct val="150000"/>
              </a:lnSpc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one job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needs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wait (e.g. I/O operation), CPU switch to another job to execute</a:t>
            </a:r>
          </a:p>
          <a:p>
            <a:pPr>
              <a:lnSpc>
                <a:spcPct val="150000"/>
              </a:lnSpc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the first job finishes waiting, CPU will get back the first job to execute</a:t>
            </a:r>
          </a:p>
        </p:txBody>
      </p:sp>
    </p:spTree>
    <p:extLst>
      <p:ext uri="{BB962C8B-B14F-4D97-AF65-F5344CB8AC3E}">
        <p14:creationId xmlns:p14="http://schemas.microsoft.com/office/powerpoint/2010/main" val="2576444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5" grpId="0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xmlns="" id="{EBA158E5-A4FB-42E0-95B5-B3E93935B1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-8425"/>
            <a:ext cx="9144000" cy="1143000"/>
          </a:xfrm>
        </p:spPr>
        <p:txBody>
          <a:bodyPr/>
          <a:lstStyle/>
          <a:p>
            <a:r>
              <a:rPr lang="en-US" b="1" dirty="0">
                <a:solidFill>
                  <a:schemeClr val="accent3">
                    <a:lumMod val="75000"/>
                  </a:schemeClr>
                </a:solidFill>
                <a:latin typeface="Times New Roman" pitchFamily="18" charset="0"/>
              </a:rPr>
              <a:t>Parallel Programming</a:t>
            </a:r>
            <a:endParaRPr lang="en-US" altLang="zh-TW" dirty="0"/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xmlns="" id="{2DBB6CB6-239D-47E2-96A6-F17D4C0A45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0338" y="1263162"/>
            <a:ext cx="7772400" cy="1371600"/>
          </a:xfrm>
        </p:spPr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two or more CPUs to handle jobs</a:t>
            </a:r>
          </a:p>
        </p:txBody>
      </p:sp>
      <p:sp>
        <p:nvSpPr>
          <p:cNvPr id="14340" name="Rectangle 4">
            <a:extLst>
              <a:ext uri="{FF2B5EF4-FFF2-40B4-BE49-F238E27FC236}">
                <a16:creationId xmlns:a16="http://schemas.microsoft.com/office/drawing/2014/main" xmlns="" id="{CE6A0A98-1A4B-4094-BB25-BE954D1FB8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5105400"/>
            <a:ext cx="228600" cy="685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341" name="Rectangle 5">
            <a:extLst>
              <a:ext uri="{FF2B5EF4-FFF2-40B4-BE49-F238E27FC236}">
                <a16:creationId xmlns:a16="http://schemas.microsoft.com/office/drawing/2014/main" xmlns="" id="{20F566FA-E056-48D3-BB2A-9501143437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4114800"/>
            <a:ext cx="228600" cy="685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342" name="Rectangle 6">
            <a:extLst>
              <a:ext uri="{FF2B5EF4-FFF2-40B4-BE49-F238E27FC236}">
                <a16:creationId xmlns:a16="http://schemas.microsoft.com/office/drawing/2014/main" xmlns="" id="{A416293C-CE11-46E6-AFC9-7424B117CC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0" y="5334000"/>
            <a:ext cx="2286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343" name="Rectangle 7">
            <a:extLst>
              <a:ext uri="{FF2B5EF4-FFF2-40B4-BE49-F238E27FC236}">
                <a16:creationId xmlns:a16="http://schemas.microsoft.com/office/drawing/2014/main" xmlns="" id="{1FBF6D88-C193-456F-84AD-3DB79227B2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0" y="4648200"/>
            <a:ext cx="228600" cy="685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344" name="Rectangle 8">
            <a:extLst>
              <a:ext uri="{FF2B5EF4-FFF2-40B4-BE49-F238E27FC236}">
                <a16:creationId xmlns:a16="http://schemas.microsoft.com/office/drawing/2014/main" xmlns="" id="{0670ABE7-DA8E-41B8-B897-36DEFCB113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8400" y="5105400"/>
            <a:ext cx="228600" cy="685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345" name="Rectangle 9">
            <a:extLst>
              <a:ext uri="{FF2B5EF4-FFF2-40B4-BE49-F238E27FC236}">
                <a16:creationId xmlns:a16="http://schemas.microsoft.com/office/drawing/2014/main" xmlns="" id="{802EA7A7-842F-4BDF-95FC-FBFD26BA80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8400" y="3276600"/>
            <a:ext cx="228600" cy="685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346" name="Rectangle 10">
            <a:extLst>
              <a:ext uri="{FF2B5EF4-FFF2-40B4-BE49-F238E27FC236}">
                <a16:creationId xmlns:a16="http://schemas.microsoft.com/office/drawing/2014/main" xmlns="" id="{D95B7633-BC34-4973-AA9B-B8817C3568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8400" y="4648200"/>
            <a:ext cx="2286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347" name="Rectangle 11">
            <a:extLst>
              <a:ext uri="{FF2B5EF4-FFF2-40B4-BE49-F238E27FC236}">
                <a16:creationId xmlns:a16="http://schemas.microsoft.com/office/drawing/2014/main" xmlns="" id="{F1D94254-DCAA-4A6F-94FC-13504DC5A4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8400" y="3962400"/>
            <a:ext cx="228600" cy="685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348" name="Text Box 12">
            <a:extLst>
              <a:ext uri="{FF2B5EF4-FFF2-40B4-BE49-F238E27FC236}">
                <a16:creationId xmlns:a16="http://schemas.microsoft.com/office/drawing/2014/main" xmlns="" id="{34A2F1B5-A30A-466E-AD2A-61CA520040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5410200"/>
            <a:ext cx="685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TW" sz="1800"/>
              <a:t>Job 1</a:t>
            </a:r>
            <a:endParaRPr lang="en-US" altLang="zh-TW"/>
          </a:p>
        </p:txBody>
      </p:sp>
      <p:sp>
        <p:nvSpPr>
          <p:cNvPr id="14349" name="Text Box 13">
            <a:extLst>
              <a:ext uri="{FF2B5EF4-FFF2-40B4-BE49-F238E27FC236}">
                <a16:creationId xmlns:a16="http://schemas.microsoft.com/office/drawing/2014/main" xmlns="" id="{2384F335-9680-4672-8747-5ED692402F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0" y="5410200"/>
            <a:ext cx="685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TW" sz="1800"/>
              <a:t>Job 2</a:t>
            </a:r>
            <a:endParaRPr lang="en-US" altLang="zh-TW"/>
          </a:p>
        </p:txBody>
      </p:sp>
      <p:sp>
        <p:nvSpPr>
          <p:cNvPr id="14350" name="Text Box 14">
            <a:extLst>
              <a:ext uri="{FF2B5EF4-FFF2-40B4-BE49-F238E27FC236}">
                <a16:creationId xmlns:a16="http://schemas.microsoft.com/office/drawing/2014/main" xmlns="" id="{C273A6E5-01E6-4A68-91F4-B8108B0FF9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0" y="4876800"/>
            <a:ext cx="685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TW" sz="1800"/>
              <a:t>Job 3</a:t>
            </a:r>
            <a:endParaRPr lang="en-US" altLang="zh-TW"/>
          </a:p>
        </p:txBody>
      </p:sp>
      <p:sp>
        <p:nvSpPr>
          <p:cNvPr id="14351" name="Text Box 15">
            <a:extLst>
              <a:ext uri="{FF2B5EF4-FFF2-40B4-BE49-F238E27FC236}">
                <a16:creationId xmlns:a16="http://schemas.microsoft.com/office/drawing/2014/main" xmlns="" id="{BB333E91-62ED-4537-B0D6-C58E94146A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4343400"/>
            <a:ext cx="685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TW" sz="1800"/>
              <a:t>Job 4</a:t>
            </a:r>
            <a:endParaRPr lang="en-US" altLang="zh-TW"/>
          </a:p>
        </p:txBody>
      </p:sp>
      <p:sp>
        <p:nvSpPr>
          <p:cNvPr id="14352" name="Text Box 16">
            <a:extLst>
              <a:ext uri="{FF2B5EF4-FFF2-40B4-BE49-F238E27FC236}">
                <a16:creationId xmlns:a16="http://schemas.microsoft.com/office/drawing/2014/main" xmlns="" id="{534A607C-A69C-4A5E-B7DB-BC2C76C4FB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9400" y="5257800"/>
            <a:ext cx="685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TW" sz="1800"/>
              <a:t>Job 1</a:t>
            </a:r>
            <a:endParaRPr lang="en-US" altLang="zh-TW"/>
          </a:p>
        </p:txBody>
      </p:sp>
      <p:sp>
        <p:nvSpPr>
          <p:cNvPr id="14353" name="Text Box 17">
            <a:extLst>
              <a:ext uri="{FF2B5EF4-FFF2-40B4-BE49-F238E27FC236}">
                <a16:creationId xmlns:a16="http://schemas.microsoft.com/office/drawing/2014/main" xmlns="" id="{4F770A0C-1E45-4B39-972F-AC9EEC9A50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9400" y="4724400"/>
            <a:ext cx="685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TW" sz="1800"/>
              <a:t>Job 2</a:t>
            </a:r>
            <a:endParaRPr lang="en-US" altLang="zh-TW"/>
          </a:p>
        </p:txBody>
      </p:sp>
      <p:sp>
        <p:nvSpPr>
          <p:cNvPr id="14354" name="Text Box 18">
            <a:extLst>
              <a:ext uri="{FF2B5EF4-FFF2-40B4-BE49-F238E27FC236}">
                <a16:creationId xmlns:a16="http://schemas.microsoft.com/office/drawing/2014/main" xmlns="" id="{854B6BEB-613C-480A-A237-C1A0EA8894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9400" y="4114800"/>
            <a:ext cx="685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TW" sz="1800"/>
              <a:t>Job 3</a:t>
            </a:r>
            <a:endParaRPr lang="en-US" altLang="zh-TW"/>
          </a:p>
        </p:txBody>
      </p:sp>
      <p:sp>
        <p:nvSpPr>
          <p:cNvPr id="14355" name="Text Box 19">
            <a:extLst>
              <a:ext uri="{FF2B5EF4-FFF2-40B4-BE49-F238E27FC236}">
                <a16:creationId xmlns:a16="http://schemas.microsoft.com/office/drawing/2014/main" xmlns="" id="{A0BA72A9-ACD7-41CE-8DF3-BAFB9C718F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9400" y="3429000"/>
            <a:ext cx="685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TW" sz="1800"/>
              <a:t>Job 4</a:t>
            </a:r>
            <a:endParaRPr lang="en-US" altLang="zh-TW"/>
          </a:p>
        </p:txBody>
      </p:sp>
      <p:sp>
        <p:nvSpPr>
          <p:cNvPr id="14356" name="Line 20">
            <a:extLst>
              <a:ext uri="{FF2B5EF4-FFF2-40B4-BE49-F238E27FC236}">
                <a16:creationId xmlns:a16="http://schemas.microsoft.com/office/drawing/2014/main" xmlns="" id="{BBA2414E-AC70-49CB-B842-1FB31D3787D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295400" y="3505200"/>
            <a:ext cx="0" cy="2438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357" name="Line 21">
            <a:extLst>
              <a:ext uri="{FF2B5EF4-FFF2-40B4-BE49-F238E27FC236}">
                <a16:creationId xmlns:a16="http://schemas.microsoft.com/office/drawing/2014/main" xmlns="" id="{3D69A1D3-13E6-4C5F-93CE-76A48556D121}"/>
              </a:ext>
            </a:extLst>
          </p:cNvPr>
          <p:cNvSpPr>
            <a:spLocks noChangeShapeType="1"/>
          </p:cNvSpPr>
          <p:nvPr/>
        </p:nvSpPr>
        <p:spPr bwMode="auto">
          <a:xfrm>
            <a:off x="1295400" y="5943600"/>
            <a:ext cx="2895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358" name="Line 22">
            <a:extLst>
              <a:ext uri="{FF2B5EF4-FFF2-40B4-BE49-F238E27FC236}">
                <a16:creationId xmlns:a16="http://schemas.microsoft.com/office/drawing/2014/main" xmlns="" id="{CB81CAFE-AB4E-422A-A409-74494A78387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410200" y="3505200"/>
            <a:ext cx="0" cy="2438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359" name="Line 23">
            <a:extLst>
              <a:ext uri="{FF2B5EF4-FFF2-40B4-BE49-F238E27FC236}">
                <a16:creationId xmlns:a16="http://schemas.microsoft.com/office/drawing/2014/main" xmlns="" id="{FF1234DB-BA78-4AFE-A69C-66A4DE2024F2}"/>
              </a:ext>
            </a:extLst>
          </p:cNvPr>
          <p:cNvSpPr>
            <a:spLocks noChangeShapeType="1"/>
          </p:cNvSpPr>
          <p:nvPr/>
        </p:nvSpPr>
        <p:spPr bwMode="auto">
          <a:xfrm>
            <a:off x="5410200" y="5943600"/>
            <a:ext cx="2895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360" name="Text Box 24">
            <a:extLst>
              <a:ext uri="{FF2B5EF4-FFF2-40B4-BE49-F238E27FC236}">
                <a16:creationId xmlns:a16="http://schemas.microsoft.com/office/drawing/2014/main" xmlns="" id="{E0DF33B1-6696-46A7-A7CE-BF7A7A451C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6096000"/>
            <a:ext cx="1066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TW"/>
              <a:t>CPU 1</a:t>
            </a:r>
          </a:p>
        </p:txBody>
      </p:sp>
      <p:sp>
        <p:nvSpPr>
          <p:cNvPr id="14361" name="Text Box 25">
            <a:extLst>
              <a:ext uri="{FF2B5EF4-FFF2-40B4-BE49-F238E27FC236}">
                <a16:creationId xmlns:a16="http://schemas.microsoft.com/office/drawing/2014/main" xmlns="" id="{7474D488-8E04-464C-95DF-3E023B38BA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4200" y="6096000"/>
            <a:ext cx="1066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TW"/>
              <a:t>CPU 2</a:t>
            </a:r>
          </a:p>
        </p:txBody>
      </p:sp>
      <p:sp>
        <p:nvSpPr>
          <p:cNvPr id="14362" name="Text Box 26">
            <a:extLst>
              <a:ext uri="{FF2B5EF4-FFF2-40B4-BE49-F238E27FC236}">
                <a16:creationId xmlns:a16="http://schemas.microsoft.com/office/drawing/2014/main" xmlns="" id="{E57CE43D-7C72-4BE3-85F9-AA58DE6C1A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6096000"/>
            <a:ext cx="1066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TW"/>
              <a:t>CPU 1</a:t>
            </a:r>
          </a:p>
        </p:txBody>
      </p:sp>
      <p:sp>
        <p:nvSpPr>
          <p:cNvPr id="14363" name="Text Box 27">
            <a:extLst>
              <a:ext uri="{FF2B5EF4-FFF2-40B4-BE49-F238E27FC236}">
                <a16:creationId xmlns:a16="http://schemas.microsoft.com/office/drawing/2014/main" xmlns="" id="{9DB725BD-1739-44D9-A6C1-3EA796E047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4876800"/>
            <a:ext cx="609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TW" sz="1600"/>
              <a:t>time</a:t>
            </a:r>
          </a:p>
        </p:txBody>
      </p:sp>
      <p:sp>
        <p:nvSpPr>
          <p:cNvPr id="14364" name="Text Box 28">
            <a:extLst>
              <a:ext uri="{FF2B5EF4-FFF2-40B4-BE49-F238E27FC236}">
                <a16:creationId xmlns:a16="http://schemas.microsoft.com/office/drawing/2014/main" xmlns="" id="{6E471823-C484-4625-B44C-13C5E44EDB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6800" y="4876800"/>
            <a:ext cx="609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TW" sz="1600"/>
              <a:t>time</a:t>
            </a:r>
          </a:p>
        </p:txBody>
      </p:sp>
      <p:sp>
        <p:nvSpPr>
          <p:cNvPr id="14365" name="Text Box 29">
            <a:extLst>
              <a:ext uri="{FF2B5EF4-FFF2-40B4-BE49-F238E27FC236}">
                <a16:creationId xmlns:a16="http://schemas.microsoft.com/office/drawing/2014/main" xmlns="" id="{8254F77C-3EA6-4670-BE61-30F4DBFF17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2667000"/>
            <a:ext cx="2438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TW" sz="1800"/>
              <a:t>without multiprocessing</a:t>
            </a:r>
            <a:endParaRPr lang="en-US" altLang="zh-TW"/>
          </a:p>
        </p:txBody>
      </p:sp>
      <p:sp>
        <p:nvSpPr>
          <p:cNvPr id="14366" name="Text Box 30">
            <a:extLst>
              <a:ext uri="{FF2B5EF4-FFF2-40B4-BE49-F238E27FC236}">
                <a16:creationId xmlns:a16="http://schemas.microsoft.com/office/drawing/2014/main" xmlns="" id="{54B28D1C-3AA4-44CF-9478-91BC3C796B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3352800"/>
            <a:ext cx="2971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TW" sz="1800"/>
              <a:t>with multiprocessing</a:t>
            </a:r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7786176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xmlns="" id="{1B03107D-089B-4265-BC42-AC1A627D1E8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417638"/>
          </a:xfrm>
        </p:spPr>
        <p:txBody>
          <a:bodyPr/>
          <a:lstStyle/>
          <a:p>
            <a:r>
              <a:rPr lang="en-US" altLang="zh-TW" b="1" dirty="0">
                <a:solidFill>
                  <a:schemeClr val="accent3">
                    <a:lumMod val="75000"/>
                  </a:schemeClr>
                </a:solidFill>
                <a:latin typeface="Times New Roman" pitchFamily="18" charset="0"/>
              </a:rPr>
              <a:t>Buffering</a:t>
            </a:r>
            <a:endParaRPr lang="en-US" altLang="zh-TW" dirty="0"/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xmlns="" id="{399B4379-1DFA-4EC6-AA04-96016A67C7A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1295400"/>
            <a:ext cx="9144000" cy="5562600"/>
          </a:xfrm>
        </p:spPr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temporary storage area (buffers) to read data from input device or send data to the output device</a:t>
            </a:r>
          </a:p>
        </p:txBody>
      </p:sp>
    </p:spTree>
    <p:extLst>
      <p:ext uri="{BB962C8B-B14F-4D97-AF65-F5344CB8AC3E}">
        <p14:creationId xmlns:p14="http://schemas.microsoft.com/office/powerpoint/2010/main" val="834944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xmlns="" id="{1B03107D-089B-4265-BC42-AC1A627D1E8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914400"/>
          </a:xfrm>
        </p:spPr>
        <p:txBody>
          <a:bodyPr/>
          <a:lstStyle/>
          <a:p>
            <a:r>
              <a:rPr lang="en-US" altLang="zh-TW" b="1" dirty="0">
                <a:solidFill>
                  <a:schemeClr val="accent3">
                    <a:lumMod val="75000"/>
                  </a:schemeClr>
                </a:solidFill>
                <a:latin typeface="Times New Roman" pitchFamily="18" charset="0"/>
              </a:rPr>
              <a:t>Spooling</a:t>
            </a:r>
            <a:endParaRPr lang="en-US" altLang="zh-TW" dirty="0"/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xmlns="" id="{399B4379-1DFA-4EC6-AA04-96016A67C7A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1295400"/>
            <a:ext cx="9144000" cy="5562600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Spooling is a simultaneous I/O devices operations where a process put jobs in a buffer or temporary storage area, a special area in memory or on a disk and device can access them when it is ready.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Spooling is useful because different devices access data at different rates.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6098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3" grpId="0" build="p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xmlns="" id="{1B03107D-089B-4265-BC42-AC1A627D1E8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914400"/>
          </a:xfrm>
        </p:spPr>
        <p:txBody>
          <a:bodyPr/>
          <a:lstStyle/>
          <a:p>
            <a:r>
              <a:rPr lang="en-US" altLang="zh-TW" b="1" dirty="0">
                <a:solidFill>
                  <a:schemeClr val="accent3">
                    <a:lumMod val="75000"/>
                  </a:schemeClr>
                </a:solidFill>
                <a:latin typeface="Times New Roman" pitchFamily="18" charset="0"/>
              </a:rPr>
              <a:t>Spooling: An Example</a:t>
            </a:r>
            <a:endParaRPr lang="en-US" altLang="zh-TW" dirty="0"/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xmlns="" id="{399B4379-1DFA-4EC6-AA04-96016A67C7A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1295400"/>
            <a:ext cx="9144000" cy="5562600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most common spooling application is print spooling. When you choose to print a document, the computer sends the document information to the printer very quickly, but the printer can't accept it at the same rate.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printer can only handle a chunk of information at a time, and it pauses to process and print that chunk before it's ready for more.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Meanwhile, you have to wait until the printer has accepted the whole document, piece by piece.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1247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3" grpId="0" build="p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8" name="Picture 2" descr="C:\Users\Muhammad Adnan Malik\Desktop\empty-fuel-gage.gi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7904379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2940</TotalTime>
  <Words>1333</Words>
  <Application>Microsoft Office PowerPoint</Application>
  <PresentationFormat>On-screen Show (4:3)</PresentationFormat>
  <Paragraphs>208</Paragraphs>
  <Slides>51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8" baseType="lpstr">
      <vt:lpstr>Arial</vt:lpstr>
      <vt:lpstr>Calibri</vt:lpstr>
      <vt:lpstr>標楷體</vt:lpstr>
      <vt:lpstr>新細明體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How do we understand an OS?</vt:lpstr>
      <vt:lpstr>An Example </vt:lpstr>
      <vt:lpstr>PowerPoint Presentation</vt:lpstr>
      <vt:lpstr>What is a CPU?</vt:lpstr>
      <vt:lpstr>What is a CPU?</vt:lpstr>
      <vt:lpstr>How CPU works?</vt:lpstr>
      <vt:lpstr>What is Bus?</vt:lpstr>
      <vt:lpstr>Memory</vt:lpstr>
      <vt:lpstr>Memory Hierarchy</vt:lpstr>
      <vt:lpstr>PowerPoint Presentation</vt:lpstr>
      <vt:lpstr>Fetch Execute Cycle</vt:lpstr>
      <vt:lpstr>HOW ALU,CU AND REGISTER ARE WORKING TOGETHER</vt:lpstr>
      <vt:lpstr>PowerPoint Presentation</vt:lpstr>
      <vt:lpstr>What is Computer System</vt:lpstr>
      <vt:lpstr>What is Computer System: Definition</vt:lpstr>
      <vt:lpstr>What is Computer System: Hardware</vt:lpstr>
      <vt:lpstr>What is Computer System: Software</vt:lpstr>
      <vt:lpstr>What is Computer System: User and Data</vt:lpstr>
      <vt:lpstr>What is Computer System: How computer System Works?</vt:lpstr>
      <vt:lpstr>PowerPoint Presentation</vt:lpstr>
      <vt:lpstr>Operating System: Definition</vt:lpstr>
      <vt:lpstr>Operating System: Function performed by OS</vt:lpstr>
      <vt:lpstr>Operating System: Function performed by OS</vt:lpstr>
      <vt:lpstr>Operating System: Advantages</vt:lpstr>
      <vt:lpstr>Operating System: Remember!</vt:lpstr>
      <vt:lpstr>Operating System: Examples</vt:lpstr>
      <vt:lpstr>Operating System: Other Examples</vt:lpstr>
      <vt:lpstr>Operating System: DOS OS</vt:lpstr>
      <vt:lpstr>Operating System: Windows 98,(GUI) Based</vt:lpstr>
      <vt:lpstr>PowerPoint Presentation</vt:lpstr>
      <vt:lpstr>Types of Operating System</vt:lpstr>
      <vt:lpstr>Types of OS: Main Frame OS</vt:lpstr>
      <vt:lpstr>Types of OS: Networking OS</vt:lpstr>
      <vt:lpstr>Types of OS: Distributed OS</vt:lpstr>
      <vt:lpstr>Types of OS: Real-Time OS</vt:lpstr>
      <vt:lpstr>Types of OS: Real-Time OS(Examples)</vt:lpstr>
      <vt:lpstr>Types of OS: Embedded OS</vt:lpstr>
      <vt:lpstr>PowerPoint Presentation</vt:lpstr>
      <vt:lpstr>Time sharing Process</vt:lpstr>
      <vt:lpstr>Batch Processing</vt:lpstr>
      <vt:lpstr>Other special Function performed by OS</vt:lpstr>
      <vt:lpstr>Multi Tasking</vt:lpstr>
      <vt:lpstr>Multi Programming</vt:lpstr>
      <vt:lpstr>Parallel Programming</vt:lpstr>
      <vt:lpstr>Buffering</vt:lpstr>
      <vt:lpstr>Spooling</vt:lpstr>
      <vt:lpstr>Spooling: An Example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ADDNAN</dc:creator>
  <cp:lastModifiedBy>Shahmir</cp:lastModifiedBy>
  <cp:revision>102</cp:revision>
  <dcterms:created xsi:type="dcterms:W3CDTF">2006-08-16T00:00:00Z</dcterms:created>
  <dcterms:modified xsi:type="dcterms:W3CDTF">2019-03-17T18:06:32Z</dcterms:modified>
</cp:coreProperties>
</file>