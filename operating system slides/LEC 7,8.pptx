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7" r:id="rId2"/>
    <p:sldId id="475" r:id="rId3"/>
    <p:sldId id="488" r:id="rId4"/>
    <p:sldId id="489" r:id="rId5"/>
    <p:sldId id="476" r:id="rId6"/>
    <p:sldId id="477" r:id="rId7"/>
    <p:sldId id="490" r:id="rId8"/>
    <p:sldId id="491" r:id="rId9"/>
    <p:sldId id="492" r:id="rId10"/>
    <p:sldId id="493" r:id="rId11"/>
    <p:sldId id="494" r:id="rId12"/>
    <p:sldId id="495" r:id="rId13"/>
    <p:sldId id="496" r:id="rId14"/>
    <p:sldId id="497" r:id="rId15"/>
    <p:sldId id="498" r:id="rId16"/>
    <p:sldId id="500" r:id="rId17"/>
    <p:sldId id="504" r:id="rId18"/>
    <p:sldId id="501" r:id="rId19"/>
    <p:sldId id="502" r:id="rId20"/>
    <p:sldId id="503" r:id="rId21"/>
    <p:sldId id="505" r:id="rId22"/>
    <p:sldId id="506" r:id="rId23"/>
    <p:sldId id="482" r:id="rId24"/>
    <p:sldId id="484" r:id="rId25"/>
    <p:sldId id="483" r:id="rId26"/>
    <p:sldId id="485" r:id="rId27"/>
    <p:sldId id="486" r:id="rId28"/>
    <p:sldId id="507" r:id="rId29"/>
    <p:sldId id="508" r:id="rId30"/>
    <p:sldId id="509" r:id="rId31"/>
    <p:sldId id="510" r:id="rId32"/>
    <p:sldId id="513" r:id="rId33"/>
    <p:sldId id="511" r:id="rId34"/>
    <p:sldId id="512" r:id="rId35"/>
    <p:sldId id="514" r:id="rId36"/>
    <p:sldId id="515" r:id="rId37"/>
    <p:sldId id="516" r:id="rId38"/>
    <p:sldId id="517" r:id="rId39"/>
    <p:sldId id="518" r:id="rId40"/>
    <p:sldId id="519" r:id="rId41"/>
    <p:sldId id="520" r:id="rId42"/>
    <p:sldId id="521" r:id="rId43"/>
    <p:sldId id="522" r:id="rId44"/>
    <p:sldId id="523" r:id="rId45"/>
    <p:sldId id="524" r:id="rId46"/>
    <p:sldId id="525" r:id="rId47"/>
    <p:sldId id="526" r:id="rId48"/>
    <p:sldId id="527" r:id="rId49"/>
    <p:sldId id="528" r:id="rId50"/>
    <p:sldId id="529" r:id="rId51"/>
    <p:sldId id="532" r:id="rId52"/>
    <p:sldId id="530" r:id="rId53"/>
    <p:sldId id="531" r:id="rId54"/>
    <p:sldId id="533" r:id="rId55"/>
    <p:sldId id="487"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18" autoAdjust="0"/>
    <p:restoredTop sz="94660"/>
  </p:normalViewPr>
  <p:slideViewPr>
    <p:cSldViewPr>
      <p:cViewPr varScale="1">
        <p:scale>
          <a:sx n="70" d="100"/>
          <a:sy n="70" d="100"/>
        </p:scale>
        <p:origin x="103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5BB1CA-D4D1-4052-BB55-2B7D3E8029F1}" type="datetimeFigureOut">
              <a:rPr lang="en-US" smtClean="0"/>
              <a:pPr/>
              <a:t>8/8/2019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5A5784-93A2-494A-AA95-91D34290EABC}" type="slidenum">
              <a:rPr lang="en-US" smtClean="0"/>
              <a:pPr/>
              <a:t>‹#›</a:t>
            </a:fld>
            <a:endParaRPr lang="en-US"/>
          </a:p>
        </p:txBody>
      </p:sp>
    </p:spTree>
    <p:extLst>
      <p:ext uri="{BB962C8B-B14F-4D97-AF65-F5344CB8AC3E}">
        <p14:creationId xmlns:p14="http://schemas.microsoft.com/office/powerpoint/2010/main" val="1362399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5A5784-93A2-494A-AA95-91D34290EABC}" type="slidenum">
              <a:rPr lang="en-US" smtClean="0"/>
              <a:pPr/>
              <a:t>26</a:t>
            </a:fld>
            <a:endParaRPr lang="en-US"/>
          </a:p>
        </p:txBody>
      </p:sp>
    </p:spTree>
    <p:extLst>
      <p:ext uri="{BB962C8B-B14F-4D97-AF65-F5344CB8AC3E}">
        <p14:creationId xmlns:p14="http://schemas.microsoft.com/office/powerpoint/2010/main" val="643108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838200"/>
          </a:xfrm>
        </p:spPr>
        <p:txBody>
          <a:bodyPr/>
          <a:lstStyle/>
          <a:p>
            <a:r>
              <a:rPr lang="en-US"/>
              <a:t>Click to edit Master title style</a:t>
            </a:r>
          </a:p>
        </p:txBody>
      </p:sp>
      <p:sp>
        <p:nvSpPr>
          <p:cNvPr id="3" name="Text Placeholder 2"/>
          <p:cNvSpPr>
            <a:spLocks noGrp="1"/>
          </p:cNvSpPr>
          <p:nvPr>
            <p:ph type="body" sz="half" idx="1"/>
          </p:nvPr>
        </p:nvSpPr>
        <p:spPr>
          <a:xfrm>
            <a:off x="457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72D039A8-6B2D-46B2-9F06-B3F4BB0F3307}" type="slidenum">
              <a:rPr lang="en-US"/>
              <a:pPr/>
              <a:t>‹#›</a:t>
            </a:fld>
            <a:endParaRPr lang="en-US"/>
          </a:p>
        </p:txBody>
      </p:sp>
    </p:spTree>
    <p:extLst>
      <p:ext uri="{BB962C8B-B14F-4D97-AF65-F5344CB8AC3E}">
        <p14:creationId xmlns:p14="http://schemas.microsoft.com/office/powerpoint/2010/main" val="785877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863" y="42863"/>
            <a:ext cx="9066212" cy="6773862"/>
          </a:xfrm>
          <a:prstGeom prst="rect">
            <a:avLst/>
          </a:prstGeom>
          <a:solidFill>
            <a:srgbClr val="CC9900"/>
          </a:solidFill>
          <a:ln w="76200">
            <a:solidFill>
              <a:srgbClr val="006600"/>
            </a:solidFill>
            <a:miter lim="800000"/>
            <a:headEnd/>
            <a:tailEnd/>
          </a:ln>
        </p:spPr>
        <p:txBody>
          <a:bodyPr wrap="none" anchor="ctr"/>
          <a:lstStyle/>
          <a:p>
            <a:pPr algn="ctr"/>
            <a:endParaRPr lang="en-US" sz="2400"/>
          </a:p>
        </p:txBody>
      </p:sp>
      <p:pic>
        <p:nvPicPr>
          <p:cNvPr id="3075" name="Picture 3" descr="C:\My Pictures\surveyart.bmp"/>
          <p:cNvPicPr>
            <a:picLocks noChangeAspect="1" noChangeArrowheads="1"/>
          </p:cNvPicPr>
          <p:nvPr/>
        </p:nvPicPr>
        <p:blipFill>
          <a:blip r:embed="rId2"/>
          <a:srcRect/>
          <a:stretch>
            <a:fillRect/>
          </a:stretch>
        </p:blipFill>
        <p:spPr bwMode="auto">
          <a:xfrm>
            <a:off x="381000" y="304800"/>
            <a:ext cx="8382000" cy="6286500"/>
          </a:xfrm>
          <a:prstGeom prst="rect">
            <a:avLst/>
          </a:prstGeom>
          <a:noFill/>
          <a:ln w="9525">
            <a:noFill/>
            <a:miter lim="800000"/>
            <a:headEnd/>
            <a:tailEnd/>
          </a:ln>
        </p:spPr>
      </p:pic>
      <p:sp>
        <p:nvSpPr>
          <p:cNvPr id="24580" name="Text Box 4"/>
          <p:cNvSpPr txBox="1">
            <a:spLocks noChangeArrowheads="1"/>
          </p:cNvSpPr>
          <p:nvPr/>
        </p:nvSpPr>
        <p:spPr bwMode="auto">
          <a:xfrm>
            <a:off x="42863" y="920679"/>
            <a:ext cx="9058274" cy="1200329"/>
          </a:xfrm>
          <a:prstGeom prst="rect">
            <a:avLst/>
          </a:prstGeom>
          <a:noFill/>
          <a:ln w="9525">
            <a:noFill/>
            <a:miter lim="800000"/>
            <a:headEnd/>
            <a:tailEnd/>
          </a:ln>
          <a:effectLst>
            <a:outerShdw dist="63500" dir="2212194" algn="ctr" rotWithShape="0">
              <a:srgbClr val="663300"/>
            </a:outerShdw>
          </a:effectLst>
        </p:spPr>
        <p:txBody>
          <a:bodyPr wrap="square">
            <a:spAutoFit/>
          </a:bodyPr>
          <a:lstStyle/>
          <a:p>
            <a:pPr algn="ctr">
              <a:defRPr/>
            </a:pPr>
            <a:r>
              <a:rPr lang="en-US" sz="7200" b="1" dirty="0">
                <a:solidFill>
                  <a:schemeClr val="bg1"/>
                </a:solidFill>
              </a:rPr>
              <a:t>Operating Systems</a:t>
            </a:r>
          </a:p>
        </p:txBody>
      </p:sp>
      <p:sp>
        <p:nvSpPr>
          <p:cNvPr id="24582" name="AutoShape 6"/>
          <p:cNvSpPr>
            <a:spLocks noChangeArrowheads="1"/>
          </p:cNvSpPr>
          <p:nvPr/>
        </p:nvSpPr>
        <p:spPr bwMode="auto">
          <a:xfrm>
            <a:off x="1409700" y="2098699"/>
            <a:ext cx="6324600" cy="3456682"/>
          </a:xfrm>
          <a:prstGeom prst="flowChartDecision">
            <a:avLst/>
          </a:prstGeom>
          <a:solidFill>
            <a:schemeClr val="bg1"/>
          </a:solidFill>
          <a:ln w="76200">
            <a:solidFill>
              <a:srgbClr val="CC9900"/>
            </a:solidFill>
            <a:miter lim="800000"/>
            <a:headEnd/>
            <a:tailEnd/>
          </a:ln>
          <a:effectLst>
            <a:prstShdw prst="shdw17" dist="17961" dir="13500000">
              <a:schemeClr val="tx1"/>
            </a:prstShdw>
          </a:effectLst>
        </p:spPr>
        <p:txBody>
          <a:bodyPr wrap="none" anchor="ctr"/>
          <a:lstStyle/>
          <a:p>
            <a:pPr algn="ctr">
              <a:defRPr/>
            </a:pPr>
            <a:r>
              <a:rPr lang="en-US" sz="2400" b="1" i="1" dirty="0">
                <a:solidFill>
                  <a:srgbClr val="7030A0"/>
                </a:solidFill>
              </a:rPr>
              <a:t>Lecture#7,8</a:t>
            </a:r>
          </a:p>
          <a:p>
            <a:pPr algn="ctr">
              <a:defRPr/>
            </a:pPr>
            <a:r>
              <a:rPr lang="en-US" sz="2400" b="1" dirty="0">
                <a:solidFill>
                  <a:srgbClr val="7030A0"/>
                </a:solidFill>
              </a:rPr>
              <a:t>Memory Management in O.S,</a:t>
            </a:r>
          </a:p>
          <a:p>
            <a:pPr algn="ctr">
              <a:defRPr/>
            </a:pPr>
            <a:r>
              <a:rPr lang="en-US" sz="2400" b="1" dirty="0">
                <a:solidFill>
                  <a:srgbClr val="7030A0"/>
                </a:solidFill>
              </a:rPr>
              <a:t>Memory Allocation Algorithms</a:t>
            </a:r>
          </a:p>
          <a:p>
            <a:pPr algn="ctr">
              <a:defRPr/>
            </a:pPr>
            <a:endParaRPr lang="en-US" sz="2400" b="1" dirty="0">
              <a:solidFill>
                <a:srgbClr val="7030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eaLnBrk="0" hangingPunct="0">
              <a:lnSpc>
                <a:spcPct val="200000"/>
              </a:lnSpc>
              <a:buFont typeface="Wingdings" panose="05000000000000000000" pitchFamily="2" charset="2"/>
              <a:buChar char="ü"/>
            </a:pPr>
            <a:r>
              <a:rPr lang="en-US" altLang="zh-TW" sz="2800" b="1" dirty="0">
                <a:solidFill>
                  <a:srgbClr val="FF0000"/>
                </a:solidFill>
                <a:latin typeface="Times New Roman" pitchFamily="18" charset="0"/>
                <a:ea typeface="新細明體" charset="-120"/>
              </a:rPr>
              <a:t>Processes</a:t>
            </a:r>
          </a:p>
          <a:p>
            <a:pPr eaLnBrk="0" hangingPunct="0">
              <a:lnSpc>
                <a:spcPct val="200000"/>
              </a:lnSpc>
              <a:buFont typeface="Wingdings" panose="05000000000000000000" pitchFamily="2" charset="2"/>
              <a:buChar char="ü"/>
            </a:pPr>
            <a:r>
              <a:rPr lang="en-US" altLang="zh-TW" sz="2800" b="1" dirty="0">
                <a:solidFill>
                  <a:srgbClr val="FF0000"/>
                </a:solidFill>
                <a:latin typeface="Times New Roman" pitchFamily="18" charset="0"/>
                <a:ea typeface="新細明體" charset="-120"/>
              </a:rPr>
              <a:t>Deadlocks</a:t>
            </a:r>
          </a:p>
          <a:p>
            <a:pPr marL="0" indent="0" eaLnBrk="0" hangingPunct="0">
              <a:lnSpc>
                <a:spcPct val="200000"/>
              </a:lnSpc>
              <a:buNone/>
            </a:pPr>
            <a:r>
              <a:rPr lang="en-US" altLang="zh-TW" b="1" dirty="0">
                <a:solidFill>
                  <a:srgbClr val="00B050"/>
                </a:solidFill>
                <a:latin typeface="Times New Roman" pitchFamily="18" charset="0"/>
                <a:ea typeface="新細明體" charset="-120"/>
              </a:rPr>
              <a:t>Memory management</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Operating System Concepts</a:t>
            </a:r>
          </a:p>
        </p:txBody>
      </p:sp>
    </p:spTree>
    <p:extLst>
      <p:ext uri="{BB962C8B-B14F-4D97-AF65-F5344CB8AC3E}">
        <p14:creationId xmlns:p14="http://schemas.microsoft.com/office/powerpoint/2010/main" val="151041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CONCEPTS RELATED TO MEMORY MANAGEMENT  </a:t>
            </a:r>
          </a:p>
        </p:txBody>
      </p:sp>
    </p:spTree>
    <p:extLst>
      <p:ext uri="{BB962C8B-B14F-4D97-AF65-F5344CB8AC3E}">
        <p14:creationId xmlns:p14="http://schemas.microsoft.com/office/powerpoint/2010/main" val="2744702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38200"/>
            <a:ext cx="9144000" cy="6019800"/>
          </a:xfrm>
        </p:spPr>
        <p:txBody>
          <a:bodyPr>
            <a:noAutofit/>
          </a:bodyPr>
          <a:lstStyle/>
          <a:p>
            <a:pPr marL="0" indent="0">
              <a:lnSpc>
                <a:spcPct val="150000"/>
              </a:lnSpc>
              <a:buNone/>
              <a:defRPr/>
            </a:pPr>
            <a:r>
              <a:rPr lang="en-US" sz="2800" b="1" dirty="0">
                <a:latin typeface="Times New Roman" panose="02020603050405020304" pitchFamily="18" charset="0"/>
                <a:cs typeface="Times New Roman" panose="02020603050405020304" pitchFamily="18" charset="0"/>
              </a:rPr>
              <a:t>important concepts related to memory management system in an operating system.</a:t>
            </a:r>
          </a:p>
          <a:p>
            <a:pPr>
              <a:lnSpc>
                <a:spcPct val="150000"/>
              </a:lnSpc>
              <a:defRPr/>
            </a:pPr>
            <a:r>
              <a:rPr lang="en-US" sz="2800" b="1" dirty="0">
                <a:solidFill>
                  <a:srgbClr val="0070C0"/>
                </a:solidFill>
                <a:latin typeface="Times New Roman" panose="02020603050405020304" pitchFamily="18" charset="0"/>
                <a:cs typeface="Times New Roman" panose="02020603050405020304" pitchFamily="18" charset="0"/>
              </a:rPr>
              <a:t>Memory hierarchy(refer previous lectures)</a:t>
            </a:r>
          </a:p>
          <a:p>
            <a:pPr>
              <a:lnSpc>
                <a:spcPct val="150000"/>
              </a:lnSpc>
              <a:defRPr/>
            </a:pPr>
            <a:r>
              <a:rPr lang="en-US" sz="2800" b="1" dirty="0">
                <a:solidFill>
                  <a:srgbClr val="0070C0"/>
                </a:solidFill>
                <a:latin typeface="Times New Roman" panose="02020603050405020304" pitchFamily="18" charset="0"/>
                <a:cs typeface="Times New Roman" panose="02020603050405020304" pitchFamily="18" charset="0"/>
              </a:rPr>
              <a:t>Address Space</a:t>
            </a:r>
          </a:p>
          <a:p>
            <a:pPr>
              <a:lnSpc>
                <a:spcPct val="150000"/>
              </a:lnSpc>
              <a:defRPr/>
            </a:pPr>
            <a:r>
              <a:rPr lang="en-US" sz="2800" b="1" dirty="0">
                <a:solidFill>
                  <a:srgbClr val="0070C0"/>
                </a:solidFill>
                <a:latin typeface="Times New Roman" panose="02020603050405020304" pitchFamily="18" charset="0"/>
                <a:cs typeface="Times New Roman" panose="02020603050405020304" pitchFamily="18" charset="0"/>
              </a:rPr>
              <a:t>Primary and Secondary Memory</a:t>
            </a:r>
          </a:p>
          <a:p>
            <a:pPr>
              <a:lnSpc>
                <a:spcPct val="150000"/>
              </a:lnSpc>
              <a:defRPr/>
            </a:pPr>
            <a:r>
              <a:rPr lang="en-US" sz="2800" b="1" dirty="0">
                <a:solidFill>
                  <a:srgbClr val="0070C0"/>
                </a:solidFill>
                <a:latin typeface="Times New Roman" panose="02020603050405020304" pitchFamily="18" charset="0"/>
                <a:cs typeface="Times New Roman" panose="02020603050405020304" pitchFamily="18" charset="0"/>
              </a:rPr>
              <a:t>Swapping</a:t>
            </a:r>
          </a:p>
          <a:p>
            <a:pPr>
              <a:lnSpc>
                <a:spcPct val="150000"/>
              </a:lnSpc>
              <a:defRPr/>
            </a:pPr>
            <a:r>
              <a:rPr lang="en-US" sz="2800" b="1" dirty="0">
                <a:solidFill>
                  <a:srgbClr val="0070C0"/>
                </a:solidFill>
                <a:latin typeface="Times New Roman" panose="02020603050405020304" pitchFamily="18" charset="0"/>
                <a:cs typeface="Times New Roman" panose="02020603050405020304" pitchFamily="18" charset="0"/>
              </a:rPr>
              <a:t>Virtual Memory</a:t>
            </a:r>
          </a:p>
          <a:p>
            <a:pPr>
              <a:lnSpc>
                <a:spcPct val="150000"/>
              </a:lnSpc>
              <a:defRPr/>
            </a:pPr>
            <a:r>
              <a:rPr lang="en-US" sz="2800" b="1" dirty="0">
                <a:solidFill>
                  <a:srgbClr val="0070C0"/>
                </a:solidFill>
                <a:latin typeface="Times New Roman" panose="02020603050405020304" pitchFamily="18" charset="0"/>
                <a:cs typeface="Times New Roman" panose="02020603050405020304" pitchFamily="18" charset="0"/>
              </a:rPr>
              <a:t>Data Compaction method during swapping</a:t>
            </a:r>
          </a:p>
          <a:p>
            <a:pPr>
              <a:lnSpc>
                <a:spcPct val="150000"/>
              </a:lnSpc>
              <a:defRPr/>
            </a:pPr>
            <a:endParaRPr lang="en-US" sz="28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2800" b="1" dirty="0">
                <a:solidFill>
                  <a:schemeClr val="accent3">
                    <a:lumMod val="75000"/>
                  </a:schemeClr>
                </a:solidFill>
                <a:latin typeface="Times New Roman" pitchFamily="18" charset="0"/>
              </a:rPr>
              <a:t>CONCEPTS RELATED TO MEMORY MANAGEMENT</a:t>
            </a:r>
          </a:p>
        </p:txBody>
      </p:sp>
    </p:spTree>
    <p:extLst>
      <p:ext uri="{BB962C8B-B14F-4D97-AF65-F5344CB8AC3E}">
        <p14:creationId xmlns:p14="http://schemas.microsoft.com/office/powerpoint/2010/main" val="207710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Memory management in Operating System</a:t>
            </a:r>
          </a:p>
        </p:txBody>
      </p:sp>
    </p:spTree>
    <p:extLst>
      <p:ext uri="{BB962C8B-B14F-4D97-AF65-F5344CB8AC3E}">
        <p14:creationId xmlns:p14="http://schemas.microsoft.com/office/powerpoint/2010/main" val="925414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943600"/>
          </a:xfrm>
        </p:spPr>
        <p:txBody>
          <a:bodyPr>
            <a:noAutofit/>
          </a:bodyPr>
          <a:lstStyle/>
          <a:p>
            <a:pPr marL="0" indent="0" algn="just" eaLnBrk="0" hangingPunct="0">
              <a:lnSpc>
                <a:spcPct val="150000"/>
              </a:lnSpc>
              <a:buNone/>
            </a:pPr>
            <a:r>
              <a:rPr lang="en-US" b="1" u="sng"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Memory management</a:t>
            </a:r>
            <a:r>
              <a:rPr lang="en-US" dirty="0">
                <a:latin typeface="Times New Roman" panose="02020603050405020304" pitchFamily="18" charset="0"/>
                <a:cs typeface="Times New Roman" panose="02020603050405020304" pitchFamily="18" charset="0"/>
              </a:rPr>
              <a:t> is the functionality of an </a:t>
            </a: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which handles or manages </a:t>
            </a:r>
            <a:r>
              <a:rPr lang="en-US" b="1" dirty="0">
                <a:solidFill>
                  <a:srgbClr val="FF0000"/>
                </a:solidFill>
                <a:latin typeface="Times New Roman" panose="02020603050405020304" pitchFamily="18" charset="0"/>
                <a:cs typeface="Times New Roman" panose="02020603050405020304" pitchFamily="18" charset="0"/>
              </a:rPr>
              <a:t>primary memory</a:t>
            </a:r>
            <a:r>
              <a:rPr lang="en-US" dirty="0">
                <a:latin typeface="Times New Roman" panose="02020603050405020304" pitchFamily="18" charset="0"/>
                <a:cs typeface="Times New Roman" panose="02020603050405020304" pitchFamily="18" charset="0"/>
              </a:rPr>
              <a:t> during execution.</a:t>
            </a:r>
          </a:p>
          <a:p>
            <a:pPr algn="just" eaLnBrk="0" hangingPunct="0">
              <a:lnSpc>
                <a:spcPct val="150000"/>
              </a:lnSpc>
            </a:pPr>
            <a:r>
              <a:rPr lang="en-US" b="1" dirty="0">
                <a:latin typeface="Times New Roman" panose="02020603050405020304" pitchFamily="18" charset="0"/>
                <a:cs typeface="Times New Roman" panose="02020603050405020304" pitchFamily="18" charset="0"/>
              </a:rPr>
              <a:t>Memory management in OS</a:t>
            </a:r>
            <a:r>
              <a:rPr lang="en-US" dirty="0">
                <a:latin typeface="Times New Roman" panose="02020603050405020304" pitchFamily="18" charset="0"/>
                <a:cs typeface="Times New Roman" panose="02020603050405020304" pitchFamily="18" charset="0"/>
              </a:rPr>
              <a:t> keeps track of each and every </a:t>
            </a:r>
            <a:r>
              <a:rPr lang="en-US" b="1" dirty="0">
                <a:latin typeface="Times New Roman" panose="02020603050405020304" pitchFamily="18" charset="0"/>
                <a:cs typeface="Times New Roman" panose="02020603050405020304" pitchFamily="18" charset="0"/>
              </a:rPr>
              <a:t>memory</a:t>
            </a:r>
            <a:r>
              <a:rPr lang="en-US" dirty="0">
                <a:latin typeface="Times New Roman" panose="02020603050405020304" pitchFamily="18" charset="0"/>
                <a:cs typeface="Times New Roman" panose="02020603050405020304" pitchFamily="18" charset="0"/>
              </a:rPr>
              <a:t> location, regardless of either it is allocated to some process or it is free.</a:t>
            </a:r>
            <a:endParaRPr lang="en-US" altLang="zh-TW" sz="2800" b="1" dirty="0">
              <a:solidFill>
                <a:srgbClr val="FF0000"/>
              </a:solidFill>
              <a:latin typeface="Times New Roman" panose="02020603050405020304" pitchFamily="18" charset="0"/>
              <a:ea typeface="新細明體" charset="-12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Memory management in Operating System</a:t>
            </a:r>
          </a:p>
        </p:txBody>
      </p:sp>
    </p:spTree>
    <p:extLst>
      <p:ext uri="{BB962C8B-B14F-4D97-AF65-F5344CB8AC3E}">
        <p14:creationId xmlns:p14="http://schemas.microsoft.com/office/powerpoint/2010/main" val="257665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Jobs of Memory Manager</a:t>
            </a:r>
          </a:p>
        </p:txBody>
      </p:sp>
    </p:spTree>
    <p:extLst>
      <p:ext uri="{BB962C8B-B14F-4D97-AF65-F5344CB8AC3E}">
        <p14:creationId xmlns:p14="http://schemas.microsoft.com/office/powerpoint/2010/main" val="2542231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Jobs of Memory Manager</a:t>
            </a:r>
          </a:p>
        </p:txBody>
      </p:sp>
      <p:sp>
        <p:nvSpPr>
          <p:cNvPr id="34" name="TextBox 13">
            <a:extLst>
              <a:ext uri="{FF2B5EF4-FFF2-40B4-BE49-F238E27FC236}">
                <a16:creationId xmlns="" xmlns:a16="http://schemas.microsoft.com/office/drawing/2014/main" id="{99EEC02A-410B-4106-A1C7-8DFA7F2E2F1F}"/>
              </a:ext>
            </a:extLst>
          </p:cNvPr>
          <p:cNvSpPr txBox="1">
            <a:spLocks noChangeArrowheads="1"/>
          </p:cNvSpPr>
          <p:nvPr/>
        </p:nvSpPr>
        <p:spPr bwMode="auto">
          <a:xfrm>
            <a:off x="214313" y="2143125"/>
            <a:ext cx="72151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3600"/>
              <a:t> </a:t>
            </a:r>
          </a:p>
        </p:txBody>
      </p:sp>
      <p:sp>
        <p:nvSpPr>
          <p:cNvPr id="36" name="TextBox 35">
            <a:extLst>
              <a:ext uri="{FF2B5EF4-FFF2-40B4-BE49-F238E27FC236}">
                <a16:creationId xmlns="" xmlns:a16="http://schemas.microsoft.com/office/drawing/2014/main" id="{55DD8443-1D4E-4A74-959F-2B685A1E1D0A}"/>
              </a:ext>
            </a:extLst>
          </p:cNvPr>
          <p:cNvSpPr txBox="1"/>
          <p:nvPr/>
        </p:nvSpPr>
        <p:spPr>
          <a:xfrm>
            <a:off x="0" y="762000"/>
            <a:ext cx="9144000" cy="5262979"/>
          </a:xfrm>
          <a:prstGeom prst="rect">
            <a:avLst/>
          </a:prstGeom>
          <a:noFill/>
        </p:spPr>
        <p:txBody>
          <a:bodyPr wrap="square">
            <a:spAutoFit/>
          </a:bodyPr>
          <a:lstStyle/>
          <a:p>
            <a:pPr algn="just">
              <a:lnSpc>
                <a:spcPct val="150000"/>
              </a:lnSpc>
              <a:defRPr/>
            </a:pPr>
            <a:r>
              <a:rPr lang="en-US" sz="3200" b="1" dirty="0">
                <a:latin typeface="Times New Roman" panose="02020603050405020304" pitchFamily="18" charset="0"/>
                <a:cs typeface="Times New Roman" panose="02020603050405020304" pitchFamily="18" charset="0"/>
              </a:rPr>
              <a:t>There are three jobs of </a:t>
            </a:r>
            <a:r>
              <a:rPr lang="en-US" sz="3200" b="1" dirty="0" smtClean="0">
                <a:latin typeface="Times New Roman" panose="02020603050405020304" pitchFamily="18" charset="0"/>
                <a:cs typeface="Times New Roman" panose="02020603050405020304" pitchFamily="18" charset="0"/>
              </a:rPr>
              <a:t>Memory manager</a:t>
            </a:r>
            <a:r>
              <a:rPr lang="en-US" sz="3200" b="1" dirty="0">
                <a:latin typeface="Times New Roman" panose="02020603050405020304" pitchFamily="18" charset="0"/>
                <a:cs typeface="Times New Roman" panose="02020603050405020304" pitchFamily="18" charset="0"/>
              </a:rPr>
              <a:t>:</a:t>
            </a:r>
          </a:p>
          <a:p>
            <a:pPr marL="742950" indent="-742950" algn="just">
              <a:lnSpc>
                <a:spcPct val="150000"/>
              </a:lnSpc>
              <a:buFont typeface="+mj-lt"/>
              <a:buAutoNum type="arabicPeriod"/>
              <a:defRPr/>
            </a:pPr>
            <a:r>
              <a:rPr lang="en-US" sz="3200" b="1" dirty="0">
                <a:solidFill>
                  <a:srgbClr val="FF0000"/>
                </a:solidFill>
                <a:latin typeface="Times New Roman" panose="02020603050405020304" pitchFamily="18" charset="0"/>
                <a:cs typeface="Times New Roman" panose="02020603050405020304" pitchFamily="18" charset="0"/>
              </a:rPr>
              <a:t>Keep track of which part of the memory in use and which parts are not in use.</a:t>
            </a:r>
          </a:p>
          <a:p>
            <a:pPr marL="742950" indent="-742950" algn="just">
              <a:lnSpc>
                <a:spcPct val="150000"/>
              </a:lnSpc>
              <a:buFont typeface="+mj-lt"/>
              <a:buAutoNum type="arabicPeriod"/>
              <a:defRPr/>
            </a:pPr>
            <a:r>
              <a:rPr lang="en-US" sz="3200" b="1" dirty="0">
                <a:solidFill>
                  <a:srgbClr val="FF0000"/>
                </a:solidFill>
                <a:latin typeface="Times New Roman" panose="02020603050405020304" pitchFamily="18" charset="0"/>
                <a:cs typeface="Times New Roman" panose="02020603050405020304" pitchFamily="18" charset="0"/>
              </a:rPr>
              <a:t>To allocate memory to processes when they need it and deallocate it when they are done.</a:t>
            </a:r>
          </a:p>
          <a:p>
            <a:pPr marL="742950" indent="-742950" algn="just">
              <a:lnSpc>
                <a:spcPct val="150000"/>
              </a:lnSpc>
              <a:buFont typeface="+mj-lt"/>
              <a:buAutoNum type="arabicPeriod"/>
              <a:defRPr/>
            </a:pPr>
            <a:r>
              <a:rPr lang="en-US" sz="3200" b="1" dirty="0">
                <a:solidFill>
                  <a:srgbClr val="FF0000"/>
                </a:solidFill>
                <a:latin typeface="Times New Roman" panose="02020603050405020304" pitchFamily="18" charset="0"/>
                <a:cs typeface="Times New Roman" panose="02020603050405020304" pitchFamily="18" charset="0"/>
              </a:rPr>
              <a:t>Manage swapping between main memory and disk.</a:t>
            </a:r>
          </a:p>
        </p:txBody>
      </p:sp>
    </p:spTree>
    <p:extLst>
      <p:ext uri="{BB962C8B-B14F-4D97-AF65-F5344CB8AC3E}">
        <p14:creationId xmlns:p14="http://schemas.microsoft.com/office/powerpoint/2010/main" val="294501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 calcmode="lin" valueType="num">
                                      <p:cBhvr additive="base">
                                        <p:cTn id="7"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txEl>
                                              <p:pRg st="1" end="1"/>
                                            </p:txEl>
                                          </p:spTgt>
                                        </p:tgtEl>
                                        <p:attrNameLst>
                                          <p:attrName>style.visibility</p:attrName>
                                        </p:attrNameLst>
                                      </p:cBhvr>
                                      <p:to>
                                        <p:strVal val="visible"/>
                                      </p:to>
                                    </p:set>
                                    <p:anim calcmode="lin" valueType="num">
                                      <p:cBhvr additive="base">
                                        <p:cTn id="13" dur="500" fill="hold"/>
                                        <p:tgtEl>
                                          <p:spTgt spid="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
                                            <p:txEl>
                                              <p:pRg st="2" end="2"/>
                                            </p:txEl>
                                          </p:spTgt>
                                        </p:tgtEl>
                                        <p:attrNameLst>
                                          <p:attrName>style.visibility</p:attrName>
                                        </p:attrNameLst>
                                      </p:cBhvr>
                                      <p:to>
                                        <p:strVal val="visible"/>
                                      </p:to>
                                    </p:set>
                                    <p:anim calcmode="lin" valueType="num">
                                      <p:cBhvr additive="base">
                                        <p:cTn id="19" dur="500" fill="hold"/>
                                        <p:tgtEl>
                                          <p:spTgt spid="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txEl>
                                              <p:pRg st="3" end="3"/>
                                            </p:txEl>
                                          </p:spTgt>
                                        </p:tgtEl>
                                        <p:attrNameLst>
                                          <p:attrName>style.visibility</p:attrName>
                                        </p:attrNameLst>
                                      </p:cBhvr>
                                      <p:to>
                                        <p:strVal val="visible"/>
                                      </p:to>
                                    </p:set>
                                    <p:anim calcmode="lin" valueType="num">
                                      <p:cBhvr additive="base">
                                        <p:cTn id="25" dur="500" fill="hold"/>
                                        <p:tgtEl>
                                          <p:spTgt spid="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Jobs of Memory Manager</a:t>
            </a:r>
          </a:p>
        </p:txBody>
      </p:sp>
      <p:sp>
        <p:nvSpPr>
          <p:cNvPr id="33" name="TextBox 12">
            <a:extLst>
              <a:ext uri="{FF2B5EF4-FFF2-40B4-BE49-F238E27FC236}">
                <a16:creationId xmlns="" xmlns:a16="http://schemas.microsoft.com/office/drawing/2014/main" id="{F9BF3320-7AFE-4EF3-AEC1-C8E7E3CFBEF2}"/>
              </a:ext>
            </a:extLst>
          </p:cNvPr>
          <p:cNvSpPr txBox="1">
            <a:spLocks noChangeArrowheads="1"/>
          </p:cNvSpPr>
          <p:nvPr/>
        </p:nvSpPr>
        <p:spPr bwMode="auto">
          <a:xfrm>
            <a:off x="2743200" y="1188720"/>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chemeClr val="accent2"/>
                </a:solidFill>
              </a:rPr>
              <a:t>Basic Memory Management</a:t>
            </a:r>
          </a:p>
        </p:txBody>
      </p:sp>
      <p:sp>
        <p:nvSpPr>
          <p:cNvPr id="34" name="TextBox 13">
            <a:extLst>
              <a:ext uri="{FF2B5EF4-FFF2-40B4-BE49-F238E27FC236}">
                <a16:creationId xmlns="" xmlns:a16="http://schemas.microsoft.com/office/drawing/2014/main" id="{99EEC02A-410B-4106-A1C7-8DFA7F2E2F1F}"/>
              </a:ext>
            </a:extLst>
          </p:cNvPr>
          <p:cNvSpPr txBox="1">
            <a:spLocks noChangeArrowheads="1"/>
          </p:cNvSpPr>
          <p:nvPr/>
        </p:nvSpPr>
        <p:spPr bwMode="auto">
          <a:xfrm>
            <a:off x="214313" y="2143125"/>
            <a:ext cx="72151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3600"/>
              <a:t> </a:t>
            </a:r>
          </a:p>
        </p:txBody>
      </p:sp>
      <p:graphicFrame>
        <p:nvGraphicFramePr>
          <p:cNvPr id="37" name="Table 36">
            <a:extLst>
              <a:ext uri="{FF2B5EF4-FFF2-40B4-BE49-F238E27FC236}">
                <a16:creationId xmlns="" xmlns:a16="http://schemas.microsoft.com/office/drawing/2014/main" id="{A89BF105-CD24-4D17-92F3-5B4AA1AEB520}"/>
              </a:ext>
            </a:extLst>
          </p:cNvPr>
          <p:cNvGraphicFramePr>
            <a:graphicFrameLocks noGrp="1"/>
          </p:cNvGraphicFramePr>
          <p:nvPr>
            <p:extLst>
              <p:ext uri="{D42A27DB-BD31-4B8C-83A1-F6EECF244321}">
                <p14:modId xmlns:p14="http://schemas.microsoft.com/office/powerpoint/2010/main" val="2657016782"/>
              </p:ext>
            </p:extLst>
          </p:nvPr>
        </p:nvGraphicFramePr>
        <p:xfrm>
          <a:off x="4814888" y="1688782"/>
          <a:ext cx="1000125" cy="1482724"/>
        </p:xfrm>
        <a:graphic>
          <a:graphicData uri="http://schemas.openxmlformats.org/drawingml/2006/table">
            <a:tbl>
              <a:tblPr firstRow="1" bandRow="1">
                <a:tableStyleId>{9DCAF9ED-07DC-4A11-8D7F-57B35C25682E}</a:tableStyleId>
              </a:tblPr>
              <a:tblGrid>
                <a:gridCol w="1000125">
                  <a:extLst>
                    <a:ext uri="{9D8B030D-6E8A-4147-A177-3AD203B41FA5}">
                      <a16:colId xmlns="" xmlns:a16="http://schemas.microsoft.com/office/drawing/2014/main" val="20000"/>
                    </a:ext>
                  </a:extLst>
                </a:gridCol>
              </a:tblGrid>
              <a:tr h="370681">
                <a:tc>
                  <a:txBody>
                    <a:bodyPr/>
                    <a:lstStyle/>
                    <a:p>
                      <a:pPr algn="ctr"/>
                      <a:r>
                        <a:rPr lang="en-US" sz="1800" dirty="0"/>
                        <a:t>P1</a:t>
                      </a:r>
                    </a:p>
                  </a:txBody>
                  <a:tcPr marL="91439" marR="91439" marT="45700" marB="45700"/>
                </a:tc>
                <a:extLst>
                  <a:ext uri="{0D108BD9-81ED-4DB2-BD59-A6C34878D82A}">
                    <a16:rowId xmlns="" xmlns:a16="http://schemas.microsoft.com/office/drawing/2014/main" val="10000"/>
                  </a:ext>
                </a:extLst>
              </a:tr>
              <a:tr h="370681">
                <a:tc>
                  <a:txBody>
                    <a:bodyPr/>
                    <a:lstStyle/>
                    <a:p>
                      <a:endParaRPr lang="en-US" sz="1800"/>
                    </a:p>
                  </a:txBody>
                  <a:tcPr marL="91439" marR="91439" marT="45700" marB="45700"/>
                </a:tc>
                <a:extLst>
                  <a:ext uri="{0D108BD9-81ED-4DB2-BD59-A6C34878D82A}">
                    <a16:rowId xmlns="" xmlns:a16="http://schemas.microsoft.com/office/drawing/2014/main" val="10001"/>
                  </a:ext>
                </a:extLst>
              </a:tr>
              <a:tr h="370681">
                <a:tc>
                  <a:txBody>
                    <a:bodyPr/>
                    <a:lstStyle/>
                    <a:p>
                      <a:endParaRPr lang="en-US" sz="1800"/>
                    </a:p>
                  </a:txBody>
                  <a:tcPr marL="91439" marR="91439" marT="45700" marB="45700"/>
                </a:tc>
                <a:extLst>
                  <a:ext uri="{0D108BD9-81ED-4DB2-BD59-A6C34878D82A}">
                    <a16:rowId xmlns="" xmlns:a16="http://schemas.microsoft.com/office/drawing/2014/main" val="10002"/>
                  </a:ext>
                </a:extLst>
              </a:tr>
              <a:tr h="370681">
                <a:tc>
                  <a:txBody>
                    <a:bodyPr/>
                    <a:lstStyle/>
                    <a:p>
                      <a:endParaRPr lang="en-US" sz="1800" dirty="0"/>
                    </a:p>
                  </a:txBody>
                  <a:tcPr marL="91439" marR="91439" marT="45700" marB="45700"/>
                </a:tc>
                <a:extLst>
                  <a:ext uri="{0D108BD9-81ED-4DB2-BD59-A6C34878D82A}">
                    <a16:rowId xmlns="" xmlns:a16="http://schemas.microsoft.com/office/drawing/2014/main" val="10003"/>
                  </a:ext>
                </a:extLst>
              </a:tr>
            </a:tbl>
          </a:graphicData>
        </a:graphic>
      </p:graphicFrame>
      <p:graphicFrame>
        <p:nvGraphicFramePr>
          <p:cNvPr id="38" name="Table 37">
            <a:extLst>
              <a:ext uri="{FF2B5EF4-FFF2-40B4-BE49-F238E27FC236}">
                <a16:creationId xmlns="" xmlns:a16="http://schemas.microsoft.com/office/drawing/2014/main" id="{B29309E0-C857-4ADF-B11A-4FEB4811F9E9}"/>
              </a:ext>
            </a:extLst>
          </p:cNvPr>
          <p:cNvGraphicFramePr>
            <a:graphicFrameLocks noGrp="1"/>
          </p:cNvGraphicFramePr>
          <p:nvPr>
            <p:extLst>
              <p:ext uri="{D42A27DB-BD31-4B8C-83A1-F6EECF244321}">
                <p14:modId xmlns:p14="http://schemas.microsoft.com/office/powerpoint/2010/main" val="3724456407"/>
              </p:ext>
            </p:extLst>
          </p:nvPr>
        </p:nvGraphicFramePr>
        <p:xfrm>
          <a:off x="4814888" y="3260407"/>
          <a:ext cx="1000125" cy="1492252"/>
        </p:xfrm>
        <a:graphic>
          <a:graphicData uri="http://schemas.openxmlformats.org/drawingml/2006/table">
            <a:tbl>
              <a:tblPr firstRow="1" bandRow="1">
                <a:tableStyleId>{9DCAF9ED-07DC-4A11-8D7F-57B35C25682E}</a:tableStyleId>
              </a:tblPr>
              <a:tblGrid>
                <a:gridCol w="1000125">
                  <a:extLst>
                    <a:ext uri="{9D8B030D-6E8A-4147-A177-3AD203B41FA5}">
                      <a16:colId xmlns="" xmlns:a16="http://schemas.microsoft.com/office/drawing/2014/main" val="20000"/>
                    </a:ext>
                  </a:extLst>
                </a:gridCol>
              </a:tblGrid>
              <a:tr h="373063">
                <a:tc>
                  <a:txBody>
                    <a:bodyPr/>
                    <a:lstStyle/>
                    <a:p>
                      <a:endParaRPr lang="en-US" sz="1800" dirty="0"/>
                    </a:p>
                  </a:txBody>
                  <a:tcPr marL="91439" marR="91439" marT="45701" marB="45701"/>
                </a:tc>
                <a:extLst>
                  <a:ext uri="{0D108BD9-81ED-4DB2-BD59-A6C34878D82A}">
                    <a16:rowId xmlns="" xmlns:a16="http://schemas.microsoft.com/office/drawing/2014/main" val="10000"/>
                  </a:ext>
                </a:extLst>
              </a:tr>
              <a:tr h="373063">
                <a:tc>
                  <a:txBody>
                    <a:bodyPr/>
                    <a:lstStyle/>
                    <a:p>
                      <a:pPr algn="ctr"/>
                      <a:r>
                        <a:rPr lang="en-US" sz="1800" dirty="0"/>
                        <a:t>P2</a:t>
                      </a:r>
                    </a:p>
                  </a:txBody>
                  <a:tcPr marL="91439" marR="91439" marT="45701" marB="45701"/>
                </a:tc>
                <a:extLst>
                  <a:ext uri="{0D108BD9-81ED-4DB2-BD59-A6C34878D82A}">
                    <a16:rowId xmlns="" xmlns:a16="http://schemas.microsoft.com/office/drawing/2014/main" val="10001"/>
                  </a:ext>
                </a:extLst>
              </a:tr>
              <a:tr h="373063">
                <a:tc>
                  <a:txBody>
                    <a:bodyPr/>
                    <a:lstStyle/>
                    <a:p>
                      <a:pPr algn="ctr"/>
                      <a:r>
                        <a:rPr lang="en-US" sz="1800" dirty="0"/>
                        <a:t>P3</a:t>
                      </a:r>
                    </a:p>
                  </a:txBody>
                  <a:tcPr marL="91439" marR="91439" marT="45701" marB="45701"/>
                </a:tc>
                <a:extLst>
                  <a:ext uri="{0D108BD9-81ED-4DB2-BD59-A6C34878D82A}">
                    <a16:rowId xmlns="" xmlns:a16="http://schemas.microsoft.com/office/drawing/2014/main" val="10002"/>
                  </a:ext>
                </a:extLst>
              </a:tr>
              <a:tr h="373063">
                <a:tc>
                  <a:txBody>
                    <a:bodyPr/>
                    <a:lstStyle/>
                    <a:p>
                      <a:pPr algn="ctr"/>
                      <a:r>
                        <a:rPr lang="en-US" sz="1800" dirty="0"/>
                        <a:t>P4</a:t>
                      </a:r>
                    </a:p>
                  </a:txBody>
                  <a:tcPr marL="91439" marR="91439" marT="45701" marB="45701"/>
                </a:tc>
                <a:extLst>
                  <a:ext uri="{0D108BD9-81ED-4DB2-BD59-A6C34878D82A}">
                    <a16:rowId xmlns="" xmlns:a16="http://schemas.microsoft.com/office/drawing/2014/main" val="10003"/>
                  </a:ext>
                </a:extLst>
              </a:tr>
            </a:tbl>
          </a:graphicData>
        </a:graphic>
      </p:graphicFrame>
      <p:graphicFrame>
        <p:nvGraphicFramePr>
          <p:cNvPr id="39" name="Table 38">
            <a:extLst>
              <a:ext uri="{FF2B5EF4-FFF2-40B4-BE49-F238E27FC236}">
                <a16:creationId xmlns="" xmlns:a16="http://schemas.microsoft.com/office/drawing/2014/main" id="{548083BD-DA80-4056-9DE6-8893BEDC6D85}"/>
              </a:ext>
            </a:extLst>
          </p:cNvPr>
          <p:cNvGraphicFramePr>
            <a:graphicFrameLocks noGrp="1"/>
          </p:cNvGraphicFramePr>
          <p:nvPr>
            <p:extLst>
              <p:ext uri="{D42A27DB-BD31-4B8C-83A1-F6EECF244321}">
                <p14:modId xmlns:p14="http://schemas.microsoft.com/office/powerpoint/2010/main" val="838034890"/>
              </p:ext>
            </p:extLst>
          </p:nvPr>
        </p:nvGraphicFramePr>
        <p:xfrm>
          <a:off x="4814888" y="4879657"/>
          <a:ext cx="1000125" cy="1482724"/>
        </p:xfrm>
        <a:graphic>
          <a:graphicData uri="http://schemas.openxmlformats.org/drawingml/2006/table">
            <a:tbl>
              <a:tblPr firstRow="1" bandRow="1">
                <a:tableStyleId>{9DCAF9ED-07DC-4A11-8D7F-57B35C25682E}</a:tableStyleId>
              </a:tblPr>
              <a:tblGrid>
                <a:gridCol w="1000125">
                  <a:extLst>
                    <a:ext uri="{9D8B030D-6E8A-4147-A177-3AD203B41FA5}">
                      <a16:colId xmlns="" xmlns:a16="http://schemas.microsoft.com/office/drawing/2014/main" val="20000"/>
                    </a:ext>
                  </a:extLst>
                </a:gridCol>
              </a:tblGrid>
              <a:tr h="370681">
                <a:tc>
                  <a:txBody>
                    <a:bodyPr/>
                    <a:lstStyle/>
                    <a:p>
                      <a:pPr algn="ctr"/>
                      <a:r>
                        <a:rPr lang="en-US" sz="1800" dirty="0"/>
                        <a:t>P1</a:t>
                      </a:r>
                    </a:p>
                  </a:txBody>
                  <a:tcPr marL="91439" marR="91439" marT="45700" marB="45700"/>
                </a:tc>
                <a:extLst>
                  <a:ext uri="{0D108BD9-81ED-4DB2-BD59-A6C34878D82A}">
                    <a16:rowId xmlns="" xmlns:a16="http://schemas.microsoft.com/office/drawing/2014/main" val="10000"/>
                  </a:ext>
                </a:extLst>
              </a:tr>
              <a:tr h="370681">
                <a:tc>
                  <a:txBody>
                    <a:bodyPr/>
                    <a:lstStyle/>
                    <a:p>
                      <a:pPr algn="ctr"/>
                      <a:r>
                        <a:rPr lang="en-US" sz="1800" dirty="0"/>
                        <a:t>P2</a:t>
                      </a:r>
                    </a:p>
                  </a:txBody>
                  <a:tcPr marL="91439" marR="91439" marT="45700" marB="45700"/>
                </a:tc>
                <a:extLst>
                  <a:ext uri="{0D108BD9-81ED-4DB2-BD59-A6C34878D82A}">
                    <a16:rowId xmlns="" xmlns:a16="http://schemas.microsoft.com/office/drawing/2014/main" val="10001"/>
                  </a:ext>
                </a:extLst>
              </a:tr>
              <a:tr h="370681">
                <a:tc>
                  <a:txBody>
                    <a:bodyPr/>
                    <a:lstStyle/>
                    <a:p>
                      <a:pPr algn="ctr"/>
                      <a:r>
                        <a:rPr lang="en-US" sz="1800" dirty="0"/>
                        <a:t>P3</a:t>
                      </a:r>
                    </a:p>
                  </a:txBody>
                  <a:tcPr marL="91439" marR="91439" marT="45700" marB="45700"/>
                </a:tc>
                <a:extLst>
                  <a:ext uri="{0D108BD9-81ED-4DB2-BD59-A6C34878D82A}">
                    <a16:rowId xmlns="" xmlns:a16="http://schemas.microsoft.com/office/drawing/2014/main" val="10002"/>
                  </a:ext>
                </a:extLst>
              </a:tr>
              <a:tr h="370681">
                <a:tc>
                  <a:txBody>
                    <a:bodyPr/>
                    <a:lstStyle/>
                    <a:p>
                      <a:pPr algn="ctr"/>
                      <a:r>
                        <a:rPr lang="en-US" sz="1800" dirty="0"/>
                        <a:t>P4</a:t>
                      </a:r>
                    </a:p>
                  </a:txBody>
                  <a:tcPr marL="91439" marR="91439" marT="45700" marB="45700"/>
                </a:tc>
                <a:extLst>
                  <a:ext uri="{0D108BD9-81ED-4DB2-BD59-A6C34878D82A}">
                    <a16:rowId xmlns="" xmlns:a16="http://schemas.microsoft.com/office/drawing/2014/main" val="10003"/>
                  </a:ext>
                </a:extLst>
              </a:tr>
            </a:tbl>
          </a:graphicData>
        </a:graphic>
      </p:graphicFrame>
      <p:cxnSp>
        <p:nvCxnSpPr>
          <p:cNvPr id="40" name="Straight Arrow Connector 11">
            <a:extLst>
              <a:ext uri="{FF2B5EF4-FFF2-40B4-BE49-F238E27FC236}">
                <a16:creationId xmlns="" xmlns:a16="http://schemas.microsoft.com/office/drawing/2014/main" id="{97980549-B8CF-4558-8885-D8AED44A2A74}"/>
              </a:ext>
            </a:extLst>
          </p:cNvPr>
          <p:cNvCxnSpPr>
            <a:cxnSpLocks noChangeShapeType="1"/>
          </p:cNvCxnSpPr>
          <p:nvPr/>
        </p:nvCxnSpPr>
        <p:spPr bwMode="auto">
          <a:xfrm>
            <a:off x="4243388" y="1903095"/>
            <a:ext cx="5715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 name="Straight Arrow Connector 13">
            <a:extLst>
              <a:ext uri="{FF2B5EF4-FFF2-40B4-BE49-F238E27FC236}">
                <a16:creationId xmlns="" xmlns:a16="http://schemas.microsoft.com/office/drawing/2014/main" id="{3ACA0951-5733-4CDD-B2E9-9173B4B99428}"/>
              </a:ext>
            </a:extLst>
          </p:cNvPr>
          <p:cNvCxnSpPr>
            <a:cxnSpLocks noChangeShapeType="1"/>
          </p:cNvCxnSpPr>
          <p:nvPr/>
        </p:nvCxnSpPr>
        <p:spPr bwMode="auto">
          <a:xfrm>
            <a:off x="4243388" y="2258695"/>
            <a:ext cx="5715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 name="Straight Arrow Connector 14">
            <a:extLst>
              <a:ext uri="{FF2B5EF4-FFF2-40B4-BE49-F238E27FC236}">
                <a16:creationId xmlns="" xmlns:a16="http://schemas.microsoft.com/office/drawing/2014/main" id="{819001AA-69B9-4F41-A342-E77B31ED030C}"/>
              </a:ext>
            </a:extLst>
          </p:cNvPr>
          <p:cNvCxnSpPr>
            <a:cxnSpLocks noChangeShapeType="1"/>
          </p:cNvCxnSpPr>
          <p:nvPr/>
        </p:nvCxnSpPr>
        <p:spPr bwMode="auto">
          <a:xfrm>
            <a:off x="4243388" y="2615882"/>
            <a:ext cx="5715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3" name="TextBox 16">
            <a:extLst>
              <a:ext uri="{FF2B5EF4-FFF2-40B4-BE49-F238E27FC236}">
                <a16:creationId xmlns="" xmlns:a16="http://schemas.microsoft.com/office/drawing/2014/main" id="{76F0D1C0-D0EB-4542-A8E3-18E5850250FC}"/>
              </a:ext>
            </a:extLst>
          </p:cNvPr>
          <p:cNvSpPr txBox="1">
            <a:spLocks noChangeArrowheads="1"/>
          </p:cNvSpPr>
          <p:nvPr/>
        </p:nvSpPr>
        <p:spPr bwMode="auto">
          <a:xfrm>
            <a:off x="3529013" y="1701482"/>
            <a:ext cx="6429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Use</a:t>
            </a:r>
          </a:p>
        </p:txBody>
      </p:sp>
      <p:sp>
        <p:nvSpPr>
          <p:cNvPr id="44" name="TextBox 17">
            <a:extLst>
              <a:ext uri="{FF2B5EF4-FFF2-40B4-BE49-F238E27FC236}">
                <a16:creationId xmlns="" xmlns:a16="http://schemas.microsoft.com/office/drawing/2014/main" id="{F6820BF0-C935-4EF4-8FE9-768D2BF1D5D1}"/>
              </a:ext>
            </a:extLst>
          </p:cNvPr>
          <p:cNvSpPr txBox="1">
            <a:spLocks noChangeArrowheads="1"/>
          </p:cNvSpPr>
          <p:nvPr/>
        </p:nvSpPr>
        <p:spPr bwMode="auto">
          <a:xfrm>
            <a:off x="3100388" y="2045970"/>
            <a:ext cx="1071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Not Use</a:t>
            </a:r>
          </a:p>
        </p:txBody>
      </p:sp>
      <p:sp>
        <p:nvSpPr>
          <p:cNvPr id="45" name="TextBox 18">
            <a:extLst>
              <a:ext uri="{FF2B5EF4-FFF2-40B4-BE49-F238E27FC236}">
                <a16:creationId xmlns="" xmlns:a16="http://schemas.microsoft.com/office/drawing/2014/main" id="{E3B9120F-817F-4B5E-8CF1-5F34F8DC3CA5}"/>
              </a:ext>
            </a:extLst>
          </p:cNvPr>
          <p:cNvSpPr txBox="1">
            <a:spLocks noChangeArrowheads="1"/>
          </p:cNvSpPr>
          <p:nvPr/>
        </p:nvSpPr>
        <p:spPr bwMode="auto">
          <a:xfrm>
            <a:off x="3100388" y="2426970"/>
            <a:ext cx="1071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Not Use</a:t>
            </a:r>
          </a:p>
        </p:txBody>
      </p:sp>
      <p:sp>
        <p:nvSpPr>
          <p:cNvPr id="46" name="Left Brace 19">
            <a:extLst>
              <a:ext uri="{FF2B5EF4-FFF2-40B4-BE49-F238E27FC236}">
                <a16:creationId xmlns="" xmlns:a16="http://schemas.microsoft.com/office/drawing/2014/main" id="{C7788589-F901-44A1-BFBC-821DF0CB3EFA}"/>
              </a:ext>
            </a:extLst>
          </p:cNvPr>
          <p:cNvSpPr>
            <a:spLocks/>
          </p:cNvSpPr>
          <p:nvPr/>
        </p:nvSpPr>
        <p:spPr bwMode="auto">
          <a:xfrm>
            <a:off x="2886075" y="1760220"/>
            <a:ext cx="357188" cy="1071562"/>
          </a:xfrm>
          <a:prstGeom prst="leftBrace">
            <a:avLst>
              <a:gd name="adj1" fmla="val 15069"/>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47" name="Straight Arrow Connector 20">
            <a:extLst>
              <a:ext uri="{FF2B5EF4-FFF2-40B4-BE49-F238E27FC236}">
                <a16:creationId xmlns="" xmlns:a16="http://schemas.microsoft.com/office/drawing/2014/main" id="{D34517C4-6937-4576-9A70-1D5FE64ABBF6}"/>
              </a:ext>
            </a:extLst>
          </p:cNvPr>
          <p:cNvCxnSpPr>
            <a:cxnSpLocks noChangeShapeType="1"/>
          </p:cNvCxnSpPr>
          <p:nvPr/>
        </p:nvCxnSpPr>
        <p:spPr bwMode="auto">
          <a:xfrm>
            <a:off x="4243388" y="3473132"/>
            <a:ext cx="5715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8" name="TextBox 21">
            <a:extLst>
              <a:ext uri="{FF2B5EF4-FFF2-40B4-BE49-F238E27FC236}">
                <a16:creationId xmlns="" xmlns:a16="http://schemas.microsoft.com/office/drawing/2014/main" id="{3C53BC3B-44E2-4251-AA82-C498F3FDA2F7}"/>
              </a:ext>
            </a:extLst>
          </p:cNvPr>
          <p:cNvSpPr txBox="1">
            <a:spLocks noChangeArrowheads="1"/>
          </p:cNvSpPr>
          <p:nvPr/>
        </p:nvSpPr>
        <p:spPr bwMode="auto">
          <a:xfrm>
            <a:off x="3600450" y="3308032"/>
            <a:ext cx="642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P1</a:t>
            </a:r>
          </a:p>
        </p:txBody>
      </p:sp>
      <p:cxnSp>
        <p:nvCxnSpPr>
          <p:cNvPr id="49" name="Straight Arrow Connector 23">
            <a:extLst>
              <a:ext uri="{FF2B5EF4-FFF2-40B4-BE49-F238E27FC236}">
                <a16:creationId xmlns="" xmlns:a16="http://schemas.microsoft.com/office/drawing/2014/main" id="{E8297015-CC26-4AD3-AF38-D204688289DE}"/>
              </a:ext>
            </a:extLst>
          </p:cNvPr>
          <p:cNvCxnSpPr>
            <a:cxnSpLocks noChangeShapeType="1"/>
          </p:cNvCxnSpPr>
          <p:nvPr/>
        </p:nvCxnSpPr>
        <p:spPr bwMode="auto">
          <a:xfrm rot="10800000">
            <a:off x="4171950" y="4189095"/>
            <a:ext cx="642938"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0" name="Straight Arrow Connector 24">
            <a:extLst>
              <a:ext uri="{FF2B5EF4-FFF2-40B4-BE49-F238E27FC236}">
                <a16:creationId xmlns="" xmlns:a16="http://schemas.microsoft.com/office/drawing/2014/main" id="{5980B820-99A3-47A7-B3DB-77597D5018A0}"/>
              </a:ext>
            </a:extLst>
          </p:cNvPr>
          <p:cNvCxnSpPr>
            <a:cxnSpLocks noChangeShapeType="1"/>
          </p:cNvCxnSpPr>
          <p:nvPr/>
        </p:nvCxnSpPr>
        <p:spPr bwMode="auto">
          <a:xfrm>
            <a:off x="4243388" y="3830320"/>
            <a:ext cx="5715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1" name="TextBox 25">
            <a:extLst>
              <a:ext uri="{FF2B5EF4-FFF2-40B4-BE49-F238E27FC236}">
                <a16:creationId xmlns="" xmlns:a16="http://schemas.microsoft.com/office/drawing/2014/main" id="{63F99E93-B11A-4213-9D17-17A9B6486E75}"/>
              </a:ext>
            </a:extLst>
          </p:cNvPr>
          <p:cNvSpPr txBox="1">
            <a:spLocks noChangeArrowheads="1"/>
          </p:cNvSpPr>
          <p:nvPr/>
        </p:nvSpPr>
        <p:spPr bwMode="auto">
          <a:xfrm>
            <a:off x="2886075" y="3617595"/>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Processing</a:t>
            </a:r>
          </a:p>
        </p:txBody>
      </p:sp>
      <p:sp>
        <p:nvSpPr>
          <p:cNvPr id="52" name="TextBox 26">
            <a:extLst>
              <a:ext uri="{FF2B5EF4-FFF2-40B4-BE49-F238E27FC236}">
                <a16:creationId xmlns="" xmlns:a16="http://schemas.microsoft.com/office/drawing/2014/main" id="{ED55AD00-FA4D-45BB-8F1A-C67E022220F0}"/>
              </a:ext>
            </a:extLst>
          </p:cNvPr>
          <p:cNvSpPr txBox="1">
            <a:spLocks noChangeArrowheads="1"/>
          </p:cNvSpPr>
          <p:nvPr/>
        </p:nvSpPr>
        <p:spPr bwMode="auto">
          <a:xfrm>
            <a:off x="2886075" y="4033520"/>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P3 finished</a:t>
            </a:r>
          </a:p>
        </p:txBody>
      </p:sp>
      <p:sp>
        <p:nvSpPr>
          <p:cNvPr id="53" name="Flowchart: Magnetic Disk 27">
            <a:extLst>
              <a:ext uri="{FF2B5EF4-FFF2-40B4-BE49-F238E27FC236}">
                <a16:creationId xmlns="" xmlns:a16="http://schemas.microsoft.com/office/drawing/2014/main" id="{67DD1815-7279-4E08-835D-90A8447E5AA4}"/>
              </a:ext>
            </a:extLst>
          </p:cNvPr>
          <p:cNvSpPr>
            <a:spLocks noChangeArrowheads="1"/>
          </p:cNvSpPr>
          <p:nvPr/>
        </p:nvSpPr>
        <p:spPr bwMode="auto">
          <a:xfrm>
            <a:off x="2528888" y="4903470"/>
            <a:ext cx="1143000" cy="1571625"/>
          </a:xfrm>
          <a:prstGeom prst="flowChartMagneticDisk">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Processes</a:t>
            </a:r>
          </a:p>
        </p:txBody>
      </p:sp>
      <p:cxnSp>
        <p:nvCxnSpPr>
          <p:cNvPr id="54" name="Straight Arrow Connector 29">
            <a:extLst>
              <a:ext uri="{FF2B5EF4-FFF2-40B4-BE49-F238E27FC236}">
                <a16:creationId xmlns="" xmlns:a16="http://schemas.microsoft.com/office/drawing/2014/main" id="{42FF4856-E655-4C18-B13F-8D98FA44E66E}"/>
              </a:ext>
            </a:extLst>
          </p:cNvPr>
          <p:cNvCxnSpPr>
            <a:cxnSpLocks noChangeShapeType="1"/>
          </p:cNvCxnSpPr>
          <p:nvPr/>
        </p:nvCxnSpPr>
        <p:spPr bwMode="auto">
          <a:xfrm>
            <a:off x="4243388" y="4617720"/>
            <a:ext cx="5715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5" name="TextBox 31">
            <a:extLst>
              <a:ext uri="{FF2B5EF4-FFF2-40B4-BE49-F238E27FC236}">
                <a16:creationId xmlns="" xmlns:a16="http://schemas.microsoft.com/office/drawing/2014/main" id="{BFB4153D-B515-4E49-9AB7-E7CD69CD1D64}"/>
              </a:ext>
            </a:extLst>
          </p:cNvPr>
          <p:cNvSpPr txBox="1">
            <a:spLocks noChangeArrowheads="1"/>
          </p:cNvSpPr>
          <p:nvPr/>
        </p:nvSpPr>
        <p:spPr bwMode="auto">
          <a:xfrm>
            <a:off x="2957513" y="4403407"/>
            <a:ext cx="1357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Processing</a:t>
            </a:r>
          </a:p>
        </p:txBody>
      </p:sp>
      <p:sp>
        <p:nvSpPr>
          <p:cNvPr id="56" name="Left Brace 32">
            <a:extLst>
              <a:ext uri="{FF2B5EF4-FFF2-40B4-BE49-F238E27FC236}">
                <a16:creationId xmlns="" xmlns:a16="http://schemas.microsoft.com/office/drawing/2014/main" id="{E89C29A8-A6BC-4B73-AEDB-E664ADDBBB21}"/>
              </a:ext>
            </a:extLst>
          </p:cNvPr>
          <p:cNvSpPr>
            <a:spLocks/>
          </p:cNvSpPr>
          <p:nvPr/>
        </p:nvSpPr>
        <p:spPr bwMode="auto">
          <a:xfrm>
            <a:off x="2671763" y="3331845"/>
            <a:ext cx="357187" cy="1428750"/>
          </a:xfrm>
          <a:prstGeom prst="leftBrace">
            <a:avLst>
              <a:gd name="adj1" fmla="val 15074"/>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57" name="Straight Arrow Connector 37">
            <a:extLst>
              <a:ext uri="{FF2B5EF4-FFF2-40B4-BE49-F238E27FC236}">
                <a16:creationId xmlns="" xmlns:a16="http://schemas.microsoft.com/office/drawing/2014/main" id="{BBFDE327-FA31-473D-A1AF-472FE383279D}"/>
              </a:ext>
            </a:extLst>
          </p:cNvPr>
          <p:cNvCxnSpPr>
            <a:cxnSpLocks noChangeShapeType="1"/>
            <a:stCxn id="53" idx="4"/>
          </p:cNvCxnSpPr>
          <p:nvPr/>
        </p:nvCxnSpPr>
        <p:spPr bwMode="auto">
          <a:xfrm>
            <a:off x="3671888" y="5689282"/>
            <a:ext cx="11430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8" name="Straight Arrow Connector 39">
            <a:extLst>
              <a:ext uri="{FF2B5EF4-FFF2-40B4-BE49-F238E27FC236}">
                <a16:creationId xmlns="" xmlns:a16="http://schemas.microsoft.com/office/drawing/2014/main" id="{A545592F-4DEF-48D9-8367-37F9A983F019}"/>
              </a:ext>
            </a:extLst>
          </p:cNvPr>
          <p:cNvCxnSpPr>
            <a:cxnSpLocks noChangeShapeType="1"/>
          </p:cNvCxnSpPr>
          <p:nvPr/>
        </p:nvCxnSpPr>
        <p:spPr bwMode="auto">
          <a:xfrm rot="10800000">
            <a:off x="3671888" y="5903595"/>
            <a:ext cx="11430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9020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Where is memory management needed</a:t>
            </a:r>
          </a:p>
        </p:txBody>
      </p:sp>
    </p:spTree>
    <p:extLst>
      <p:ext uri="{BB962C8B-B14F-4D97-AF65-F5344CB8AC3E}">
        <p14:creationId xmlns:p14="http://schemas.microsoft.com/office/powerpoint/2010/main" val="1527129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sz="2800" b="1" dirty="0">
                <a:latin typeface="Times New Roman" panose="02020603050405020304" pitchFamily="18" charset="0"/>
                <a:cs typeface="Times New Roman" panose="02020603050405020304" pitchFamily="18" charset="0"/>
              </a:rPr>
              <a:t>There are two main areas that requires memory management.</a:t>
            </a:r>
          </a:p>
          <a:p>
            <a:pPr marL="514350" indent="-514350" algn="just">
              <a:lnSpc>
                <a:spcPct val="150000"/>
              </a:lnSpc>
              <a:buFont typeface="+mj-lt"/>
              <a:buAutoNum type="arabicPeriod"/>
            </a:pPr>
            <a:r>
              <a:rPr lang="en-US" sz="2800" b="1" dirty="0">
                <a:solidFill>
                  <a:srgbClr val="FF0000"/>
                </a:solidFill>
                <a:latin typeface="Times New Roman" panose="02020603050405020304" pitchFamily="18" charset="0"/>
                <a:cs typeface="Times New Roman" panose="02020603050405020304" pitchFamily="18" charset="0"/>
              </a:rPr>
              <a:t>We need to manage memory in order to manage the processes because they need memory to run. </a:t>
            </a:r>
          </a:p>
          <a:p>
            <a:pPr marL="914400" lvl="1" indent="-514350" algn="just">
              <a:lnSpc>
                <a:spcPct val="150000"/>
              </a:lnSpc>
            </a:pPr>
            <a:r>
              <a:rPr lang="en-US" sz="2400" b="1" dirty="0">
                <a:solidFill>
                  <a:srgbClr val="FF0000"/>
                </a:solidFill>
                <a:latin typeface="Times New Roman" panose="02020603050405020304" pitchFamily="18" charset="0"/>
                <a:cs typeface="Times New Roman" panose="02020603050405020304" pitchFamily="18" charset="0"/>
              </a:rPr>
              <a:t>For example RAM is the main memory where running </a:t>
            </a:r>
            <a:r>
              <a:rPr lang="en-US" sz="2400" b="1" dirty="0" smtClean="0">
                <a:solidFill>
                  <a:srgbClr val="FF0000"/>
                </a:solidFill>
                <a:latin typeface="Times New Roman" panose="02020603050405020304" pitchFamily="18" charset="0"/>
                <a:cs typeface="Times New Roman" panose="02020603050405020304" pitchFamily="18" charset="0"/>
              </a:rPr>
              <a:t>processes </a:t>
            </a:r>
            <a:r>
              <a:rPr lang="en-US" sz="2400" b="1" dirty="0">
                <a:solidFill>
                  <a:srgbClr val="FF0000"/>
                </a:solidFill>
                <a:latin typeface="Times New Roman" panose="02020603050405020304" pitchFamily="18" charset="0"/>
                <a:cs typeface="Times New Roman" panose="02020603050405020304" pitchFamily="18" charset="0"/>
              </a:rPr>
              <a:t>are handled.</a:t>
            </a:r>
          </a:p>
          <a:p>
            <a:pPr marL="514350" indent="-514350" algn="just">
              <a:lnSpc>
                <a:spcPct val="150000"/>
              </a:lnSpc>
              <a:buFont typeface="+mj-lt"/>
              <a:buAutoNum type="arabicPeriod"/>
            </a:pPr>
            <a:r>
              <a:rPr lang="en-US" sz="2800" b="1" dirty="0">
                <a:solidFill>
                  <a:srgbClr val="FF0000"/>
                </a:solidFill>
                <a:latin typeface="Times New Roman" panose="02020603050405020304" pitchFamily="18" charset="0"/>
                <a:cs typeface="Times New Roman" panose="02020603050405020304" pitchFamily="18" charset="0"/>
              </a:rPr>
              <a:t>We need to mange memory on the permanent storage devices such as hard disk and other devices.</a:t>
            </a:r>
          </a:p>
          <a:p>
            <a:pPr marL="914400" lvl="1" indent="-514350" algn="just">
              <a:lnSpc>
                <a:spcPct val="150000"/>
              </a:lnSpc>
            </a:pPr>
            <a:r>
              <a:rPr lang="en-US" sz="2400" b="1" dirty="0">
                <a:solidFill>
                  <a:srgbClr val="FF0000"/>
                </a:solidFill>
                <a:latin typeface="Times New Roman" panose="02020603050405020304" pitchFamily="18" charset="0"/>
                <a:cs typeface="Times New Roman" panose="02020603050405020304" pitchFamily="18" charset="0"/>
              </a:rPr>
              <a:t>For example hard disk </a:t>
            </a:r>
            <a:r>
              <a:rPr lang="en-US" sz="2400" b="1" dirty="0" err="1" smtClean="0">
                <a:solidFill>
                  <a:srgbClr val="FF0000"/>
                </a:solidFill>
                <a:latin typeface="Times New Roman" panose="02020603050405020304" pitchFamily="18" charset="0"/>
                <a:cs typeface="Times New Roman" panose="02020603050405020304" pitchFamily="18" charset="0"/>
              </a:rPr>
              <a:t>managment</a:t>
            </a:r>
            <a:r>
              <a:rPr lang="en-US" sz="2400" b="1" dirty="0">
                <a:solidFill>
                  <a:srgbClr val="FF0000"/>
                </a:solidFill>
                <a:latin typeface="Times New Roman" panose="02020603050405020304" pitchFamily="18" charset="0"/>
                <a:cs typeface="Times New Roman" panose="02020603050405020304" pitchFamily="18" charset="0"/>
              </a:rPr>
              <a:t>.</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Where is memory management needed</a:t>
            </a:r>
            <a:endParaRPr lang="en-US" sz="3600" b="1" dirty="0">
              <a:solidFill>
                <a:srgbClr val="FF0000"/>
              </a:solidFill>
              <a:latin typeface="Times New Roman" pitchFamily="18" charset="0"/>
            </a:endParaRPr>
          </a:p>
        </p:txBody>
      </p:sp>
    </p:spTree>
    <p:extLst>
      <p:ext uri="{BB962C8B-B14F-4D97-AF65-F5344CB8AC3E}">
        <p14:creationId xmlns:p14="http://schemas.microsoft.com/office/powerpoint/2010/main" val="41059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5146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Where is memory management information located?</a:t>
            </a:r>
          </a:p>
        </p:txBody>
      </p:sp>
    </p:spTree>
    <p:extLst>
      <p:ext uri="{BB962C8B-B14F-4D97-AF65-F5344CB8AC3E}">
        <p14:creationId xmlns:p14="http://schemas.microsoft.com/office/powerpoint/2010/main" val="2942590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678760"/>
          </a:xfrm>
        </p:spPr>
        <p:txBody>
          <a:bodyPr>
            <a:no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For process handling, the memory management can be viewed in Task manger.</a:t>
            </a:r>
          </a:p>
          <a:p>
            <a:pPr algn="just">
              <a:lnSpc>
                <a:spcPct val="150000"/>
              </a:lnSpc>
            </a:pPr>
            <a:r>
              <a:rPr lang="en-US" sz="2800" b="1" dirty="0">
                <a:latin typeface="Times New Roman" panose="02020603050405020304" pitchFamily="18" charset="0"/>
                <a:cs typeface="Times New Roman" panose="02020603050405020304" pitchFamily="18" charset="0"/>
              </a:rPr>
              <a:t>Task manger gives the full details of the background and foreground process and the memory they have occupied.</a:t>
            </a:r>
          </a:p>
          <a:p>
            <a:pPr algn="just">
              <a:lnSpc>
                <a:spcPct val="150000"/>
              </a:lnSpc>
            </a:pPr>
            <a:r>
              <a:rPr lang="en-US" sz="2800" b="1" dirty="0">
                <a:latin typeface="Times New Roman" panose="02020603050405020304" pitchFamily="18" charset="0"/>
                <a:cs typeface="Times New Roman" panose="02020603050405020304" pitchFamily="18" charset="0"/>
              </a:rPr>
              <a:t>It also indicates the number of processes and threads running and how much memory each process or thread have occupied.</a:t>
            </a:r>
            <a:endParaRPr lang="en-US" sz="24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9906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INFORMATION FOR PROCESSES</a:t>
            </a:r>
            <a:endParaRPr lang="en-US" sz="3200" b="1" dirty="0">
              <a:solidFill>
                <a:srgbClr val="FF0000"/>
              </a:solidFill>
              <a:latin typeface="Times New Roman" pitchFamily="18" charset="0"/>
            </a:endParaRPr>
          </a:p>
        </p:txBody>
      </p:sp>
    </p:spTree>
    <p:extLst>
      <p:ext uri="{BB962C8B-B14F-4D97-AF65-F5344CB8AC3E}">
        <p14:creationId xmlns:p14="http://schemas.microsoft.com/office/powerpoint/2010/main" val="275117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01880"/>
            <a:ext cx="9144000" cy="990600"/>
          </a:xfrm>
        </p:spPr>
        <p:txBody>
          <a:bodyPr>
            <a:noAutofit/>
          </a:bodyPr>
          <a:lstStyle/>
          <a:p>
            <a:pPr>
              <a:spcBef>
                <a:spcPct val="50000"/>
              </a:spcBef>
              <a:defRPr/>
            </a:pPr>
            <a:r>
              <a:rPr lang="en-US" sz="2400" b="1" dirty="0">
                <a:solidFill>
                  <a:schemeClr val="accent3">
                    <a:lumMod val="75000"/>
                  </a:schemeClr>
                </a:solidFill>
                <a:latin typeface="Times New Roman" pitchFamily="18" charset="0"/>
              </a:rPr>
              <a:t>MEMORY MANAGEMENT INFORMATION FOR PROCESSES</a:t>
            </a:r>
            <a:endParaRPr lang="en-US" sz="2400" b="1" dirty="0">
              <a:solidFill>
                <a:srgbClr val="FF0000"/>
              </a:solidFill>
              <a:latin typeface="Times New Roman" pitchFamily="18" charset="0"/>
            </a:endParaRPr>
          </a:p>
        </p:txBody>
      </p:sp>
      <p:pic>
        <p:nvPicPr>
          <p:cNvPr id="4" name="Picture 3">
            <a:extLst>
              <a:ext uri="{FF2B5EF4-FFF2-40B4-BE49-F238E27FC236}">
                <a16:creationId xmlns="" xmlns:a16="http://schemas.microsoft.com/office/drawing/2014/main" id="{71F79540-4F50-4437-BDD4-544B11D4E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175" y="609600"/>
            <a:ext cx="7105650" cy="6248400"/>
          </a:xfrm>
          <a:prstGeom prst="rect">
            <a:avLst/>
          </a:prstGeom>
        </p:spPr>
      </p:pic>
      <p:sp>
        <p:nvSpPr>
          <p:cNvPr id="6" name="Content Placeholder 5">
            <a:extLst>
              <a:ext uri="{FF2B5EF4-FFF2-40B4-BE49-F238E27FC236}">
                <a16:creationId xmlns="" xmlns:a16="http://schemas.microsoft.com/office/drawing/2014/main" id="{842E8477-DA5F-4941-BD44-A40A21033D7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962084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01880"/>
            <a:ext cx="9144000" cy="990600"/>
          </a:xfrm>
        </p:spPr>
        <p:txBody>
          <a:bodyPr>
            <a:noAutofit/>
          </a:bodyPr>
          <a:lstStyle/>
          <a:p>
            <a:pPr>
              <a:spcBef>
                <a:spcPct val="50000"/>
              </a:spcBef>
              <a:defRPr/>
            </a:pPr>
            <a:r>
              <a:rPr lang="en-US" sz="2400" b="1" dirty="0">
                <a:solidFill>
                  <a:schemeClr val="accent3">
                    <a:lumMod val="75000"/>
                  </a:schemeClr>
                </a:solidFill>
                <a:latin typeface="Times New Roman" pitchFamily="18" charset="0"/>
              </a:rPr>
              <a:t>MEMORY MANAGEMENT INFORMATION FOR PROCESSES</a:t>
            </a:r>
            <a:endParaRPr lang="en-US" sz="2400" b="1" dirty="0">
              <a:solidFill>
                <a:srgbClr val="FF0000"/>
              </a:solidFill>
              <a:latin typeface="Times New Roman" pitchFamily="18" charset="0"/>
            </a:endParaRPr>
          </a:p>
        </p:txBody>
      </p:sp>
      <p:pic>
        <p:nvPicPr>
          <p:cNvPr id="3" name="Picture 2">
            <a:extLst>
              <a:ext uri="{FF2B5EF4-FFF2-40B4-BE49-F238E27FC236}">
                <a16:creationId xmlns="" xmlns:a16="http://schemas.microsoft.com/office/drawing/2014/main" id="{957135C5-ADF8-458F-B681-8EA0532E9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37" y="595312"/>
            <a:ext cx="6867525" cy="6262688"/>
          </a:xfrm>
          <a:prstGeom prst="rect">
            <a:avLst/>
          </a:prstGeom>
        </p:spPr>
      </p:pic>
    </p:spTree>
    <p:extLst>
      <p:ext uri="{BB962C8B-B14F-4D97-AF65-F5344CB8AC3E}">
        <p14:creationId xmlns:p14="http://schemas.microsoft.com/office/powerpoint/2010/main" val="2996341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678760"/>
          </a:xfrm>
        </p:spPr>
        <p:txBody>
          <a:bodyPr>
            <a:no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For memory management of disk or any permanent storage </a:t>
            </a:r>
            <a:r>
              <a:rPr lang="en-US" sz="2800" b="1" dirty="0" smtClean="0">
                <a:latin typeface="Times New Roman" panose="02020603050405020304" pitchFamily="18" charset="0"/>
                <a:cs typeface="Times New Roman" panose="02020603050405020304" pitchFamily="18" charset="0"/>
              </a:rPr>
              <a:t>devices, </a:t>
            </a:r>
            <a:r>
              <a:rPr lang="en-US" sz="2800" b="1" dirty="0">
                <a:latin typeface="Times New Roman" panose="02020603050405020304" pitchFamily="18" charset="0"/>
                <a:cs typeface="Times New Roman" panose="02020603050405020304" pitchFamily="18" charset="0"/>
              </a:rPr>
              <a:t>the required information can be easily viewed using properties of relative drive.</a:t>
            </a:r>
          </a:p>
          <a:p>
            <a:pPr algn="just">
              <a:lnSpc>
                <a:spcPct val="150000"/>
              </a:lnSpc>
            </a:pPr>
            <a:endParaRPr lang="en-US" sz="24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9906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INFORMATION FOR DISK MANAGMENT</a:t>
            </a:r>
            <a:endParaRPr lang="en-US" sz="3200" b="1" dirty="0">
              <a:solidFill>
                <a:srgbClr val="FF0000"/>
              </a:solidFill>
              <a:latin typeface="Times New Roman" pitchFamily="18" charset="0"/>
            </a:endParaRPr>
          </a:p>
        </p:txBody>
      </p:sp>
    </p:spTree>
    <p:extLst>
      <p:ext uri="{BB962C8B-B14F-4D97-AF65-F5344CB8AC3E}">
        <p14:creationId xmlns:p14="http://schemas.microsoft.com/office/powerpoint/2010/main" val="286088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4800"/>
            <a:ext cx="9144000" cy="6364560"/>
          </a:xfrm>
        </p:spPr>
        <p:txBody>
          <a:bodyPr>
            <a:no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Go to: My computer&gt;Mange&gt;Disk Manage</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304800"/>
            <a:ext cx="9144000" cy="990600"/>
          </a:xfrm>
        </p:spPr>
        <p:txBody>
          <a:bodyPr>
            <a:noAutofit/>
          </a:bodyPr>
          <a:lstStyle/>
          <a:p>
            <a:pPr>
              <a:spcBef>
                <a:spcPct val="50000"/>
              </a:spcBef>
              <a:defRPr/>
            </a:pPr>
            <a:r>
              <a:rPr lang="en-US" sz="2800" b="1" dirty="0">
                <a:solidFill>
                  <a:schemeClr val="accent3">
                    <a:lumMod val="75000"/>
                  </a:schemeClr>
                </a:solidFill>
                <a:latin typeface="Times New Roman" pitchFamily="18" charset="0"/>
              </a:rPr>
              <a:t>WHOLE STORAGE/DISK  INFORMATION</a:t>
            </a:r>
            <a:endParaRPr lang="en-US" sz="2800" b="1" dirty="0">
              <a:solidFill>
                <a:srgbClr val="FF0000"/>
              </a:solidFill>
              <a:latin typeface="Times New Roman" pitchFamily="18" charset="0"/>
            </a:endParaRPr>
          </a:p>
        </p:txBody>
      </p:sp>
      <p:pic>
        <p:nvPicPr>
          <p:cNvPr id="2" name="Picture 1">
            <a:extLst>
              <a:ext uri="{FF2B5EF4-FFF2-40B4-BE49-F238E27FC236}">
                <a16:creationId xmlns="" xmlns:a16="http://schemas.microsoft.com/office/drawing/2014/main" id="{8C171485-A8D0-4421-8CFB-BA6F380C3DA3}"/>
              </a:ext>
            </a:extLst>
          </p:cNvPr>
          <p:cNvPicPr>
            <a:picLocks noChangeAspect="1"/>
          </p:cNvPicPr>
          <p:nvPr/>
        </p:nvPicPr>
        <p:blipFill>
          <a:blip r:embed="rId2"/>
          <a:stretch>
            <a:fillRect/>
          </a:stretch>
        </p:blipFill>
        <p:spPr>
          <a:xfrm>
            <a:off x="1666875" y="838201"/>
            <a:ext cx="5810250" cy="6025662"/>
          </a:xfrm>
          <a:prstGeom prst="rect">
            <a:avLst/>
          </a:prstGeom>
        </p:spPr>
      </p:pic>
    </p:spTree>
    <p:extLst>
      <p:ext uri="{BB962C8B-B14F-4D97-AF65-F5344CB8AC3E}">
        <p14:creationId xmlns:p14="http://schemas.microsoft.com/office/powerpoint/2010/main" val="135400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FA796E51-15FE-46D9-B92F-E2C5F9F9D1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7925" y="609600"/>
            <a:ext cx="4248150" cy="6248401"/>
          </a:xfrm>
        </p:spPr>
      </p:pic>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2800" b="1" dirty="0">
                <a:solidFill>
                  <a:schemeClr val="accent3">
                    <a:lumMod val="75000"/>
                  </a:schemeClr>
                </a:solidFill>
                <a:latin typeface="Times New Roman" pitchFamily="18" charset="0"/>
              </a:rPr>
              <a:t>DRIVE INFORMATION</a:t>
            </a:r>
            <a:endParaRPr lang="en-US" sz="2800" b="1" dirty="0">
              <a:solidFill>
                <a:srgbClr val="FF0000"/>
              </a:solidFill>
              <a:latin typeface="Times New Roman" pitchFamily="18" charset="0"/>
            </a:endParaRPr>
          </a:p>
        </p:txBody>
      </p:sp>
    </p:spTree>
    <p:extLst>
      <p:ext uri="{BB962C8B-B14F-4D97-AF65-F5344CB8AC3E}">
        <p14:creationId xmlns:p14="http://schemas.microsoft.com/office/powerpoint/2010/main" val="1403577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5146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Memory Management Techniques for processes and Disks</a:t>
            </a:r>
          </a:p>
        </p:txBody>
      </p:sp>
    </p:spTree>
    <p:extLst>
      <p:ext uri="{BB962C8B-B14F-4D97-AF65-F5344CB8AC3E}">
        <p14:creationId xmlns:p14="http://schemas.microsoft.com/office/powerpoint/2010/main" val="2214165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678760"/>
          </a:xfrm>
        </p:spPr>
        <p:txBody>
          <a:bodyPr>
            <a:no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For both processes and permanent storage systems, we need to allocate memory.</a:t>
            </a:r>
          </a:p>
          <a:p>
            <a:pPr algn="just">
              <a:lnSpc>
                <a:spcPct val="150000"/>
              </a:lnSpc>
            </a:pPr>
            <a:r>
              <a:rPr lang="en-US" sz="2800" b="1" dirty="0">
                <a:latin typeface="Times New Roman" panose="02020603050405020304" pitchFamily="18" charset="0"/>
                <a:cs typeface="Times New Roman" panose="02020603050405020304" pitchFamily="18" charset="0"/>
              </a:rPr>
              <a:t>There are techniques and different ways in which both things are handled.</a:t>
            </a:r>
          </a:p>
          <a:p>
            <a:pPr algn="just">
              <a:lnSpc>
                <a:spcPct val="150000"/>
              </a:lnSpc>
            </a:pPr>
            <a:r>
              <a:rPr lang="en-US" sz="2800" b="1" dirty="0">
                <a:latin typeface="Times New Roman" panose="02020603050405020304" pitchFamily="18" charset="0"/>
                <a:cs typeface="Times New Roman" panose="02020603050405020304" pitchFamily="18" charset="0"/>
              </a:rPr>
              <a:t>We are </a:t>
            </a:r>
            <a:r>
              <a:rPr lang="en-US" sz="2800" b="1">
                <a:latin typeface="Times New Roman" panose="02020603050405020304" pitchFamily="18" charset="0"/>
                <a:cs typeface="Times New Roman" panose="02020603050405020304" pitchFamily="18" charset="0"/>
              </a:rPr>
              <a:t>first </a:t>
            </a:r>
            <a:r>
              <a:rPr lang="en-US" sz="2800" b="1" smtClean="0">
                <a:latin typeface="Times New Roman" panose="02020603050405020304" pitchFamily="18" charset="0"/>
                <a:cs typeface="Times New Roman" panose="02020603050405020304" pitchFamily="18" charset="0"/>
              </a:rPr>
              <a:t>going </a:t>
            </a:r>
            <a:r>
              <a:rPr lang="en-US" sz="2800" b="1" dirty="0">
                <a:latin typeface="Times New Roman" panose="02020603050405020304" pitchFamily="18" charset="0"/>
                <a:cs typeface="Times New Roman" panose="02020603050405020304" pitchFamily="18" charset="0"/>
              </a:rPr>
              <a:t>to look into methods and algorithms for memory allocation for processes handling.</a:t>
            </a:r>
          </a:p>
          <a:p>
            <a:pPr algn="just">
              <a:lnSpc>
                <a:spcPct val="150000"/>
              </a:lnSpc>
            </a:pPr>
            <a:endParaRPr lang="en-US" sz="24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9906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Techniques for processes and Disks</a:t>
            </a:r>
            <a:endParaRPr lang="en-US" sz="3200" b="1" dirty="0">
              <a:solidFill>
                <a:srgbClr val="FF0000"/>
              </a:solidFill>
              <a:latin typeface="Times New Roman" pitchFamily="18" charset="0"/>
            </a:endParaRPr>
          </a:p>
        </p:txBody>
      </p:sp>
    </p:spTree>
    <p:extLst>
      <p:ext uri="{BB962C8B-B14F-4D97-AF65-F5344CB8AC3E}">
        <p14:creationId xmlns:p14="http://schemas.microsoft.com/office/powerpoint/2010/main" val="355564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5146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Memory Management Techniques for Processes</a:t>
            </a:r>
          </a:p>
        </p:txBody>
      </p:sp>
    </p:spTree>
    <p:extLst>
      <p:ext uri="{BB962C8B-B14F-4D97-AF65-F5344CB8AC3E}">
        <p14:creationId xmlns:p14="http://schemas.microsoft.com/office/powerpoint/2010/main" val="1562948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678760"/>
          </a:xfrm>
        </p:spPr>
        <p:txBody>
          <a:bodyPr>
            <a:noAutofit/>
          </a:bodyPr>
          <a:lstStyle/>
          <a:p>
            <a:pPr marL="0" indent="0" algn="just">
              <a:lnSpc>
                <a:spcPct val="150000"/>
              </a:lnSpc>
              <a:buNone/>
            </a:pPr>
            <a:r>
              <a:rPr lang="en-US" sz="2800" b="1" dirty="0">
                <a:latin typeface="Times New Roman" panose="02020603050405020304" pitchFamily="18" charset="0"/>
                <a:cs typeface="Times New Roman" panose="02020603050405020304" pitchFamily="18" charset="0"/>
              </a:rPr>
              <a:t>We will study following methods and algorithms for  memory management regarding process handling.</a:t>
            </a:r>
          </a:p>
          <a:p>
            <a:pPr algn="just">
              <a:lnSpc>
                <a:spcPct val="150000"/>
              </a:lnSpc>
            </a:pPr>
            <a:r>
              <a:rPr lang="en-US" sz="2800" b="1" dirty="0">
                <a:solidFill>
                  <a:schemeClr val="tx2">
                    <a:lumMod val="60000"/>
                    <a:lumOff val="40000"/>
                  </a:schemeClr>
                </a:solidFill>
                <a:latin typeface="Times New Roman" panose="02020603050405020304" pitchFamily="18" charset="0"/>
                <a:cs typeface="Times New Roman" panose="02020603050405020304" pitchFamily="18" charset="0"/>
              </a:rPr>
              <a:t>Data Compaction Method (during swapping)</a:t>
            </a:r>
          </a:p>
          <a:p>
            <a:pPr marL="0" indent="0" algn="just">
              <a:lnSpc>
                <a:spcPct val="150000"/>
              </a:lnSpc>
              <a:buNone/>
            </a:pPr>
            <a:r>
              <a:rPr lang="en-US" sz="2800" b="1" dirty="0">
                <a:latin typeface="Times New Roman" panose="02020603050405020304" pitchFamily="18" charset="0"/>
                <a:cs typeface="Times New Roman" panose="02020603050405020304" pitchFamily="18" charset="0"/>
              </a:rPr>
              <a:t>Memory allocation for processes:</a:t>
            </a:r>
          </a:p>
          <a:p>
            <a:pPr algn="just">
              <a:lnSpc>
                <a:spcPct val="150000"/>
              </a:lnSpc>
            </a:pPr>
            <a:r>
              <a:rPr lang="en-US" altLang="en-US" sz="2800" b="1" dirty="0">
                <a:solidFill>
                  <a:schemeClr val="tx2">
                    <a:lumMod val="60000"/>
                    <a:lumOff val="40000"/>
                  </a:schemeClr>
                </a:solidFill>
                <a:latin typeface="Times New Roman" panose="02020603050405020304" pitchFamily="18" charset="0"/>
                <a:cs typeface="Times New Roman" panose="02020603050405020304" pitchFamily="18" charset="0"/>
              </a:rPr>
              <a:t>First Fit (FF)</a:t>
            </a:r>
          </a:p>
          <a:p>
            <a:pPr algn="just">
              <a:lnSpc>
                <a:spcPct val="150000"/>
              </a:lnSpc>
            </a:pPr>
            <a:r>
              <a:rPr lang="en-US" altLang="en-US" sz="2800" b="1" dirty="0">
                <a:solidFill>
                  <a:schemeClr val="tx2">
                    <a:lumMod val="60000"/>
                    <a:lumOff val="40000"/>
                  </a:schemeClr>
                </a:solidFill>
                <a:latin typeface="Times New Roman" panose="02020603050405020304" pitchFamily="18" charset="0"/>
                <a:cs typeface="Times New Roman" panose="02020603050405020304" pitchFamily="18" charset="0"/>
              </a:rPr>
              <a:t>Next Fit (NF)</a:t>
            </a:r>
          </a:p>
          <a:p>
            <a:pPr algn="just">
              <a:lnSpc>
                <a:spcPct val="150000"/>
              </a:lnSpc>
            </a:pPr>
            <a:r>
              <a:rPr lang="en-US" altLang="en-US" sz="2800" b="1" dirty="0">
                <a:solidFill>
                  <a:schemeClr val="tx2">
                    <a:lumMod val="60000"/>
                    <a:lumOff val="40000"/>
                  </a:schemeClr>
                </a:solidFill>
                <a:latin typeface="Times New Roman" panose="02020603050405020304" pitchFamily="18" charset="0"/>
                <a:cs typeface="Times New Roman" panose="02020603050405020304" pitchFamily="18" charset="0"/>
              </a:rPr>
              <a:t>Best Fit (BF)</a:t>
            </a:r>
          </a:p>
          <a:p>
            <a:pPr algn="just">
              <a:lnSpc>
                <a:spcPct val="150000"/>
              </a:lnSpc>
            </a:pPr>
            <a:r>
              <a:rPr lang="en-US" altLang="en-US" sz="2800" b="1" dirty="0">
                <a:solidFill>
                  <a:schemeClr val="tx2">
                    <a:lumMod val="60000"/>
                    <a:lumOff val="40000"/>
                  </a:schemeClr>
                </a:solidFill>
                <a:latin typeface="Times New Roman" panose="02020603050405020304" pitchFamily="18" charset="0"/>
                <a:cs typeface="Times New Roman" panose="02020603050405020304" pitchFamily="18" charset="0"/>
              </a:rPr>
              <a:t>Worst Fit (WF)</a:t>
            </a:r>
          </a:p>
          <a:p>
            <a:pPr algn="just">
              <a:lnSpc>
                <a:spcPct val="150000"/>
              </a:lnSpc>
            </a:pPr>
            <a:endParaRPr lang="en-US" sz="24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9906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Memory Management Techniques for Processes</a:t>
            </a:r>
            <a:endParaRPr lang="en-US" sz="3200" b="1" dirty="0">
              <a:solidFill>
                <a:srgbClr val="FF0000"/>
              </a:solidFill>
              <a:latin typeface="Times New Roman" pitchFamily="18" charset="0"/>
            </a:endParaRPr>
          </a:p>
        </p:txBody>
      </p:sp>
    </p:spTree>
    <p:extLst>
      <p:ext uri="{BB962C8B-B14F-4D97-AF65-F5344CB8AC3E}">
        <p14:creationId xmlns:p14="http://schemas.microsoft.com/office/powerpoint/2010/main" val="106774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DATA COMPACTION METHOD DURING SWAPPING</a:t>
            </a:r>
          </a:p>
        </p:txBody>
      </p:sp>
    </p:spTree>
    <p:extLst>
      <p:ext uri="{BB962C8B-B14F-4D97-AF65-F5344CB8AC3E}">
        <p14:creationId xmlns:p14="http://schemas.microsoft.com/office/powerpoint/2010/main" val="924655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Definition: </a:t>
            </a:r>
            <a:r>
              <a:rPr lang="en-US" b="1" dirty="0">
                <a:solidFill>
                  <a:srgbClr val="FF0000"/>
                </a:solidFill>
                <a:latin typeface="Times New Roman" panose="02020603050405020304" pitchFamily="18" charset="0"/>
                <a:cs typeface="Times New Roman" panose="02020603050405020304" pitchFamily="18" charset="0"/>
              </a:rPr>
              <a:t>Swapping</a:t>
            </a:r>
            <a:r>
              <a:rPr lang="en-US" dirty="0">
                <a:latin typeface="Times New Roman" panose="02020603050405020304" pitchFamily="18" charset="0"/>
                <a:cs typeface="Times New Roman" panose="02020603050405020304" pitchFamily="18" charset="0"/>
              </a:rPr>
              <a:t> consists of bringing each process in the memory, running it for a while and then putting it back on the disk.</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DATA COMPACTION: </a:t>
            </a:r>
            <a:r>
              <a:rPr lang="en-US" sz="3600" b="1" dirty="0">
                <a:solidFill>
                  <a:srgbClr val="FF0000"/>
                </a:solidFill>
                <a:latin typeface="Times New Roman" pitchFamily="18" charset="0"/>
              </a:rPr>
              <a:t>RECALL</a:t>
            </a:r>
          </a:p>
        </p:txBody>
      </p:sp>
      <p:pic>
        <p:nvPicPr>
          <p:cNvPr id="4" name="Picture 3">
            <a:extLst>
              <a:ext uri="{FF2B5EF4-FFF2-40B4-BE49-F238E27FC236}">
                <a16:creationId xmlns="" xmlns:a16="http://schemas.microsoft.com/office/drawing/2014/main" id="{208992A6-0590-464A-B6C9-854F2B722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494" y="3256958"/>
            <a:ext cx="5815012" cy="3412402"/>
          </a:xfrm>
          <a:prstGeom prst="rect">
            <a:avLst/>
          </a:prstGeom>
        </p:spPr>
      </p:pic>
    </p:spTree>
    <p:extLst>
      <p:ext uri="{BB962C8B-B14F-4D97-AF65-F5344CB8AC3E}">
        <p14:creationId xmlns:p14="http://schemas.microsoft.com/office/powerpoint/2010/main" val="101657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150000"/>
              </a:lnSpc>
            </a:pPr>
            <a:r>
              <a:rPr lang="en-US" altLang="en-US" sz="2800" b="1" dirty="0">
                <a:solidFill>
                  <a:srgbClr val="FF0000"/>
                </a:solidFill>
                <a:latin typeface="Times New Roman" panose="02020603050405020304" pitchFamily="18" charset="0"/>
                <a:cs typeface="Times New Roman" panose="02020603050405020304" pitchFamily="18" charset="0"/>
              </a:rPr>
              <a:t>Definition:</a:t>
            </a:r>
            <a:r>
              <a:rPr lang="en-US" altLang="en-US" sz="2800" b="1"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When swapping creates multiple holes in memory, it is possible to combine then into one big hole and then moving all the processes one by one downwards. This technique is called data compaction.</a:t>
            </a: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DATA COMPACTION</a:t>
            </a:r>
          </a:p>
        </p:txBody>
      </p:sp>
      <p:pic>
        <p:nvPicPr>
          <p:cNvPr id="4" name="Picture 3">
            <a:extLst>
              <a:ext uri="{FF2B5EF4-FFF2-40B4-BE49-F238E27FC236}">
                <a16:creationId xmlns="" xmlns:a16="http://schemas.microsoft.com/office/drawing/2014/main" id="{558F5321-8A3C-4306-BEDE-919A24585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733800"/>
            <a:ext cx="104775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5" name="Table 4">
            <a:extLst>
              <a:ext uri="{FF2B5EF4-FFF2-40B4-BE49-F238E27FC236}">
                <a16:creationId xmlns="" xmlns:a16="http://schemas.microsoft.com/office/drawing/2014/main" id="{A4A62EC6-EFA2-4954-A6B3-4C38CB6A374A}"/>
              </a:ext>
            </a:extLst>
          </p:cNvPr>
          <p:cNvGraphicFramePr>
            <a:graphicFrameLocks noGrp="1"/>
          </p:cNvGraphicFramePr>
          <p:nvPr>
            <p:extLst>
              <p:ext uri="{D42A27DB-BD31-4B8C-83A1-F6EECF244321}">
                <p14:modId xmlns:p14="http://schemas.microsoft.com/office/powerpoint/2010/main" val="624233277"/>
              </p:ext>
            </p:extLst>
          </p:nvPr>
        </p:nvGraphicFramePr>
        <p:xfrm>
          <a:off x="5381625" y="3848100"/>
          <a:ext cx="1071562" cy="2671763"/>
        </p:xfrm>
        <a:graphic>
          <a:graphicData uri="http://schemas.openxmlformats.org/drawingml/2006/table">
            <a:tbl>
              <a:tblPr firstRow="1" bandRow="1">
                <a:tableStyleId>{C4B1156A-380E-4F78-BDF5-A606A8083BF9}</a:tableStyleId>
              </a:tblPr>
              <a:tblGrid>
                <a:gridCol w="1071562">
                  <a:extLst>
                    <a:ext uri="{9D8B030D-6E8A-4147-A177-3AD203B41FA5}">
                      <a16:colId xmlns="" xmlns:a16="http://schemas.microsoft.com/office/drawing/2014/main" val="20000"/>
                    </a:ext>
                  </a:extLst>
                </a:gridCol>
              </a:tblGrid>
              <a:tr h="878173">
                <a:tc>
                  <a:txBody>
                    <a:bodyPr/>
                    <a:lstStyle/>
                    <a:p>
                      <a:pPr algn="ctr"/>
                      <a:endParaRPr lang="en-US" sz="1400" dirty="0"/>
                    </a:p>
                  </a:txBody>
                  <a:tcPr marL="91439" marR="91439" marT="45714" marB="45714">
                    <a:noFill/>
                  </a:tcPr>
                </a:tc>
                <a:extLst>
                  <a:ext uri="{0D108BD9-81ED-4DB2-BD59-A6C34878D82A}">
                    <a16:rowId xmlns="" xmlns:a16="http://schemas.microsoft.com/office/drawing/2014/main" val="10000"/>
                  </a:ext>
                </a:extLst>
              </a:tr>
              <a:tr h="548680">
                <a:tc>
                  <a:txBody>
                    <a:bodyPr/>
                    <a:lstStyle/>
                    <a:p>
                      <a:pPr algn="ctr"/>
                      <a:endParaRPr lang="en-US" sz="700" dirty="0"/>
                    </a:p>
                    <a:p>
                      <a:pPr algn="ctr"/>
                      <a:r>
                        <a:rPr lang="en-US" sz="1400" dirty="0"/>
                        <a:t>C</a:t>
                      </a:r>
                    </a:p>
                  </a:txBody>
                  <a:tcPr marL="91439" marR="91439" marT="45714" marB="45714">
                    <a:noFill/>
                  </a:tcPr>
                </a:tc>
                <a:extLst>
                  <a:ext uri="{0D108BD9-81ED-4DB2-BD59-A6C34878D82A}">
                    <a16:rowId xmlns="" xmlns:a16="http://schemas.microsoft.com/office/drawing/2014/main" val="10001"/>
                  </a:ext>
                </a:extLst>
              </a:tr>
              <a:tr h="384491">
                <a:tc>
                  <a:txBody>
                    <a:bodyPr/>
                    <a:lstStyle/>
                    <a:p>
                      <a:pPr algn="ctr"/>
                      <a:r>
                        <a:rPr lang="en-US" sz="1400" dirty="0"/>
                        <a:t>B</a:t>
                      </a:r>
                    </a:p>
                  </a:txBody>
                  <a:tcPr marL="91439" marR="91439" marT="45714" marB="45714">
                    <a:noFill/>
                  </a:tcPr>
                </a:tc>
                <a:extLst>
                  <a:ext uri="{0D108BD9-81ED-4DB2-BD59-A6C34878D82A}">
                    <a16:rowId xmlns="" xmlns:a16="http://schemas.microsoft.com/office/drawing/2014/main" val="10002"/>
                  </a:ext>
                </a:extLst>
              </a:tr>
              <a:tr h="318674">
                <a:tc>
                  <a:txBody>
                    <a:bodyPr/>
                    <a:lstStyle/>
                    <a:p>
                      <a:pPr algn="ctr"/>
                      <a:r>
                        <a:rPr lang="en-US" sz="1400" dirty="0"/>
                        <a:t>D</a:t>
                      </a:r>
                    </a:p>
                  </a:txBody>
                  <a:tcPr marL="91439" marR="91439" marT="45714" marB="45714">
                    <a:noFill/>
                  </a:tcPr>
                </a:tc>
                <a:extLst>
                  <a:ext uri="{0D108BD9-81ED-4DB2-BD59-A6C34878D82A}">
                    <a16:rowId xmlns="" xmlns:a16="http://schemas.microsoft.com/office/drawing/2014/main" val="10003"/>
                  </a:ext>
                </a:extLst>
              </a:tr>
              <a:tr h="541745">
                <a:tc>
                  <a:txBody>
                    <a:bodyPr/>
                    <a:lstStyle/>
                    <a:p>
                      <a:pPr algn="ctr"/>
                      <a:r>
                        <a:rPr lang="en-US" sz="1400" dirty="0"/>
                        <a:t>Operating system</a:t>
                      </a:r>
                    </a:p>
                  </a:txBody>
                  <a:tcPr marL="91439" marR="91439" marT="45714" marB="45714">
                    <a:noFill/>
                  </a:tcPr>
                </a:tc>
                <a:extLst>
                  <a:ext uri="{0D108BD9-81ED-4DB2-BD59-A6C34878D82A}">
                    <a16:rowId xmlns="" xmlns:a16="http://schemas.microsoft.com/office/drawing/2014/main" val="10004"/>
                  </a:ext>
                </a:extLst>
              </a:tr>
            </a:tbl>
          </a:graphicData>
        </a:graphic>
      </p:graphicFrame>
      <p:cxnSp>
        <p:nvCxnSpPr>
          <p:cNvPr id="6" name="Straight Arrow Connector 9">
            <a:extLst>
              <a:ext uri="{FF2B5EF4-FFF2-40B4-BE49-F238E27FC236}">
                <a16:creationId xmlns="" xmlns:a16="http://schemas.microsoft.com/office/drawing/2014/main" id="{286FA37F-50CA-4BE7-B1CA-6D80C1423E65}"/>
              </a:ext>
            </a:extLst>
          </p:cNvPr>
          <p:cNvCxnSpPr>
            <a:cxnSpLocks noChangeShapeType="1"/>
          </p:cNvCxnSpPr>
          <p:nvPr/>
        </p:nvCxnSpPr>
        <p:spPr bwMode="auto">
          <a:xfrm>
            <a:off x="3714750" y="5148263"/>
            <a:ext cx="1666875" cy="142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 name="TextBox 10">
            <a:extLst>
              <a:ext uri="{FF2B5EF4-FFF2-40B4-BE49-F238E27FC236}">
                <a16:creationId xmlns="" xmlns:a16="http://schemas.microsoft.com/office/drawing/2014/main" id="{A1BC3430-42EC-467A-899A-37AA93B1A8FF}"/>
              </a:ext>
            </a:extLst>
          </p:cNvPr>
          <p:cNvSpPr txBox="1">
            <a:spLocks noChangeArrowheads="1"/>
          </p:cNvSpPr>
          <p:nvPr/>
        </p:nvSpPr>
        <p:spPr bwMode="auto">
          <a:xfrm>
            <a:off x="3810000" y="4886325"/>
            <a:ext cx="13573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t>Data Compaction</a:t>
            </a:r>
          </a:p>
        </p:txBody>
      </p:sp>
    </p:spTree>
    <p:extLst>
      <p:ext uri="{BB962C8B-B14F-4D97-AF65-F5344CB8AC3E}">
        <p14:creationId xmlns:p14="http://schemas.microsoft.com/office/powerpoint/2010/main" val="269127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9144000" cy="5715000"/>
          </a:xfrm>
        </p:spPr>
        <p:txBody>
          <a:bodyPr>
            <a:noAutofit/>
          </a:bodyPr>
          <a:lstStyle/>
          <a:p>
            <a:pPr algn="just">
              <a:defRPr/>
            </a:pPr>
            <a:r>
              <a:rPr lang="en-US" sz="2800" b="1" dirty="0">
                <a:solidFill>
                  <a:srgbClr val="FF0000"/>
                </a:solidFill>
                <a:latin typeface="Times New Roman" panose="02020603050405020304" pitchFamily="18" charset="0"/>
                <a:cs typeface="Times New Roman" panose="02020603050405020304" pitchFamily="18" charset="0"/>
              </a:rPr>
              <a:t>How much memory should be allocated for a process when it is swapped in?</a:t>
            </a:r>
          </a:p>
          <a:p>
            <a:pPr algn="just">
              <a:defRPr/>
            </a:pPr>
            <a:endParaRPr lang="en-US" sz="28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US" sz="2800" dirty="0">
                <a:latin typeface="Times New Roman" panose="02020603050405020304" pitchFamily="18" charset="0"/>
                <a:cs typeface="Times New Roman" panose="02020603050405020304" pitchFamily="18" charset="0"/>
              </a:rPr>
              <a:t>OS allocates exactly what is needed if process is of fixed size.</a:t>
            </a:r>
          </a:p>
          <a:p>
            <a:pPr algn="just">
              <a:defRPr/>
            </a:pPr>
            <a:endParaRPr lang="en-US" sz="2800" dirty="0">
              <a:latin typeface="Times New Roman" panose="02020603050405020304" pitchFamily="18" charset="0"/>
              <a:cs typeface="Times New Roman" panose="02020603050405020304" pitchFamily="18" charset="0"/>
            </a:endParaRPr>
          </a:p>
          <a:p>
            <a:pPr marL="168275" indent="-168275" algn="just">
              <a:buFont typeface="Wingdings" pitchFamily="2" charset="2"/>
              <a:buChar char="§"/>
              <a:defRPr/>
            </a:pPr>
            <a:r>
              <a:rPr lang="en-US" sz="2800" dirty="0">
                <a:latin typeface="Times New Roman" panose="02020603050405020304" pitchFamily="18" charset="0"/>
                <a:cs typeface="Times New Roman" panose="02020603050405020304" pitchFamily="18" charset="0"/>
              </a:rPr>
              <a:t>If a hole is adjacent to the process, it can be allocated and the process allowed to grow into the hole.</a:t>
            </a: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DATA COMPACTION</a:t>
            </a:r>
          </a:p>
        </p:txBody>
      </p:sp>
    </p:spTree>
    <p:extLst>
      <p:ext uri="{BB962C8B-B14F-4D97-AF65-F5344CB8AC3E}">
        <p14:creationId xmlns:p14="http://schemas.microsoft.com/office/powerpoint/2010/main" val="293343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nSpc>
                <a:spcPct val="150000"/>
              </a:lnSpc>
              <a:defRPr/>
            </a:pPr>
            <a:r>
              <a:rPr lang="en-US" sz="2400" b="1" dirty="0">
                <a:latin typeface="Times New Roman" panose="02020603050405020304" pitchFamily="18" charset="0"/>
                <a:cs typeface="Times New Roman" panose="02020603050405020304" pitchFamily="18" charset="0"/>
              </a:rPr>
              <a:t>What if the process is adjacent to another process ?</a:t>
            </a:r>
            <a:endParaRPr lang="en-US" sz="2400" dirty="0">
              <a:latin typeface="Times New Roman" panose="02020603050405020304" pitchFamily="18" charset="0"/>
              <a:cs typeface="Times New Roman" panose="02020603050405020304" pitchFamily="18" charset="0"/>
            </a:endParaRPr>
          </a:p>
          <a:p>
            <a:pPr marL="349250" indent="-349250" algn="just">
              <a:lnSpc>
                <a:spcPct val="150000"/>
              </a:lnSpc>
              <a:defRPr/>
            </a:pPr>
            <a:r>
              <a:rPr lang="en-US" sz="2400" dirty="0">
                <a:latin typeface="Times New Roman" panose="02020603050405020304" pitchFamily="18" charset="0"/>
                <a:cs typeface="Times New Roman" panose="02020603050405020304" pitchFamily="18" charset="0"/>
              </a:rPr>
              <a:t>The growing process will have to be moved to another  available hole large enough for it.</a:t>
            </a:r>
          </a:p>
          <a:p>
            <a:pPr marL="396875" indent="-396875" algn="just">
              <a:lnSpc>
                <a:spcPct val="150000"/>
              </a:lnSpc>
              <a:defRPr/>
            </a:pPr>
            <a:r>
              <a:rPr lang="en-US" sz="2400" dirty="0">
                <a:latin typeface="Times New Roman" panose="02020603050405020304" pitchFamily="18" charset="0"/>
                <a:cs typeface="Times New Roman" panose="02020603050405020304" pitchFamily="18" charset="0"/>
              </a:rPr>
              <a:t>One or more processes will have to be swapped out to create large enough hole.</a:t>
            </a:r>
          </a:p>
          <a:p>
            <a:pPr>
              <a:lnSpc>
                <a:spcPct val="150000"/>
              </a:lnSpc>
              <a:defRPr/>
            </a:pPr>
            <a:r>
              <a:rPr lang="en-US" sz="2400" b="1" dirty="0">
                <a:latin typeface="Times New Roman" panose="02020603050405020304" pitchFamily="18" charset="0"/>
                <a:cs typeface="Times New Roman" panose="02020603050405020304" pitchFamily="18" charset="0"/>
              </a:rPr>
              <a:t>What if a process cannot grow in memory and the swap area on the disk is full?</a:t>
            </a:r>
            <a:endParaRPr lang="en-US" sz="2400" dirty="0">
              <a:latin typeface="Times New Roman" panose="02020603050405020304" pitchFamily="18" charset="0"/>
              <a:cs typeface="Times New Roman" panose="02020603050405020304" pitchFamily="18" charset="0"/>
            </a:endParaRPr>
          </a:p>
          <a:p>
            <a:pPr>
              <a:lnSpc>
                <a:spcPct val="150000"/>
              </a:lnSpc>
              <a:defRPr/>
            </a:pPr>
            <a:r>
              <a:rPr lang="en-US" sz="2400" dirty="0">
                <a:latin typeface="Times New Roman" panose="02020603050405020304" pitchFamily="18" charset="0"/>
                <a:cs typeface="Times New Roman" panose="02020603050405020304" pitchFamily="18" charset="0"/>
              </a:rPr>
              <a:t>Process will have to wait.</a:t>
            </a:r>
          </a:p>
          <a:p>
            <a:pPr>
              <a:lnSpc>
                <a:spcPct val="150000"/>
              </a:lnSpc>
              <a:defRPr/>
            </a:pPr>
            <a:r>
              <a:rPr lang="en-US" sz="2400" dirty="0">
                <a:latin typeface="Times New Roman" panose="02020603050405020304" pitchFamily="18" charset="0"/>
                <a:cs typeface="Times New Roman" panose="02020603050405020304" pitchFamily="18" charset="0"/>
              </a:rPr>
              <a:t>It will be killed</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DATA COMPACTION</a:t>
            </a:r>
          </a:p>
        </p:txBody>
      </p:sp>
    </p:spTree>
    <p:extLst>
      <p:ext uri="{BB962C8B-B14F-4D97-AF65-F5344CB8AC3E}">
        <p14:creationId xmlns:p14="http://schemas.microsoft.com/office/powerpoint/2010/main" val="77677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Process Memory Allocation Algorithms</a:t>
            </a:r>
          </a:p>
        </p:txBody>
      </p:sp>
    </p:spTree>
    <p:extLst>
      <p:ext uri="{BB962C8B-B14F-4D97-AF65-F5344CB8AC3E}">
        <p14:creationId xmlns:p14="http://schemas.microsoft.com/office/powerpoint/2010/main" val="496609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150000"/>
              </a:lnSpc>
              <a:defRPr/>
            </a:pPr>
            <a:r>
              <a:rPr lang="en-US" sz="2800" b="1" dirty="0">
                <a:latin typeface="Times New Roman" panose="02020603050405020304" pitchFamily="18" charset="0"/>
                <a:cs typeface="Times New Roman" panose="02020603050405020304" pitchFamily="18" charset="0"/>
              </a:rPr>
              <a:t>Just like we studied algorithms to avoid deadlocks among processes, we need algorithms to allocate memory to the processes.</a:t>
            </a:r>
          </a:p>
          <a:p>
            <a:pPr marL="0" indent="0" algn="just">
              <a:lnSpc>
                <a:spcPct val="150000"/>
              </a:lnSpc>
              <a:buNone/>
              <a:defRPr/>
            </a:pPr>
            <a:endParaRPr lang="en-US" alt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sz="2800" b="1" dirty="0">
              <a:latin typeface="Times New Roman" panose="02020603050405020304" pitchFamily="18" charset="0"/>
              <a:cs typeface="Times New Roman" panose="02020603050405020304" pitchFamily="18" charset="0"/>
            </a:endParaRPr>
          </a:p>
          <a:p>
            <a:pPr algn="just">
              <a:lnSpc>
                <a:spcPct val="150000"/>
              </a:lnSpc>
              <a:defRPr/>
            </a:pPr>
            <a:endParaRPr lang="en-US" sz="28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Process Memory Allocation Algorithms</a:t>
            </a:r>
          </a:p>
        </p:txBody>
      </p:sp>
    </p:spTree>
    <p:extLst>
      <p:ext uri="{BB962C8B-B14F-4D97-AF65-F5344CB8AC3E}">
        <p14:creationId xmlns:p14="http://schemas.microsoft.com/office/powerpoint/2010/main" val="18727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eaLnBrk="0" hangingPunct="0">
              <a:lnSpc>
                <a:spcPct val="150000"/>
              </a:lnSpc>
              <a:defRPr/>
            </a:pPr>
            <a:r>
              <a:rPr lang="en-US" altLang="en-US" b="1" dirty="0">
                <a:solidFill>
                  <a:srgbClr val="FF0000"/>
                </a:solidFill>
                <a:latin typeface="Times New Roman" panose="02020603050405020304" pitchFamily="18" charset="0"/>
                <a:cs typeface="Times New Roman" panose="02020603050405020304" pitchFamily="18" charset="0"/>
              </a:rPr>
              <a:t>These algorithms helps an </a:t>
            </a:r>
            <a:r>
              <a:rPr lang="en-US" b="1" kern="0" dirty="0">
                <a:solidFill>
                  <a:srgbClr val="FF0000"/>
                </a:solidFill>
                <a:latin typeface="Times New Roman" panose="02020603050405020304" pitchFamily="18" charset="0"/>
                <a:cs typeface="Times New Roman" panose="02020603050405020304" pitchFamily="18" charset="0"/>
              </a:rPr>
              <a:t>Operating system to decide which free block to allocate to a process.</a:t>
            </a:r>
          </a:p>
          <a:p>
            <a:pPr algn="just" eaLnBrk="0" hangingPunct="0">
              <a:lnSpc>
                <a:spcPct val="150000"/>
              </a:lnSpc>
              <a:defRPr/>
            </a:pPr>
            <a:r>
              <a:rPr lang="en-US" altLang="en-US" b="1" dirty="0">
                <a:solidFill>
                  <a:srgbClr val="FF0000"/>
                </a:solidFill>
                <a:latin typeface="Times New Roman" panose="02020603050405020304" pitchFamily="18" charset="0"/>
                <a:cs typeface="Times New Roman" panose="02020603050405020304" pitchFamily="18" charset="0"/>
              </a:rPr>
              <a:t>These algorithms are used to allocate memory for newly created process or existing process swapped in from the disk.</a:t>
            </a:r>
          </a:p>
          <a:p>
            <a:pPr marL="0" indent="0" algn="just" eaLnBrk="0" hangingPunct="0">
              <a:lnSpc>
                <a:spcPct val="150000"/>
              </a:lnSpc>
              <a:buNone/>
              <a:defRPr/>
            </a:pPr>
            <a:endParaRPr lang="en-US" b="1" kern="0"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alt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Process Memory Allocation Algorithms</a:t>
            </a:r>
          </a:p>
        </p:txBody>
      </p:sp>
    </p:spTree>
    <p:extLst>
      <p:ext uri="{BB962C8B-B14F-4D97-AF65-F5344CB8AC3E}">
        <p14:creationId xmlns:p14="http://schemas.microsoft.com/office/powerpoint/2010/main" val="2971979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marL="0" indent="0" algn="just" eaLnBrk="0" hangingPunct="0">
              <a:lnSpc>
                <a:spcPct val="150000"/>
              </a:lnSpc>
              <a:buNone/>
              <a:defRPr/>
            </a:pPr>
            <a:r>
              <a:rPr lang="en-US" b="1" kern="0" dirty="0">
                <a:latin typeface="Times New Roman" panose="02020603050405020304" pitchFamily="18" charset="0"/>
                <a:cs typeface="Times New Roman" panose="02020603050405020304" pitchFamily="18" charset="0"/>
              </a:rPr>
              <a:t>We will study following algorithms:</a:t>
            </a:r>
          </a:p>
          <a:p>
            <a:pPr marL="514350" indent="-514350" algn="just">
              <a:lnSpc>
                <a:spcPct val="150000"/>
              </a:lnSpc>
              <a:buFont typeface="+mj-lt"/>
              <a:buAutoNum type="arabicPeriod"/>
            </a:pPr>
            <a:r>
              <a:rPr lang="en-US" altLang="en-US" b="1" dirty="0">
                <a:solidFill>
                  <a:srgbClr val="0070C0"/>
                </a:solidFill>
                <a:latin typeface="Times New Roman" panose="02020603050405020304" pitchFamily="18" charset="0"/>
                <a:cs typeface="Times New Roman" panose="02020603050405020304" pitchFamily="18" charset="0"/>
              </a:rPr>
              <a:t>First Fit (FF)</a:t>
            </a:r>
          </a:p>
          <a:p>
            <a:pPr marL="514350" indent="-514350" algn="just">
              <a:lnSpc>
                <a:spcPct val="150000"/>
              </a:lnSpc>
              <a:buFont typeface="+mj-lt"/>
              <a:buAutoNum type="arabicPeriod"/>
            </a:pPr>
            <a:r>
              <a:rPr lang="en-US" altLang="en-US" b="1" dirty="0">
                <a:solidFill>
                  <a:srgbClr val="0070C0"/>
                </a:solidFill>
                <a:latin typeface="Times New Roman" panose="02020603050405020304" pitchFamily="18" charset="0"/>
                <a:cs typeface="Times New Roman" panose="02020603050405020304" pitchFamily="18" charset="0"/>
              </a:rPr>
              <a:t>Next Fit (NF)</a:t>
            </a:r>
          </a:p>
          <a:p>
            <a:pPr marL="514350" indent="-514350" algn="just">
              <a:lnSpc>
                <a:spcPct val="150000"/>
              </a:lnSpc>
              <a:buFont typeface="+mj-lt"/>
              <a:buAutoNum type="arabicPeriod"/>
            </a:pPr>
            <a:r>
              <a:rPr lang="en-US" altLang="en-US" b="1" dirty="0">
                <a:solidFill>
                  <a:srgbClr val="0070C0"/>
                </a:solidFill>
                <a:latin typeface="Times New Roman" panose="02020603050405020304" pitchFamily="18" charset="0"/>
                <a:cs typeface="Times New Roman" panose="02020603050405020304" pitchFamily="18" charset="0"/>
              </a:rPr>
              <a:t>Best Fit (BF)</a:t>
            </a:r>
          </a:p>
          <a:p>
            <a:pPr marL="514350" indent="-514350" algn="just">
              <a:lnSpc>
                <a:spcPct val="150000"/>
              </a:lnSpc>
              <a:buFont typeface="+mj-lt"/>
              <a:buAutoNum type="arabicPeriod"/>
            </a:pPr>
            <a:r>
              <a:rPr lang="en-US" altLang="en-US" b="1" dirty="0">
                <a:solidFill>
                  <a:srgbClr val="0070C0"/>
                </a:solidFill>
                <a:latin typeface="Times New Roman" panose="02020603050405020304" pitchFamily="18" charset="0"/>
                <a:cs typeface="Times New Roman" panose="02020603050405020304" pitchFamily="18" charset="0"/>
              </a:rPr>
              <a:t>Worst Fit (WF)</a:t>
            </a:r>
            <a:endParaRPr lang="en-US" b="1" kern="0"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alt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sz="2800"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200" b="1" dirty="0">
                <a:solidFill>
                  <a:schemeClr val="accent3">
                    <a:lumMod val="75000"/>
                  </a:schemeClr>
                </a:solidFill>
                <a:latin typeface="Times New Roman" pitchFamily="18" charset="0"/>
              </a:rPr>
              <a:t>Process Memory Allocation Algorithms</a:t>
            </a:r>
          </a:p>
        </p:txBody>
      </p:sp>
    </p:spTree>
    <p:extLst>
      <p:ext uri="{BB962C8B-B14F-4D97-AF65-F5344CB8AC3E}">
        <p14:creationId xmlns:p14="http://schemas.microsoft.com/office/powerpoint/2010/main" val="4111149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First Fit(FF) Algorithm</a:t>
            </a:r>
          </a:p>
        </p:txBody>
      </p:sp>
    </p:spTree>
    <p:extLst>
      <p:ext uri="{BB962C8B-B14F-4D97-AF65-F5344CB8AC3E}">
        <p14:creationId xmlns:p14="http://schemas.microsoft.com/office/powerpoint/2010/main" val="4242017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Autofit/>
          </a:bodyPr>
          <a:lstStyle/>
          <a:p>
            <a:pPr algn="just">
              <a:lnSpc>
                <a:spcPct val="150000"/>
              </a:lnSpc>
              <a:defRPr/>
            </a:pPr>
            <a:endParaRPr lang="en-US" dirty="0">
              <a:latin typeface="Times New Roman" panose="02020603050405020304" pitchFamily="18" charset="0"/>
              <a:cs typeface="Times New Roman" panose="02020603050405020304" pitchFamily="18" charset="0"/>
            </a:endParaRPr>
          </a:p>
          <a:p>
            <a:pPr marL="0" lvl="1" indent="0" algn="just">
              <a:lnSpc>
                <a:spcPct val="150000"/>
              </a:lnSpc>
              <a:buNone/>
              <a:defRPr/>
            </a:pPr>
            <a:r>
              <a:rPr lang="en-US" sz="3200" b="1" u="sng" dirty="0">
                <a:latin typeface="Times New Roman" panose="02020603050405020304" pitchFamily="18" charset="0"/>
                <a:cs typeface="Times New Roman" panose="02020603050405020304" pitchFamily="18" charset="0"/>
              </a:rPr>
              <a:t>Definition</a:t>
            </a:r>
            <a:r>
              <a:rPr lang="en-US" sz="3200" b="1" dirty="0">
                <a:latin typeface="Times New Roman" panose="02020603050405020304" pitchFamily="18" charset="0"/>
                <a:cs typeface="Times New Roman" panose="02020603050405020304" pitchFamily="18" charset="0"/>
              </a:rPr>
              <a:t>: </a:t>
            </a:r>
            <a:r>
              <a:rPr lang="en-US" sz="3200" b="1" dirty="0">
                <a:solidFill>
                  <a:srgbClr val="FF0000"/>
                </a:solidFill>
                <a:latin typeface="Times New Roman" panose="02020603050405020304" pitchFamily="18" charset="0"/>
                <a:cs typeface="Times New Roman" panose="02020603050405020304" pitchFamily="18" charset="0"/>
              </a:rPr>
              <a:t>This algorithm scans memory form the beginning and chooses the first available block that is large enough for the </a:t>
            </a:r>
            <a:r>
              <a:rPr lang="en-US" sz="3200" b="1" dirty="0" smtClean="0">
                <a:solidFill>
                  <a:srgbClr val="FF0000"/>
                </a:solidFill>
                <a:latin typeface="Times New Roman" panose="02020603050405020304" pitchFamily="18" charset="0"/>
                <a:cs typeface="Times New Roman" panose="02020603050405020304" pitchFamily="18" charset="0"/>
              </a:rPr>
              <a:t>processes </a:t>
            </a:r>
            <a:r>
              <a:rPr lang="en-US" sz="3200" b="1" dirty="0">
                <a:solidFill>
                  <a:srgbClr val="FF0000"/>
                </a:solidFill>
                <a:latin typeface="Times New Roman" panose="02020603050405020304" pitchFamily="18" charset="0"/>
                <a:cs typeface="Times New Roman" panose="02020603050405020304" pitchFamily="18" charset="0"/>
              </a:rPr>
              <a:t>to fit in.</a:t>
            </a:r>
            <a:endParaRPr lang="en-US" altLang="en-US" sz="3200"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b="1" dirty="0">
              <a:solidFill>
                <a:srgbClr val="FF0000"/>
              </a:solidFill>
              <a:latin typeface="Times New Roman" panose="02020603050405020304" pitchFamily="18" charset="0"/>
              <a:cs typeface="Times New Roman" panose="02020603050405020304" pitchFamily="18" charset="0"/>
            </a:endParaRPr>
          </a:p>
          <a:p>
            <a:pPr algn="just">
              <a:lnSpc>
                <a:spcPct val="150000"/>
              </a:lnSpc>
              <a:defRPr/>
            </a:pP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FIRST FIT(FF)</a:t>
            </a:r>
          </a:p>
        </p:txBody>
      </p:sp>
    </p:spTree>
    <p:extLst>
      <p:ext uri="{BB962C8B-B14F-4D97-AF65-F5344CB8AC3E}">
        <p14:creationId xmlns:p14="http://schemas.microsoft.com/office/powerpoint/2010/main" val="4068367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0"/>
            <a:ext cx="9144000" cy="6096000"/>
          </a:xfrm>
        </p:spPr>
        <p:txBody>
          <a:bodyPr>
            <a:noAutofit/>
          </a:bodyPr>
          <a:lstStyle/>
          <a:p>
            <a:pPr algn="just">
              <a:lnSpc>
                <a:spcPct val="150000"/>
              </a:lnSpc>
              <a:defRPr/>
            </a:pPr>
            <a:r>
              <a:rPr lang="en-US" sz="2800" b="1" dirty="0">
                <a:latin typeface="Times New Roman" panose="02020603050405020304" pitchFamily="18" charset="0"/>
                <a:cs typeface="Times New Roman" panose="02020603050405020304" pitchFamily="18" charset="0"/>
              </a:rPr>
              <a:t>The memory manager scans along the list of segments until it finds a hole that is big enough to fit the process in the memory.</a:t>
            </a:r>
          </a:p>
          <a:p>
            <a:pPr algn="just">
              <a:lnSpc>
                <a:spcPct val="150000"/>
              </a:lnSpc>
              <a:defRPr/>
            </a:pPr>
            <a:r>
              <a:rPr lang="en-US" sz="2800" b="1" dirty="0">
                <a:latin typeface="Times New Roman" panose="02020603050405020304" pitchFamily="18" charset="0"/>
                <a:cs typeface="Times New Roman" panose="02020603050405020304" pitchFamily="18" charset="0"/>
              </a:rPr>
              <a:t>The hole is then broken up into two pieces, one for the process and one for unused memory. </a:t>
            </a:r>
            <a:endParaRPr lang="en-US" sz="2800" b="1" u="sng" dirty="0">
              <a:latin typeface="Times New Roman" panose="02020603050405020304" pitchFamily="18" charset="0"/>
              <a:cs typeface="Times New Roman" panose="02020603050405020304" pitchFamily="18" charset="0"/>
            </a:endParaRPr>
          </a:p>
          <a:p>
            <a:pPr algn="just">
              <a:lnSpc>
                <a:spcPct val="150000"/>
              </a:lnSpc>
              <a:defRPr/>
            </a:pPr>
            <a:r>
              <a:rPr lang="en-US" sz="2800" b="1" dirty="0">
                <a:latin typeface="Times New Roman" panose="02020603050405020304" pitchFamily="18" charset="0"/>
                <a:cs typeface="Times New Roman" panose="02020603050405020304" pitchFamily="18" charset="0"/>
              </a:rPr>
              <a:t>Next time it is called to find a hole, it starts searching the list from the beginning. </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FIRST FIT(FF)</a:t>
            </a:r>
          </a:p>
        </p:txBody>
      </p:sp>
    </p:spTree>
    <p:extLst>
      <p:ext uri="{BB962C8B-B14F-4D97-AF65-F5344CB8AC3E}">
        <p14:creationId xmlns:p14="http://schemas.microsoft.com/office/powerpoint/2010/main" val="137986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5" name="Line 3">
            <a:extLst>
              <a:ext uri="{FF2B5EF4-FFF2-40B4-BE49-F238E27FC236}">
                <a16:creationId xmlns="" xmlns:a16="http://schemas.microsoft.com/office/drawing/2014/main" id="{1EF95FED-4ADC-4ED3-8712-0CE5F27AC658}"/>
              </a:ext>
            </a:extLst>
          </p:cNvPr>
          <p:cNvSpPr>
            <a:spLocks noChangeShapeType="1"/>
          </p:cNvSpPr>
          <p:nvPr/>
        </p:nvSpPr>
        <p:spPr bwMode="auto">
          <a:xfrm>
            <a:off x="1638300" y="3053372"/>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4">
            <a:extLst>
              <a:ext uri="{FF2B5EF4-FFF2-40B4-BE49-F238E27FC236}">
                <a16:creationId xmlns="" xmlns:a16="http://schemas.microsoft.com/office/drawing/2014/main" id="{4390F146-3925-4E8F-B46D-E4D13AED79A6}"/>
              </a:ext>
            </a:extLst>
          </p:cNvPr>
          <p:cNvSpPr>
            <a:spLocks noChangeShapeType="1"/>
          </p:cNvSpPr>
          <p:nvPr/>
        </p:nvSpPr>
        <p:spPr bwMode="auto">
          <a:xfrm flipV="1">
            <a:off x="16383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Rectangle 5">
            <a:extLst>
              <a:ext uri="{FF2B5EF4-FFF2-40B4-BE49-F238E27FC236}">
                <a16:creationId xmlns="" xmlns:a16="http://schemas.microsoft.com/office/drawing/2014/main" id="{829D1A07-24C2-4E6C-ACD2-7F56A6DA1E4D}"/>
              </a:ext>
            </a:extLst>
          </p:cNvPr>
          <p:cNvSpPr>
            <a:spLocks noChangeArrowheads="1"/>
          </p:cNvSpPr>
          <p:nvPr/>
        </p:nvSpPr>
        <p:spPr bwMode="auto">
          <a:xfrm>
            <a:off x="1219200" y="607695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9" name="Rectangle 6">
            <a:extLst>
              <a:ext uri="{FF2B5EF4-FFF2-40B4-BE49-F238E27FC236}">
                <a16:creationId xmlns="" xmlns:a16="http://schemas.microsoft.com/office/drawing/2014/main" id="{7AAEDA85-F1FE-45BD-8994-0A2D70B8EA14}"/>
              </a:ext>
            </a:extLst>
          </p:cNvPr>
          <p:cNvSpPr>
            <a:spLocks noChangeArrowheads="1"/>
          </p:cNvSpPr>
          <p:nvPr/>
        </p:nvSpPr>
        <p:spPr bwMode="auto">
          <a:xfrm>
            <a:off x="5181600" y="5772150"/>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10" name="Rectangle 7">
            <a:extLst>
              <a:ext uri="{FF2B5EF4-FFF2-40B4-BE49-F238E27FC236}">
                <a16:creationId xmlns="" xmlns:a16="http://schemas.microsoft.com/office/drawing/2014/main" id="{69A9E87B-0984-4490-877B-E61933012C17}"/>
              </a:ext>
            </a:extLst>
          </p:cNvPr>
          <p:cNvSpPr>
            <a:spLocks noChangeArrowheads="1"/>
          </p:cNvSpPr>
          <p:nvPr/>
        </p:nvSpPr>
        <p:spPr bwMode="auto">
          <a:xfrm>
            <a:off x="4191000" y="5467350"/>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11" name="Rectangle 8">
            <a:extLst>
              <a:ext uri="{FF2B5EF4-FFF2-40B4-BE49-F238E27FC236}">
                <a16:creationId xmlns="" xmlns:a16="http://schemas.microsoft.com/office/drawing/2014/main" id="{B9ACD49F-219F-4474-909E-F1DF4A1BF656}"/>
              </a:ext>
            </a:extLst>
          </p:cNvPr>
          <p:cNvSpPr>
            <a:spLocks noChangeArrowheads="1"/>
          </p:cNvSpPr>
          <p:nvPr/>
        </p:nvSpPr>
        <p:spPr bwMode="auto">
          <a:xfrm>
            <a:off x="7162800" y="455295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12" name="Rectangle 9">
            <a:extLst>
              <a:ext uri="{FF2B5EF4-FFF2-40B4-BE49-F238E27FC236}">
                <a16:creationId xmlns="" xmlns:a16="http://schemas.microsoft.com/office/drawing/2014/main" id="{33F0BFAD-2C34-4DDE-A60B-BE2AF603C648}"/>
              </a:ext>
            </a:extLst>
          </p:cNvPr>
          <p:cNvSpPr>
            <a:spLocks noChangeArrowheads="1"/>
          </p:cNvSpPr>
          <p:nvPr/>
        </p:nvSpPr>
        <p:spPr bwMode="auto">
          <a:xfrm>
            <a:off x="2209800" y="5772150"/>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13" name="Rectangle 10">
            <a:extLst>
              <a:ext uri="{FF2B5EF4-FFF2-40B4-BE49-F238E27FC236}">
                <a16:creationId xmlns="" xmlns:a16="http://schemas.microsoft.com/office/drawing/2014/main" id="{E9A5613B-0D67-4033-8B6E-27EFA06AA703}"/>
              </a:ext>
            </a:extLst>
          </p:cNvPr>
          <p:cNvSpPr>
            <a:spLocks noChangeArrowheads="1"/>
          </p:cNvSpPr>
          <p:nvPr/>
        </p:nvSpPr>
        <p:spPr bwMode="auto">
          <a:xfrm>
            <a:off x="8153400" y="546735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14" name="Rectangle 12">
            <a:extLst>
              <a:ext uri="{FF2B5EF4-FFF2-40B4-BE49-F238E27FC236}">
                <a16:creationId xmlns="" xmlns:a16="http://schemas.microsoft.com/office/drawing/2014/main" id="{97A899D5-9030-4C2C-B1A0-6E70CACB2765}"/>
              </a:ext>
            </a:extLst>
          </p:cNvPr>
          <p:cNvSpPr>
            <a:spLocks noChangeArrowheads="1"/>
          </p:cNvSpPr>
          <p:nvPr/>
        </p:nvSpPr>
        <p:spPr bwMode="auto">
          <a:xfrm>
            <a:off x="3200400" y="485775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15" name="Rectangle 13">
            <a:extLst>
              <a:ext uri="{FF2B5EF4-FFF2-40B4-BE49-F238E27FC236}">
                <a16:creationId xmlns="" xmlns:a16="http://schemas.microsoft.com/office/drawing/2014/main" id="{74E4EEF8-D4A8-407E-A839-8B5D18D2683C}"/>
              </a:ext>
            </a:extLst>
          </p:cNvPr>
          <p:cNvSpPr>
            <a:spLocks noChangeArrowheads="1"/>
          </p:cNvSpPr>
          <p:nvPr/>
        </p:nvSpPr>
        <p:spPr bwMode="auto">
          <a:xfrm>
            <a:off x="6172200" y="546735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16" name="Line 14">
            <a:extLst>
              <a:ext uri="{FF2B5EF4-FFF2-40B4-BE49-F238E27FC236}">
                <a16:creationId xmlns="" xmlns:a16="http://schemas.microsoft.com/office/drawing/2014/main" id="{7D750A9A-034F-46CE-9EA2-3140DBD84052}"/>
              </a:ext>
            </a:extLst>
          </p:cNvPr>
          <p:cNvSpPr>
            <a:spLocks noChangeShapeType="1"/>
          </p:cNvSpPr>
          <p:nvPr/>
        </p:nvSpPr>
        <p:spPr bwMode="auto">
          <a:xfrm flipV="1">
            <a:off x="65913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5">
            <a:extLst>
              <a:ext uri="{FF2B5EF4-FFF2-40B4-BE49-F238E27FC236}">
                <a16:creationId xmlns="" xmlns:a16="http://schemas.microsoft.com/office/drawing/2014/main" id="{B2DA94A7-18C2-40AE-A3AF-7B3D87C9B7F7}"/>
              </a:ext>
            </a:extLst>
          </p:cNvPr>
          <p:cNvSpPr>
            <a:spLocks noChangeShapeType="1"/>
          </p:cNvSpPr>
          <p:nvPr/>
        </p:nvSpPr>
        <p:spPr bwMode="auto">
          <a:xfrm flipV="1">
            <a:off x="26289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16">
            <a:extLst>
              <a:ext uri="{FF2B5EF4-FFF2-40B4-BE49-F238E27FC236}">
                <a16:creationId xmlns="" xmlns:a16="http://schemas.microsoft.com/office/drawing/2014/main" id="{24ED1640-569D-40B2-977C-940D3FEC84DA}"/>
              </a:ext>
            </a:extLst>
          </p:cNvPr>
          <p:cNvSpPr>
            <a:spLocks noChangeShapeType="1"/>
          </p:cNvSpPr>
          <p:nvPr/>
        </p:nvSpPr>
        <p:spPr bwMode="auto">
          <a:xfrm flipV="1">
            <a:off x="36195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17">
            <a:extLst>
              <a:ext uri="{FF2B5EF4-FFF2-40B4-BE49-F238E27FC236}">
                <a16:creationId xmlns="" xmlns:a16="http://schemas.microsoft.com/office/drawing/2014/main" id="{F1173C77-E3DF-41F8-9DDC-863725914928}"/>
              </a:ext>
            </a:extLst>
          </p:cNvPr>
          <p:cNvSpPr>
            <a:spLocks noChangeShapeType="1"/>
          </p:cNvSpPr>
          <p:nvPr/>
        </p:nvSpPr>
        <p:spPr bwMode="auto">
          <a:xfrm flipV="1">
            <a:off x="46101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8">
            <a:extLst>
              <a:ext uri="{FF2B5EF4-FFF2-40B4-BE49-F238E27FC236}">
                <a16:creationId xmlns="" xmlns:a16="http://schemas.microsoft.com/office/drawing/2014/main" id="{AE257DBE-85F8-41EC-ABD3-D730C23B00C3}"/>
              </a:ext>
            </a:extLst>
          </p:cNvPr>
          <p:cNvSpPr>
            <a:spLocks noChangeShapeType="1"/>
          </p:cNvSpPr>
          <p:nvPr/>
        </p:nvSpPr>
        <p:spPr bwMode="auto">
          <a:xfrm flipV="1">
            <a:off x="56007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20">
            <a:extLst>
              <a:ext uri="{FF2B5EF4-FFF2-40B4-BE49-F238E27FC236}">
                <a16:creationId xmlns="" xmlns:a16="http://schemas.microsoft.com/office/drawing/2014/main" id="{268C730E-201F-40FF-B902-FAA434BEBE37}"/>
              </a:ext>
            </a:extLst>
          </p:cNvPr>
          <p:cNvSpPr>
            <a:spLocks noChangeShapeType="1"/>
          </p:cNvSpPr>
          <p:nvPr/>
        </p:nvSpPr>
        <p:spPr bwMode="auto">
          <a:xfrm flipV="1">
            <a:off x="7581900" y="1224572"/>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Rectangle 21">
            <a:extLst>
              <a:ext uri="{FF2B5EF4-FFF2-40B4-BE49-F238E27FC236}">
                <a16:creationId xmlns="" xmlns:a16="http://schemas.microsoft.com/office/drawing/2014/main" id="{C36AD832-477D-42D7-A879-F0B36D736FF9}"/>
              </a:ext>
            </a:extLst>
          </p:cNvPr>
          <p:cNvSpPr>
            <a:spLocks noChangeArrowheads="1"/>
          </p:cNvSpPr>
          <p:nvPr/>
        </p:nvSpPr>
        <p:spPr bwMode="auto">
          <a:xfrm>
            <a:off x="228600" y="5162550"/>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23" name="Comment 25">
            <a:extLst>
              <a:ext uri="{FF2B5EF4-FFF2-40B4-BE49-F238E27FC236}">
                <a16:creationId xmlns="" xmlns:a16="http://schemas.microsoft.com/office/drawing/2014/main" id="{19E51B14-A6F0-4FBA-B933-A473DA2808BF}"/>
              </a:ext>
            </a:extLst>
          </p:cNvPr>
          <p:cNvSpPr>
            <a:spLocks noChangeArrowheads="1"/>
          </p:cNvSpPr>
          <p:nvPr/>
        </p:nvSpPr>
        <p:spPr bwMode="auto">
          <a:xfrm>
            <a:off x="199464" y="3532247"/>
            <a:ext cx="8839200" cy="830997"/>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400" b="1" dirty="0">
                <a:solidFill>
                  <a:srgbClr val="000000"/>
                </a:solidFill>
              </a:rPr>
              <a:t>Each process will be fitted into the first memory bin(A) that has room for it.</a:t>
            </a:r>
            <a:endParaRPr lang="en-GB" altLang="en-US" sz="2400" dirty="0">
              <a:solidFill>
                <a:srgbClr val="000000"/>
              </a:solidFill>
            </a:endParaRPr>
          </a:p>
        </p:txBody>
      </p:sp>
      <p:sp>
        <p:nvSpPr>
          <p:cNvPr id="24" name="TextBox 21">
            <a:extLst>
              <a:ext uri="{FF2B5EF4-FFF2-40B4-BE49-F238E27FC236}">
                <a16:creationId xmlns="" xmlns:a16="http://schemas.microsoft.com/office/drawing/2014/main" id="{C490FACE-3088-45D2-906C-C2A247CE9C25}"/>
              </a:ext>
            </a:extLst>
          </p:cNvPr>
          <p:cNvSpPr txBox="1">
            <a:spLocks noChangeArrowheads="1"/>
          </p:cNvSpPr>
          <p:nvPr/>
        </p:nvSpPr>
        <p:spPr bwMode="auto">
          <a:xfrm>
            <a:off x="1927225" y="3053372"/>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25" name="TextBox 22">
            <a:extLst>
              <a:ext uri="{FF2B5EF4-FFF2-40B4-BE49-F238E27FC236}">
                <a16:creationId xmlns="" xmlns:a16="http://schemas.microsoft.com/office/drawing/2014/main" id="{6006F1E0-DAAF-47DD-93D1-E41876608C25}"/>
              </a:ext>
            </a:extLst>
          </p:cNvPr>
          <p:cNvSpPr txBox="1">
            <a:spLocks noChangeArrowheads="1"/>
          </p:cNvSpPr>
          <p:nvPr/>
        </p:nvSpPr>
        <p:spPr bwMode="auto">
          <a:xfrm>
            <a:off x="2862263" y="3053372"/>
            <a:ext cx="433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26" name="TextBox 23">
            <a:extLst>
              <a:ext uri="{FF2B5EF4-FFF2-40B4-BE49-F238E27FC236}">
                <a16:creationId xmlns="" xmlns:a16="http://schemas.microsoft.com/office/drawing/2014/main" id="{D5E4F34C-1B69-423C-B3E9-796B27A25119}"/>
              </a:ext>
            </a:extLst>
          </p:cNvPr>
          <p:cNvSpPr txBox="1">
            <a:spLocks noChangeArrowheads="1"/>
          </p:cNvSpPr>
          <p:nvPr/>
        </p:nvSpPr>
        <p:spPr bwMode="auto">
          <a:xfrm>
            <a:off x="3870325" y="3053372"/>
            <a:ext cx="433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27" name="TextBox 24">
            <a:extLst>
              <a:ext uri="{FF2B5EF4-FFF2-40B4-BE49-F238E27FC236}">
                <a16:creationId xmlns="" xmlns:a16="http://schemas.microsoft.com/office/drawing/2014/main" id="{2709C6CF-5DB5-4CB4-BAC6-42F720071155}"/>
              </a:ext>
            </a:extLst>
          </p:cNvPr>
          <p:cNvSpPr txBox="1">
            <a:spLocks noChangeArrowheads="1"/>
          </p:cNvSpPr>
          <p:nvPr/>
        </p:nvSpPr>
        <p:spPr bwMode="auto">
          <a:xfrm>
            <a:off x="4951413" y="3053372"/>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28" name="TextBox 25">
            <a:extLst>
              <a:ext uri="{FF2B5EF4-FFF2-40B4-BE49-F238E27FC236}">
                <a16:creationId xmlns="" xmlns:a16="http://schemas.microsoft.com/office/drawing/2014/main" id="{39948854-C741-4406-96AC-F4897CDE32B8}"/>
              </a:ext>
            </a:extLst>
          </p:cNvPr>
          <p:cNvSpPr txBox="1">
            <a:spLocks noChangeArrowheads="1"/>
          </p:cNvSpPr>
          <p:nvPr/>
        </p:nvSpPr>
        <p:spPr bwMode="auto">
          <a:xfrm>
            <a:off x="5886450" y="3053372"/>
            <a:ext cx="433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29" name="TextBox 26">
            <a:extLst>
              <a:ext uri="{FF2B5EF4-FFF2-40B4-BE49-F238E27FC236}">
                <a16:creationId xmlns="" xmlns:a16="http://schemas.microsoft.com/office/drawing/2014/main" id="{B049EBA3-9E43-4A5C-9938-16E451CD51BD}"/>
              </a:ext>
            </a:extLst>
          </p:cNvPr>
          <p:cNvSpPr txBox="1">
            <a:spLocks noChangeArrowheads="1"/>
          </p:cNvSpPr>
          <p:nvPr/>
        </p:nvSpPr>
        <p:spPr bwMode="auto">
          <a:xfrm>
            <a:off x="6894513" y="3053372"/>
            <a:ext cx="433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
        <p:nvSpPr>
          <p:cNvPr id="30" name="Rectangle 27">
            <a:extLst>
              <a:ext uri="{FF2B5EF4-FFF2-40B4-BE49-F238E27FC236}">
                <a16:creationId xmlns="" xmlns:a16="http://schemas.microsoft.com/office/drawing/2014/main" id="{1327F434-8F18-46E4-B62C-8E8F0BE9A836}"/>
              </a:ext>
            </a:extLst>
          </p:cNvPr>
          <p:cNvSpPr>
            <a:spLocks noChangeArrowheads="1"/>
          </p:cNvSpPr>
          <p:nvPr/>
        </p:nvSpPr>
        <p:spPr bwMode="auto">
          <a:xfrm>
            <a:off x="-76200" y="437464"/>
            <a:ext cx="914400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lvl="2" algn="l" eaLnBrk="1" hangingPunct="1">
              <a:lnSpc>
                <a:spcPct val="90000"/>
              </a:lnSpc>
            </a:pPr>
            <a:r>
              <a:rPr lang="en-US" altLang="en-US" sz="2400" b="1" dirty="0">
                <a:latin typeface="Times New Roman" panose="02020603050405020304" pitchFamily="18" charset="0"/>
                <a:cs typeface="Times New Roman" panose="02020603050405020304" pitchFamily="18" charset="0"/>
              </a:rPr>
              <a:t>Scan all memory holes and place process in the first memory </a:t>
            </a:r>
            <a:r>
              <a:rPr lang="en-US" altLang="en-US" sz="2400" b="1" dirty="0" smtClean="0">
                <a:latin typeface="Times New Roman" panose="02020603050405020304" pitchFamily="18" charset="0"/>
                <a:cs typeface="Times New Roman" panose="02020603050405020304" pitchFamily="18" charset="0"/>
              </a:rPr>
              <a:t>bin </a:t>
            </a:r>
            <a:r>
              <a:rPr lang="en-US" altLang="en-US" sz="2400" b="1" dirty="0">
                <a:latin typeface="Times New Roman" panose="02020603050405020304" pitchFamily="18" charset="0"/>
                <a:cs typeface="Times New Roman" panose="02020603050405020304" pitchFamily="18" charset="0"/>
              </a:rPr>
              <a:t>large enough to hold it</a:t>
            </a:r>
          </a:p>
        </p:txBody>
      </p:sp>
    </p:spTree>
    <p:extLst>
      <p:ext uri="{BB962C8B-B14F-4D97-AF65-F5344CB8AC3E}">
        <p14:creationId xmlns:p14="http://schemas.microsoft.com/office/powerpoint/2010/main" val="12748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31" name="Line 3">
            <a:extLst>
              <a:ext uri="{FF2B5EF4-FFF2-40B4-BE49-F238E27FC236}">
                <a16:creationId xmlns="" xmlns:a16="http://schemas.microsoft.com/office/drawing/2014/main" id="{7055104B-BF76-4DF8-9F25-F5A7D716F2FB}"/>
              </a:ext>
            </a:extLst>
          </p:cNvPr>
          <p:cNvSpPr>
            <a:spLocks noChangeShapeType="1"/>
          </p:cNvSpPr>
          <p:nvPr/>
        </p:nvSpPr>
        <p:spPr bwMode="auto">
          <a:xfrm>
            <a:off x="1476375" y="3241675"/>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4">
            <a:extLst>
              <a:ext uri="{FF2B5EF4-FFF2-40B4-BE49-F238E27FC236}">
                <a16:creationId xmlns="" xmlns:a16="http://schemas.microsoft.com/office/drawing/2014/main" id="{8A51DE3A-7B22-49D9-94AD-2AD149B1D0AC}"/>
              </a:ext>
            </a:extLst>
          </p:cNvPr>
          <p:cNvSpPr>
            <a:spLocks noChangeShapeType="1"/>
          </p:cNvSpPr>
          <p:nvPr/>
        </p:nvSpPr>
        <p:spPr bwMode="auto">
          <a:xfrm flipV="1">
            <a:off x="14763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3">
            <a:extLst>
              <a:ext uri="{FF2B5EF4-FFF2-40B4-BE49-F238E27FC236}">
                <a16:creationId xmlns="" xmlns:a16="http://schemas.microsoft.com/office/drawing/2014/main" id="{D604BC48-CE47-48A3-8A7A-569F0ABA1914}"/>
              </a:ext>
            </a:extLst>
          </p:cNvPr>
          <p:cNvSpPr>
            <a:spLocks noChangeShapeType="1"/>
          </p:cNvSpPr>
          <p:nvPr/>
        </p:nvSpPr>
        <p:spPr bwMode="auto">
          <a:xfrm flipV="1">
            <a:off x="64293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14">
            <a:extLst>
              <a:ext uri="{FF2B5EF4-FFF2-40B4-BE49-F238E27FC236}">
                <a16:creationId xmlns="" xmlns:a16="http://schemas.microsoft.com/office/drawing/2014/main" id="{300DC533-0767-491C-99EF-4C6220D887E0}"/>
              </a:ext>
            </a:extLst>
          </p:cNvPr>
          <p:cNvSpPr>
            <a:spLocks noChangeShapeType="1"/>
          </p:cNvSpPr>
          <p:nvPr/>
        </p:nvSpPr>
        <p:spPr bwMode="auto">
          <a:xfrm flipV="1">
            <a:off x="24669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5">
            <a:extLst>
              <a:ext uri="{FF2B5EF4-FFF2-40B4-BE49-F238E27FC236}">
                <a16:creationId xmlns="" xmlns:a16="http://schemas.microsoft.com/office/drawing/2014/main" id="{339A947D-7FDD-4A77-B2BA-59C9856B9AB4}"/>
              </a:ext>
            </a:extLst>
          </p:cNvPr>
          <p:cNvSpPr>
            <a:spLocks noChangeShapeType="1"/>
          </p:cNvSpPr>
          <p:nvPr/>
        </p:nvSpPr>
        <p:spPr bwMode="auto">
          <a:xfrm flipV="1">
            <a:off x="34575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6">
            <a:extLst>
              <a:ext uri="{FF2B5EF4-FFF2-40B4-BE49-F238E27FC236}">
                <a16:creationId xmlns="" xmlns:a16="http://schemas.microsoft.com/office/drawing/2014/main" id="{B01E3F33-BD30-48E3-B637-FF939F3CD569}"/>
              </a:ext>
            </a:extLst>
          </p:cNvPr>
          <p:cNvSpPr>
            <a:spLocks noChangeShapeType="1"/>
          </p:cNvSpPr>
          <p:nvPr/>
        </p:nvSpPr>
        <p:spPr bwMode="auto">
          <a:xfrm flipV="1">
            <a:off x="44481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7">
            <a:extLst>
              <a:ext uri="{FF2B5EF4-FFF2-40B4-BE49-F238E27FC236}">
                <a16:creationId xmlns="" xmlns:a16="http://schemas.microsoft.com/office/drawing/2014/main" id="{3B35B28E-5AFC-4279-8044-222F49AF3E1B}"/>
              </a:ext>
            </a:extLst>
          </p:cNvPr>
          <p:cNvSpPr>
            <a:spLocks noChangeShapeType="1"/>
          </p:cNvSpPr>
          <p:nvPr/>
        </p:nvSpPr>
        <p:spPr bwMode="auto">
          <a:xfrm flipV="1">
            <a:off x="54387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9">
            <a:extLst>
              <a:ext uri="{FF2B5EF4-FFF2-40B4-BE49-F238E27FC236}">
                <a16:creationId xmlns="" xmlns:a16="http://schemas.microsoft.com/office/drawing/2014/main" id="{1AACACBC-E563-4840-8F60-8E066BCE343F}"/>
              </a:ext>
            </a:extLst>
          </p:cNvPr>
          <p:cNvSpPr>
            <a:spLocks noChangeShapeType="1"/>
          </p:cNvSpPr>
          <p:nvPr/>
        </p:nvSpPr>
        <p:spPr bwMode="auto">
          <a:xfrm flipV="1">
            <a:off x="7419975" y="14128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Rectangle 21">
            <a:extLst>
              <a:ext uri="{FF2B5EF4-FFF2-40B4-BE49-F238E27FC236}">
                <a16:creationId xmlns="" xmlns:a16="http://schemas.microsoft.com/office/drawing/2014/main" id="{E812DF66-F538-47AF-A450-46F743BF738C}"/>
              </a:ext>
            </a:extLst>
          </p:cNvPr>
          <p:cNvSpPr>
            <a:spLocks noChangeArrowheads="1"/>
          </p:cNvSpPr>
          <p:nvPr/>
        </p:nvSpPr>
        <p:spPr bwMode="auto">
          <a:xfrm>
            <a:off x="1552575" y="2022475"/>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40" name="Comment 22">
            <a:extLst>
              <a:ext uri="{FF2B5EF4-FFF2-40B4-BE49-F238E27FC236}">
                <a16:creationId xmlns="" xmlns:a16="http://schemas.microsoft.com/office/drawing/2014/main" id="{11AC6B4C-9C3F-4C3E-87DC-2EB73135C527}"/>
              </a:ext>
            </a:extLst>
          </p:cNvPr>
          <p:cNvSpPr>
            <a:spLocks noChangeArrowheads="1"/>
          </p:cNvSpPr>
          <p:nvPr/>
        </p:nvSpPr>
        <p:spPr bwMode="auto">
          <a:xfrm>
            <a:off x="1219200" y="3698508"/>
            <a:ext cx="6318249" cy="46166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GB" altLang="en-US" sz="2400" b="1" dirty="0">
                <a:solidFill>
                  <a:srgbClr val="000000"/>
                </a:solidFill>
                <a:latin typeface="Times New Roman" panose="02020603050405020304" pitchFamily="18" charset="0"/>
                <a:cs typeface="Times New Roman" panose="02020603050405020304" pitchFamily="18" charset="0"/>
              </a:rPr>
              <a:t>The first process fits into the first memory bin</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
        <p:nvSpPr>
          <p:cNvPr id="41" name="Rectangle 23">
            <a:extLst>
              <a:ext uri="{FF2B5EF4-FFF2-40B4-BE49-F238E27FC236}">
                <a16:creationId xmlns="" xmlns:a16="http://schemas.microsoft.com/office/drawing/2014/main" id="{8C8C93AC-7337-44C0-8234-8F4DC8ED09DF}"/>
              </a:ext>
            </a:extLst>
          </p:cNvPr>
          <p:cNvSpPr>
            <a:spLocks noChangeArrowheads="1"/>
          </p:cNvSpPr>
          <p:nvPr/>
        </p:nvSpPr>
        <p:spPr bwMode="auto">
          <a:xfrm>
            <a:off x="755650" y="607695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42" name="Rectangle 24">
            <a:extLst>
              <a:ext uri="{FF2B5EF4-FFF2-40B4-BE49-F238E27FC236}">
                <a16:creationId xmlns="" xmlns:a16="http://schemas.microsoft.com/office/drawing/2014/main" id="{227CF355-C5DA-44E9-B0B3-DE7B83DBC18F}"/>
              </a:ext>
            </a:extLst>
          </p:cNvPr>
          <p:cNvSpPr>
            <a:spLocks noChangeArrowheads="1"/>
          </p:cNvSpPr>
          <p:nvPr/>
        </p:nvSpPr>
        <p:spPr bwMode="auto">
          <a:xfrm>
            <a:off x="4718050" y="5772150"/>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3" name="Rectangle 25">
            <a:extLst>
              <a:ext uri="{FF2B5EF4-FFF2-40B4-BE49-F238E27FC236}">
                <a16:creationId xmlns="" xmlns:a16="http://schemas.microsoft.com/office/drawing/2014/main" id="{89DFF389-B3B2-427E-9194-E95DA6E2E695}"/>
              </a:ext>
            </a:extLst>
          </p:cNvPr>
          <p:cNvSpPr>
            <a:spLocks noChangeArrowheads="1"/>
          </p:cNvSpPr>
          <p:nvPr/>
        </p:nvSpPr>
        <p:spPr bwMode="auto">
          <a:xfrm>
            <a:off x="3727450" y="5467350"/>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4" name="Rectangle 26">
            <a:extLst>
              <a:ext uri="{FF2B5EF4-FFF2-40B4-BE49-F238E27FC236}">
                <a16:creationId xmlns="" xmlns:a16="http://schemas.microsoft.com/office/drawing/2014/main" id="{D25C4D04-E336-43F0-9119-A7AB5F4D1C36}"/>
              </a:ext>
            </a:extLst>
          </p:cNvPr>
          <p:cNvSpPr>
            <a:spLocks noChangeArrowheads="1"/>
          </p:cNvSpPr>
          <p:nvPr/>
        </p:nvSpPr>
        <p:spPr bwMode="auto">
          <a:xfrm>
            <a:off x="6699250" y="455295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45" name="Rectangle 27">
            <a:extLst>
              <a:ext uri="{FF2B5EF4-FFF2-40B4-BE49-F238E27FC236}">
                <a16:creationId xmlns="" xmlns:a16="http://schemas.microsoft.com/office/drawing/2014/main" id="{69837E8F-1374-4BE0-882E-EC5BF5ACE1E9}"/>
              </a:ext>
            </a:extLst>
          </p:cNvPr>
          <p:cNvSpPr>
            <a:spLocks noChangeArrowheads="1"/>
          </p:cNvSpPr>
          <p:nvPr/>
        </p:nvSpPr>
        <p:spPr bwMode="auto">
          <a:xfrm>
            <a:off x="1746250" y="5772150"/>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6" name="Rectangle 28">
            <a:extLst>
              <a:ext uri="{FF2B5EF4-FFF2-40B4-BE49-F238E27FC236}">
                <a16:creationId xmlns="" xmlns:a16="http://schemas.microsoft.com/office/drawing/2014/main" id="{528AB014-586D-470D-B14A-81750664EFDD}"/>
              </a:ext>
            </a:extLst>
          </p:cNvPr>
          <p:cNvSpPr>
            <a:spLocks noChangeArrowheads="1"/>
          </p:cNvSpPr>
          <p:nvPr/>
        </p:nvSpPr>
        <p:spPr bwMode="auto">
          <a:xfrm>
            <a:off x="7689850" y="546735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7" name="Rectangle 29">
            <a:extLst>
              <a:ext uri="{FF2B5EF4-FFF2-40B4-BE49-F238E27FC236}">
                <a16:creationId xmlns="" xmlns:a16="http://schemas.microsoft.com/office/drawing/2014/main" id="{E9E379E0-7767-4C7B-B1BB-8289E007A1C0}"/>
              </a:ext>
            </a:extLst>
          </p:cNvPr>
          <p:cNvSpPr>
            <a:spLocks noChangeArrowheads="1"/>
          </p:cNvSpPr>
          <p:nvPr/>
        </p:nvSpPr>
        <p:spPr bwMode="auto">
          <a:xfrm>
            <a:off x="2736850" y="485775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48" name="Rectangle 30">
            <a:extLst>
              <a:ext uri="{FF2B5EF4-FFF2-40B4-BE49-F238E27FC236}">
                <a16:creationId xmlns="" xmlns:a16="http://schemas.microsoft.com/office/drawing/2014/main" id="{DDEC9351-84D9-4FC2-B1C4-194244E0161C}"/>
              </a:ext>
            </a:extLst>
          </p:cNvPr>
          <p:cNvSpPr>
            <a:spLocks noChangeArrowheads="1"/>
          </p:cNvSpPr>
          <p:nvPr/>
        </p:nvSpPr>
        <p:spPr bwMode="auto">
          <a:xfrm>
            <a:off x="5708650" y="546735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9" name="TextBox 21">
            <a:extLst>
              <a:ext uri="{FF2B5EF4-FFF2-40B4-BE49-F238E27FC236}">
                <a16:creationId xmlns="" xmlns:a16="http://schemas.microsoft.com/office/drawing/2014/main" id="{AAA1253F-6596-49E7-8CBE-54B7708151D0}"/>
              </a:ext>
            </a:extLst>
          </p:cNvPr>
          <p:cNvSpPr txBox="1">
            <a:spLocks noChangeArrowheads="1"/>
          </p:cNvSpPr>
          <p:nvPr/>
        </p:nvSpPr>
        <p:spPr bwMode="auto">
          <a:xfrm>
            <a:off x="1782763" y="33051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50" name="TextBox 22">
            <a:extLst>
              <a:ext uri="{FF2B5EF4-FFF2-40B4-BE49-F238E27FC236}">
                <a16:creationId xmlns="" xmlns:a16="http://schemas.microsoft.com/office/drawing/2014/main" id="{33D8312B-037E-4134-8AE4-EA09F3AB27CB}"/>
              </a:ext>
            </a:extLst>
          </p:cNvPr>
          <p:cNvSpPr txBox="1">
            <a:spLocks noChangeArrowheads="1"/>
          </p:cNvSpPr>
          <p:nvPr/>
        </p:nvSpPr>
        <p:spPr bwMode="auto">
          <a:xfrm>
            <a:off x="2719388" y="33051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51" name="TextBox 23">
            <a:extLst>
              <a:ext uri="{FF2B5EF4-FFF2-40B4-BE49-F238E27FC236}">
                <a16:creationId xmlns="" xmlns:a16="http://schemas.microsoft.com/office/drawing/2014/main" id="{B601CA64-F83A-4DE2-999F-0C0AC1C41231}"/>
              </a:ext>
            </a:extLst>
          </p:cNvPr>
          <p:cNvSpPr txBox="1">
            <a:spLocks noChangeArrowheads="1"/>
          </p:cNvSpPr>
          <p:nvPr/>
        </p:nvSpPr>
        <p:spPr bwMode="auto">
          <a:xfrm>
            <a:off x="3727450" y="33051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52" name="TextBox 24">
            <a:extLst>
              <a:ext uri="{FF2B5EF4-FFF2-40B4-BE49-F238E27FC236}">
                <a16:creationId xmlns="" xmlns:a16="http://schemas.microsoft.com/office/drawing/2014/main" id="{A834354A-395A-4AC1-8CAC-FA5342F2FD89}"/>
              </a:ext>
            </a:extLst>
          </p:cNvPr>
          <p:cNvSpPr txBox="1">
            <a:spLocks noChangeArrowheads="1"/>
          </p:cNvSpPr>
          <p:nvPr/>
        </p:nvSpPr>
        <p:spPr bwMode="auto">
          <a:xfrm>
            <a:off x="4806950" y="3305175"/>
            <a:ext cx="433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53" name="TextBox 25">
            <a:extLst>
              <a:ext uri="{FF2B5EF4-FFF2-40B4-BE49-F238E27FC236}">
                <a16:creationId xmlns="" xmlns:a16="http://schemas.microsoft.com/office/drawing/2014/main" id="{89F4E472-8DA4-4325-8C8A-75451691E372}"/>
              </a:ext>
            </a:extLst>
          </p:cNvPr>
          <p:cNvSpPr txBox="1">
            <a:spLocks noChangeArrowheads="1"/>
          </p:cNvSpPr>
          <p:nvPr/>
        </p:nvSpPr>
        <p:spPr bwMode="auto">
          <a:xfrm>
            <a:off x="5743575" y="33051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54" name="TextBox 26">
            <a:extLst>
              <a:ext uri="{FF2B5EF4-FFF2-40B4-BE49-F238E27FC236}">
                <a16:creationId xmlns="" xmlns:a16="http://schemas.microsoft.com/office/drawing/2014/main" id="{F2DC1DC2-4EAA-47FC-ADC2-72CF4802DD14}"/>
              </a:ext>
            </a:extLst>
          </p:cNvPr>
          <p:cNvSpPr txBox="1">
            <a:spLocks noChangeArrowheads="1"/>
          </p:cNvSpPr>
          <p:nvPr/>
        </p:nvSpPr>
        <p:spPr bwMode="auto">
          <a:xfrm>
            <a:off x="6751638" y="33051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424971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27" name="Line 3">
            <a:extLst>
              <a:ext uri="{FF2B5EF4-FFF2-40B4-BE49-F238E27FC236}">
                <a16:creationId xmlns="" xmlns:a16="http://schemas.microsoft.com/office/drawing/2014/main" id="{D0AB9356-E3DF-474D-8245-7A1945B40369}"/>
              </a:ext>
            </a:extLst>
          </p:cNvPr>
          <p:cNvSpPr>
            <a:spLocks noChangeShapeType="1"/>
          </p:cNvSpPr>
          <p:nvPr/>
        </p:nvSpPr>
        <p:spPr bwMode="auto">
          <a:xfrm>
            <a:off x="1552575" y="3097213"/>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4">
            <a:extLst>
              <a:ext uri="{FF2B5EF4-FFF2-40B4-BE49-F238E27FC236}">
                <a16:creationId xmlns="" xmlns:a16="http://schemas.microsoft.com/office/drawing/2014/main" id="{07E3D7AC-B830-468E-842E-05A96598E4FC}"/>
              </a:ext>
            </a:extLst>
          </p:cNvPr>
          <p:cNvSpPr>
            <a:spLocks noChangeShapeType="1"/>
          </p:cNvSpPr>
          <p:nvPr/>
        </p:nvSpPr>
        <p:spPr bwMode="auto">
          <a:xfrm flipV="1">
            <a:off x="15525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5">
            <a:extLst>
              <a:ext uri="{FF2B5EF4-FFF2-40B4-BE49-F238E27FC236}">
                <a16:creationId xmlns="" xmlns:a16="http://schemas.microsoft.com/office/drawing/2014/main" id="{524FBD01-5101-459E-B01D-A947F7AC5FD4}"/>
              </a:ext>
            </a:extLst>
          </p:cNvPr>
          <p:cNvSpPr>
            <a:spLocks noChangeShapeType="1"/>
          </p:cNvSpPr>
          <p:nvPr/>
        </p:nvSpPr>
        <p:spPr bwMode="auto">
          <a:xfrm flipV="1">
            <a:off x="65055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
            <a:extLst>
              <a:ext uri="{FF2B5EF4-FFF2-40B4-BE49-F238E27FC236}">
                <a16:creationId xmlns="" xmlns:a16="http://schemas.microsoft.com/office/drawing/2014/main" id="{3A3A0197-BAE2-4CA1-8819-D9632767F4B5}"/>
              </a:ext>
            </a:extLst>
          </p:cNvPr>
          <p:cNvSpPr>
            <a:spLocks noChangeShapeType="1"/>
          </p:cNvSpPr>
          <p:nvPr/>
        </p:nvSpPr>
        <p:spPr bwMode="auto">
          <a:xfrm flipV="1">
            <a:off x="25431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7">
            <a:extLst>
              <a:ext uri="{FF2B5EF4-FFF2-40B4-BE49-F238E27FC236}">
                <a16:creationId xmlns="" xmlns:a16="http://schemas.microsoft.com/office/drawing/2014/main" id="{47ECC7A1-CDA6-48E9-BCB0-621231EB83D2}"/>
              </a:ext>
            </a:extLst>
          </p:cNvPr>
          <p:cNvSpPr>
            <a:spLocks noChangeShapeType="1"/>
          </p:cNvSpPr>
          <p:nvPr/>
        </p:nvSpPr>
        <p:spPr bwMode="auto">
          <a:xfrm flipV="1">
            <a:off x="35337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8">
            <a:extLst>
              <a:ext uri="{FF2B5EF4-FFF2-40B4-BE49-F238E27FC236}">
                <a16:creationId xmlns="" xmlns:a16="http://schemas.microsoft.com/office/drawing/2014/main" id="{24034ECC-E1D3-4A38-997B-D43D9805CE5F}"/>
              </a:ext>
            </a:extLst>
          </p:cNvPr>
          <p:cNvSpPr>
            <a:spLocks noChangeShapeType="1"/>
          </p:cNvSpPr>
          <p:nvPr/>
        </p:nvSpPr>
        <p:spPr bwMode="auto">
          <a:xfrm flipV="1">
            <a:off x="45243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9">
            <a:extLst>
              <a:ext uri="{FF2B5EF4-FFF2-40B4-BE49-F238E27FC236}">
                <a16:creationId xmlns="" xmlns:a16="http://schemas.microsoft.com/office/drawing/2014/main" id="{BFFCB77C-F07D-40E3-AF8C-B26EA6A19E37}"/>
              </a:ext>
            </a:extLst>
          </p:cNvPr>
          <p:cNvSpPr>
            <a:spLocks noChangeShapeType="1"/>
          </p:cNvSpPr>
          <p:nvPr/>
        </p:nvSpPr>
        <p:spPr bwMode="auto">
          <a:xfrm flipV="1">
            <a:off x="55149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11">
            <a:extLst>
              <a:ext uri="{FF2B5EF4-FFF2-40B4-BE49-F238E27FC236}">
                <a16:creationId xmlns="" xmlns:a16="http://schemas.microsoft.com/office/drawing/2014/main" id="{48836A49-AB3C-4A18-A63B-11252A424EEB}"/>
              </a:ext>
            </a:extLst>
          </p:cNvPr>
          <p:cNvSpPr>
            <a:spLocks noChangeShapeType="1"/>
          </p:cNvSpPr>
          <p:nvPr/>
        </p:nvSpPr>
        <p:spPr bwMode="auto">
          <a:xfrm flipV="1">
            <a:off x="7496175" y="12684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Rectangle 12">
            <a:extLst>
              <a:ext uri="{FF2B5EF4-FFF2-40B4-BE49-F238E27FC236}">
                <a16:creationId xmlns="" xmlns:a16="http://schemas.microsoft.com/office/drawing/2014/main" id="{57F6C149-D2F5-40F6-B9FF-71E686501061}"/>
              </a:ext>
            </a:extLst>
          </p:cNvPr>
          <p:cNvSpPr>
            <a:spLocks noChangeArrowheads="1"/>
          </p:cNvSpPr>
          <p:nvPr/>
        </p:nvSpPr>
        <p:spPr bwMode="auto">
          <a:xfrm>
            <a:off x="1628775" y="1878013"/>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61" name="Rectangle 14">
            <a:extLst>
              <a:ext uri="{FF2B5EF4-FFF2-40B4-BE49-F238E27FC236}">
                <a16:creationId xmlns="" xmlns:a16="http://schemas.microsoft.com/office/drawing/2014/main" id="{8DC1B3D3-725C-4B26-BC01-DA72034A891B}"/>
              </a:ext>
            </a:extLst>
          </p:cNvPr>
          <p:cNvSpPr>
            <a:spLocks noChangeArrowheads="1"/>
          </p:cNvSpPr>
          <p:nvPr/>
        </p:nvSpPr>
        <p:spPr bwMode="auto">
          <a:xfrm>
            <a:off x="1628775" y="1573213"/>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62" name="Rectangle 15">
            <a:extLst>
              <a:ext uri="{FF2B5EF4-FFF2-40B4-BE49-F238E27FC236}">
                <a16:creationId xmlns="" xmlns:a16="http://schemas.microsoft.com/office/drawing/2014/main" id="{A62A3467-6970-4BF8-8583-A2231F3F5B66}"/>
              </a:ext>
            </a:extLst>
          </p:cNvPr>
          <p:cNvSpPr>
            <a:spLocks noChangeArrowheads="1"/>
          </p:cNvSpPr>
          <p:nvPr/>
        </p:nvSpPr>
        <p:spPr bwMode="auto">
          <a:xfrm>
            <a:off x="4722813" y="5656263"/>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63" name="Rectangle 16">
            <a:extLst>
              <a:ext uri="{FF2B5EF4-FFF2-40B4-BE49-F238E27FC236}">
                <a16:creationId xmlns="" xmlns:a16="http://schemas.microsoft.com/office/drawing/2014/main" id="{B0455BFF-1651-4FDD-8FB4-F0736E6A7809}"/>
              </a:ext>
            </a:extLst>
          </p:cNvPr>
          <p:cNvSpPr>
            <a:spLocks noChangeArrowheads="1"/>
          </p:cNvSpPr>
          <p:nvPr/>
        </p:nvSpPr>
        <p:spPr bwMode="auto">
          <a:xfrm>
            <a:off x="3732213" y="5351463"/>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4" name="Rectangle 17">
            <a:extLst>
              <a:ext uri="{FF2B5EF4-FFF2-40B4-BE49-F238E27FC236}">
                <a16:creationId xmlns="" xmlns:a16="http://schemas.microsoft.com/office/drawing/2014/main" id="{7A03483B-1E36-4866-894C-B241091F8C5B}"/>
              </a:ext>
            </a:extLst>
          </p:cNvPr>
          <p:cNvSpPr>
            <a:spLocks noChangeArrowheads="1"/>
          </p:cNvSpPr>
          <p:nvPr/>
        </p:nvSpPr>
        <p:spPr bwMode="auto">
          <a:xfrm>
            <a:off x="6704013" y="4437063"/>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65" name="Rectangle 18">
            <a:extLst>
              <a:ext uri="{FF2B5EF4-FFF2-40B4-BE49-F238E27FC236}">
                <a16:creationId xmlns="" xmlns:a16="http://schemas.microsoft.com/office/drawing/2014/main" id="{5C6B4F9A-E02F-4527-A628-0653F3F3B01C}"/>
              </a:ext>
            </a:extLst>
          </p:cNvPr>
          <p:cNvSpPr>
            <a:spLocks noChangeArrowheads="1"/>
          </p:cNvSpPr>
          <p:nvPr/>
        </p:nvSpPr>
        <p:spPr bwMode="auto">
          <a:xfrm>
            <a:off x="1751013" y="5656263"/>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66" name="Rectangle 19">
            <a:extLst>
              <a:ext uri="{FF2B5EF4-FFF2-40B4-BE49-F238E27FC236}">
                <a16:creationId xmlns="" xmlns:a16="http://schemas.microsoft.com/office/drawing/2014/main" id="{97EAAABF-D913-46F0-B575-24F7A80CACDA}"/>
              </a:ext>
            </a:extLst>
          </p:cNvPr>
          <p:cNvSpPr>
            <a:spLocks noChangeArrowheads="1"/>
          </p:cNvSpPr>
          <p:nvPr/>
        </p:nvSpPr>
        <p:spPr bwMode="auto">
          <a:xfrm>
            <a:off x="7694613" y="5351463"/>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7" name="Rectangle 20">
            <a:extLst>
              <a:ext uri="{FF2B5EF4-FFF2-40B4-BE49-F238E27FC236}">
                <a16:creationId xmlns="" xmlns:a16="http://schemas.microsoft.com/office/drawing/2014/main" id="{C588790D-25F4-4BA2-91DB-A7DCAC885433}"/>
              </a:ext>
            </a:extLst>
          </p:cNvPr>
          <p:cNvSpPr>
            <a:spLocks noChangeArrowheads="1"/>
          </p:cNvSpPr>
          <p:nvPr/>
        </p:nvSpPr>
        <p:spPr bwMode="auto">
          <a:xfrm>
            <a:off x="2741613" y="4741863"/>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68" name="Rectangle 21">
            <a:extLst>
              <a:ext uri="{FF2B5EF4-FFF2-40B4-BE49-F238E27FC236}">
                <a16:creationId xmlns="" xmlns:a16="http://schemas.microsoft.com/office/drawing/2014/main" id="{09874D43-24FE-472B-AB28-6F2C904E5BC2}"/>
              </a:ext>
            </a:extLst>
          </p:cNvPr>
          <p:cNvSpPr>
            <a:spLocks noChangeArrowheads="1"/>
          </p:cNvSpPr>
          <p:nvPr/>
        </p:nvSpPr>
        <p:spPr bwMode="auto">
          <a:xfrm>
            <a:off x="5713413" y="5351463"/>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9" name="TextBox 22">
            <a:extLst>
              <a:ext uri="{FF2B5EF4-FFF2-40B4-BE49-F238E27FC236}">
                <a16:creationId xmlns="" xmlns:a16="http://schemas.microsoft.com/office/drawing/2014/main" id="{A3141A9B-FC04-4089-B22B-D66AC2C8DF43}"/>
              </a:ext>
            </a:extLst>
          </p:cNvPr>
          <p:cNvSpPr txBox="1">
            <a:spLocks noChangeArrowheads="1"/>
          </p:cNvSpPr>
          <p:nvPr/>
        </p:nvSpPr>
        <p:spPr bwMode="auto">
          <a:xfrm>
            <a:off x="1782763" y="3141663"/>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70" name="TextBox 23">
            <a:extLst>
              <a:ext uri="{FF2B5EF4-FFF2-40B4-BE49-F238E27FC236}">
                <a16:creationId xmlns="" xmlns:a16="http://schemas.microsoft.com/office/drawing/2014/main" id="{5D029FBD-4955-46D4-BBDB-A90118AA0F22}"/>
              </a:ext>
            </a:extLst>
          </p:cNvPr>
          <p:cNvSpPr txBox="1">
            <a:spLocks noChangeArrowheads="1"/>
          </p:cNvSpPr>
          <p:nvPr/>
        </p:nvSpPr>
        <p:spPr bwMode="auto">
          <a:xfrm>
            <a:off x="2719388" y="3141663"/>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71" name="TextBox 24">
            <a:extLst>
              <a:ext uri="{FF2B5EF4-FFF2-40B4-BE49-F238E27FC236}">
                <a16:creationId xmlns="" xmlns:a16="http://schemas.microsoft.com/office/drawing/2014/main" id="{D8651E70-73C1-4FC1-845C-3C0096F5C364}"/>
              </a:ext>
            </a:extLst>
          </p:cNvPr>
          <p:cNvSpPr txBox="1">
            <a:spLocks noChangeArrowheads="1"/>
          </p:cNvSpPr>
          <p:nvPr/>
        </p:nvSpPr>
        <p:spPr bwMode="auto">
          <a:xfrm>
            <a:off x="3727450" y="3141663"/>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72" name="TextBox 25">
            <a:extLst>
              <a:ext uri="{FF2B5EF4-FFF2-40B4-BE49-F238E27FC236}">
                <a16:creationId xmlns="" xmlns:a16="http://schemas.microsoft.com/office/drawing/2014/main" id="{EE112160-AEE8-4DB8-A7FF-FA7ACAE5A732}"/>
              </a:ext>
            </a:extLst>
          </p:cNvPr>
          <p:cNvSpPr txBox="1">
            <a:spLocks noChangeArrowheads="1"/>
          </p:cNvSpPr>
          <p:nvPr/>
        </p:nvSpPr>
        <p:spPr bwMode="auto">
          <a:xfrm>
            <a:off x="4806950" y="3141663"/>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73" name="TextBox 26">
            <a:extLst>
              <a:ext uri="{FF2B5EF4-FFF2-40B4-BE49-F238E27FC236}">
                <a16:creationId xmlns="" xmlns:a16="http://schemas.microsoft.com/office/drawing/2014/main" id="{047C2023-55C5-4DDB-A3D5-4257BC65249C}"/>
              </a:ext>
            </a:extLst>
          </p:cNvPr>
          <p:cNvSpPr txBox="1">
            <a:spLocks noChangeArrowheads="1"/>
          </p:cNvSpPr>
          <p:nvPr/>
        </p:nvSpPr>
        <p:spPr bwMode="auto">
          <a:xfrm>
            <a:off x="5743575" y="3141663"/>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74" name="TextBox 27">
            <a:extLst>
              <a:ext uri="{FF2B5EF4-FFF2-40B4-BE49-F238E27FC236}">
                <a16:creationId xmlns="" xmlns:a16="http://schemas.microsoft.com/office/drawing/2014/main" id="{25E5F3EB-3360-4BC4-B617-EC215CA1A7D3}"/>
              </a:ext>
            </a:extLst>
          </p:cNvPr>
          <p:cNvSpPr txBox="1">
            <a:spLocks noChangeArrowheads="1"/>
          </p:cNvSpPr>
          <p:nvPr/>
        </p:nvSpPr>
        <p:spPr bwMode="auto">
          <a:xfrm>
            <a:off x="6751638" y="3141663"/>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
        <p:nvSpPr>
          <p:cNvPr id="75" name="Comment 22">
            <a:extLst>
              <a:ext uri="{FF2B5EF4-FFF2-40B4-BE49-F238E27FC236}">
                <a16:creationId xmlns="" xmlns:a16="http://schemas.microsoft.com/office/drawing/2014/main" id="{9C157B8B-E1E7-4762-8494-4EE06A67F0C8}"/>
              </a:ext>
            </a:extLst>
          </p:cNvPr>
          <p:cNvSpPr>
            <a:spLocks noChangeArrowheads="1"/>
          </p:cNvSpPr>
          <p:nvPr/>
        </p:nvSpPr>
        <p:spPr bwMode="auto">
          <a:xfrm>
            <a:off x="0" y="3698508"/>
            <a:ext cx="9144000" cy="46166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GB" altLang="en-US" sz="2400" b="1" dirty="0">
                <a:solidFill>
                  <a:srgbClr val="000000"/>
                </a:solidFill>
                <a:latin typeface="Times New Roman" panose="02020603050405020304" pitchFamily="18" charset="0"/>
                <a:cs typeface="Times New Roman" panose="02020603050405020304" pitchFamily="18" charset="0"/>
              </a:rPr>
              <a:t>The second process(1-Light blue) fits into the first memory bin(A).</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825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76" name="Line 3">
            <a:extLst>
              <a:ext uri="{FF2B5EF4-FFF2-40B4-BE49-F238E27FC236}">
                <a16:creationId xmlns="" xmlns:a16="http://schemas.microsoft.com/office/drawing/2014/main" id="{7DA1AB40-2B6B-4605-8FCF-FF91AA08DEA5}"/>
              </a:ext>
            </a:extLst>
          </p:cNvPr>
          <p:cNvSpPr>
            <a:spLocks noChangeShapeType="1"/>
          </p:cNvSpPr>
          <p:nvPr/>
        </p:nvSpPr>
        <p:spPr bwMode="auto">
          <a:xfrm>
            <a:off x="1417637" y="2768601"/>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4">
            <a:extLst>
              <a:ext uri="{FF2B5EF4-FFF2-40B4-BE49-F238E27FC236}">
                <a16:creationId xmlns="" xmlns:a16="http://schemas.microsoft.com/office/drawing/2014/main" id="{451FED4B-27A0-4A81-BD99-510B94F83926}"/>
              </a:ext>
            </a:extLst>
          </p:cNvPr>
          <p:cNvSpPr>
            <a:spLocks noChangeShapeType="1"/>
          </p:cNvSpPr>
          <p:nvPr/>
        </p:nvSpPr>
        <p:spPr bwMode="auto">
          <a:xfrm flipV="1">
            <a:off x="14176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5">
            <a:extLst>
              <a:ext uri="{FF2B5EF4-FFF2-40B4-BE49-F238E27FC236}">
                <a16:creationId xmlns="" xmlns:a16="http://schemas.microsoft.com/office/drawing/2014/main" id="{5ACCA96A-EE83-4A55-8D3E-4D4C8C45D2F5}"/>
              </a:ext>
            </a:extLst>
          </p:cNvPr>
          <p:cNvSpPr>
            <a:spLocks noChangeShapeType="1"/>
          </p:cNvSpPr>
          <p:nvPr/>
        </p:nvSpPr>
        <p:spPr bwMode="auto">
          <a:xfrm flipV="1">
            <a:off x="63706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 name="Line 6">
            <a:extLst>
              <a:ext uri="{FF2B5EF4-FFF2-40B4-BE49-F238E27FC236}">
                <a16:creationId xmlns="" xmlns:a16="http://schemas.microsoft.com/office/drawing/2014/main" id="{7B46F15E-F3D8-4947-9E2F-581BF77F88BA}"/>
              </a:ext>
            </a:extLst>
          </p:cNvPr>
          <p:cNvSpPr>
            <a:spLocks noChangeShapeType="1"/>
          </p:cNvSpPr>
          <p:nvPr/>
        </p:nvSpPr>
        <p:spPr bwMode="auto">
          <a:xfrm flipV="1">
            <a:off x="24082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7">
            <a:extLst>
              <a:ext uri="{FF2B5EF4-FFF2-40B4-BE49-F238E27FC236}">
                <a16:creationId xmlns="" xmlns:a16="http://schemas.microsoft.com/office/drawing/2014/main" id="{65357602-885A-4C4C-9BB5-F6156E920AAB}"/>
              </a:ext>
            </a:extLst>
          </p:cNvPr>
          <p:cNvSpPr>
            <a:spLocks noChangeShapeType="1"/>
          </p:cNvSpPr>
          <p:nvPr/>
        </p:nvSpPr>
        <p:spPr bwMode="auto">
          <a:xfrm flipV="1">
            <a:off x="33988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8">
            <a:extLst>
              <a:ext uri="{FF2B5EF4-FFF2-40B4-BE49-F238E27FC236}">
                <a16:creationId xmlns="" xmlns:a16="http://schemas.microsoft.com/office/drawing/2014/main" id="{9D6AAFD9-EDA3-4D4A-9616-732EE6CF18FF}"/>
              </a:ext>
            </a:extLst>
          </p:cNvPr>
          <p:cNvSpPr>
            <a:spLocks noChangeShapeType="1"/>
          </p:cNvSpPr>
          <p:nvPr/>
        </p:nvSpPr>
        <p:spPr bwMode="auto">
          <a:xfrm flipV="1">
            <a:off x="43894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9">
            <a:extLst>
              <a:ext uri="{FF2B5EF4-FFF2-40B4-BE49-F238E27FC236}">
                <a16:creationId xmlns="" xmlns:a16="http://schemas.microsoft.com/office/drawing/2014/main" id="{16593CB6-C063-43FE-BFCE-15F0D8F9C4C0}"/>
              </a:ext>
            </a:extLst>
          </p:cNvPr>
          <p:cNvSpPr>
            <a:spLocks noChangeShapeType="1"/>
          </p:cNvSpPr>
          <p:nvPr/>
        </p:nvSpPr>
        <p:spPr bwMode="auto">
          <a:xfrm flipV="1">
            <a:off x="53800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11">
            <a:extLst>
              <a:ext uri="{FF2B5EF4-FFF2-40B4-BE49-F238E27FC236}">
                <a16:creationId xmlns="" xmlns:a16="http://schemas.microsoft.com/office/drawing/2014/main" id="{1314CDAF-11FF-4A3A-9708-187EE7914C7F}"/>
              </a:ext>
            </a:extLst>
          </p:cNvPr>
          <p:cNvSpPr>
            <a:spLocks noChangeShapeType="1"/>
          </p:cNvSpPr>
          <p:nvPr/>
        </p:nvSpPr>
        <p:spPr bwMode="auto">
          <a:xfrm flipV="1">
            <a:off x="7361237" y="939801"/>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 name="Rectangle 12">
            <a:extLst>
              <a:ext uri="{FF2B5EF4-FFF2-40B4-BE49-F238E27FC236}">
                <a16:creationId xmlns="" xmlns:a16="http://schemas.microsoft.com/office/drawing/2014/main" id="{2DF2EE36-537E-4651-9346-8D4F88BF38D9}"/>
              </a:ext>
            </a:extLst>
          </p:cNvPr>
          <p:cNvSpPr>
            <a:spLocks noChangeArrowheads="1"/>
          </p:cNvSpPr>
          <p:nvPr/>
        </p:nvSpPr>
        <p:spPr bwMode="auto">
          <a:xfrm>
            <a:off x="1493837" y="1549401"/>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85" name="Rectangle 14">
            <a:extLst>
              <a:ext uri="{FF2B5EF4-FFF2-40B4-BE49-F238E27FC236}">
                <a16:creationId xmlns="" xmlns:a16="http://schemas.microsoft.com/office/drawing/2014/main" id="{F3B3F191-33EA-4F07-A75B-13ADFC53055F}"/>
              </a:ext>
            </a:extLst>
          </p:cNvPr>
          <p:cNvSpPr>
            <a:spLocks noChangeArrowheads="1"/>
          </p:cNvSpPr>
          <p:nvPr/>
        </p:nvSpPr>
        <p:spPr bwMode="auto">
          <a:xfrm>
            <a:off x="1493837" y="1244601"/>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86" name="Rectangle 15">
            <a:extLst>
              <a:ext uri="{FF2B5EF4-FFF2-40B4-BE49-F238E27FC236}">
                <a16:creationId xmlns="" xmlns:a16="http://schemas.microsoft.com/office/drawing/2014/main" id="{87D70C5E-C053-4891-937A-FF2179A49DB3}"/>
              </a:ext>
            </a:extLst>
          </p:cNvPr>
          <p:cNvSpPr>
            <a:spLocks noChangeArrowheads="1"/>
          </p:cNvSpPr>
          <p:nvPr/>
        </p:nvSpPr>
        <p:spPr bwMode="auto">
          <a:xfrm>
            <a:off x="4968875" y="5756275"/>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87" name="Rectangle 16">
            <a:extLst>
              <a:ext uri="{FF2B5EF4-FFF2-40B4-BE49-F238E27FC236}">
                <a16:creationId xmlns="" xmlns:a16="http://schemas.microsoft.com/office/drawing/2014/main" id="{CEF8265D-8E4C-4D05-8A9E-96210B890BE7}"/>
              </a:ext>
            </a:extLst>
          </p:cNvPr>
          <p:cNvSpPr>
            <a:spLocks noChangeArrowheads="1"/>
          </p:cNvSpPr>
          <p:nvPr/>
        </p:nvSpPr>
        <p:spPr bwMode="auto">
          <a:xfrm>
            <a:off x="3978275" y="5451475"/>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88" name="Rectangle 17">
            <a:extLst>
              <a:ext uri="{FF2B5EF4-FFF2-40B4-BE49-F238E27FC236}">
                <a16:creationId xmlns="" xmlns:a16="http://schemas.microsoft.com/office/drawing/2014/main" id="{5AFFAF6C-F037-46EB-9EFB-AA4A1987B069}"/>
              </a:ext>
            </a:extLst>
          </p:cNvPr>
          <p:cNvSpPr>
            <a:spLocks noChangeArrowheads="1"/>
          </p:cNvSpPr>
          <p:nvPr/>
        </p:nvSpPr>
        <p:spPr bwMode="auto">
          <a:xfrm>
            <a:off x="6905625" y="45085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89" name="Rectangle 18">
            <a:extLst>
              <a:ext uri="{FF2B5EF4-FFF2-40B4-BE49-F238E27FC236}">
                <a16:creationId xmlns="" xmlns:a16="http://schemas.microsoft.com/office/drawing/2014/main" id="{2392CE26-89D5-4A48-856A-4D6A2AD51FE2}"/>
              </a:ext>
            </a:extLst>
          </p:cNvPr>
          <p:cNvSpPr>
            <a:spLocks noChangeArrowheads="1"/>
          </p:cNvSpPr>
          <p:nvPr/>
        </p:nvSpPr>
        <p:spPr bwMode="auto">
          <a:xfrm>
            <a:off x="1493837" y="635001"/>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90" name="Rectangle 19">
            <a:extLst>
              <a:ext uri="{FF2B5EF4-FFF2-40B4-BE49-F238E27FC236}">
                <a16:creationId xmlns="" xmlns:a16="http://schemas.microsoft.com/office/drawing/2014/main" id="{12A2F9EF-89F4-4BA4-9929-719EB5B7DCE5}"/>
              </a:ext>
            </a:extLst>
          </p:cNvPr>
          <p:cNvSpPr>
            <a:spLocks noChangeArrowheads="1"/>
          </p:cNvSpPr>
          <p:nvPr/>
        </p:nvSpPr>
        <p:spPr bwMode="auto">
          <a:xfrm>
            <a:off x="7940675" y="5451475"/>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91" name="Rectangle 20">
            <a:extLst>
              <a:ext uri="{FF2B5EF4-FFF2-40B4-BE49-F238E27FC236}">
                <a16:creationId xmlns="" xmlns:a16="http://schemas.microsoft.com/office/drawing/2014/main" id="{00DA9912-2D09-4972-8843-591FAB073C53}"/>
              </a:ext>
            </a:extLst>
          </p:cNvPr>
          <p:cNvSpPr>
            <a:spLocks noChangeArrowheads="1"/>
          </p:cNvSpPr>
          <p:nvPr/>
        </p:nvSpPr>
        <p:spPr bwMode="auto">
          <a:xfrm>
            <a:off x="2987675" y="4841875"/>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92" name="Rectangle 21">
            <a:extLst>
              <a:ext uri="{FF2B5EF4-FFF2-40B4-BE49-F238E27FC236}">
                <a16:creationId xmlns="" xmlns:a16="http://schemas.microsoft.com/office/drawing/2014/main" id="{B277E3A6-DC60-467D-92EF-2C4E99115EE4}"/>
              </a:ext>
            </a:extLst>
          </p:cNvPr>
          <p:cNvSpPr>
            <a:spLocks noChangeArrowheads="1"/>
          </p:cNvSpPr>
          <p:nvPr/>
        </p:nvSpPr>
        <p:spPr bwMode="auto">
          <a:xfrm>
            <a:off x="5959475" y="5451475"/>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93" name="Rectangle 22">
            <a:extLst>
              <a:ext uri="{FF2B5EF4-FFF2-40B4-BE49-F238E27FC236}">
                <a16:creationId xmlns="" xmlns:a16="http://schemas.microsoft.com/office/drawing/2014/main" id="{B08E958C-5D9F-4A1D-9A27-FE513DC9848B}"/>
              </a:ext>
            </a:extLst>
          </p:cNvPr>
          <p:cNvSpPr>
            <a:spLocks noChangeArrowheads="1"/>
          </p:cNvSpPr>
          <p:nvPr/>
        </p:nvSpPr>
        <p:spPr bwMode="auto">
          <a:xfrm>
            <a:off x="2484437" y="2159001"/>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94" name="Comment 23">
            <a:extLst>
              <a:ext uri="{FF2B5EF4-FFF2-40B4-BE49-F238E27FC236}">
                <a16:creationId xmlns="" xmlns:a16="http://schemas.microsoft.com/office/drawing/2014/main" id="{0DB0CC9F-4909-422B-9D65-D7ED32FA55AB}"/>
              </a:ext>
            </a:extLst>
          </p:cNvPr>
          <p:cNvSpPr>
            <a:spLocks noChangeArrowheads="1"/>
          </p:cNvSpPr>
          <p:nvPr/>
        </p:nvSpPr>
        <p:spPr bwMode="auto">
          <a:xfrm>
            <a:off x="0" y="3313114"/>
            <a:ext cx="9143999" cy="830997"/>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400" b="1" dirty="0">
                <a:solidFill>
                  <a:srgbClr val="000000"/>
                </a:solidFill>
                <a:latin typeface="Times New Roman" panose="02020603050405020304" pitchFamily="18" charset="0"/>
                <a:cs typeface="Times New Roman" panose="02020603050405020304" pitchFamily="18" charset="0"/>
              </a:rPr>
              <a:t>The third process(2-Dark blue) will try to fit in first memory bin, but there </a:t>
            </a:r>
            <a:r>
              <a:rPr lang="en-GB" altLang="en-US" sz="2400" b="1" dirty="0" smtClean="0">
                <a:solidFill>
                  <a:srgbClr val="000000"/>
                </a:solidFill>
                <a:latin typeface="Times New Roman" panose="02020603050405020304" pitchFamily="18" charset="0"/>
                <a:cs typeface="Times New Roman" panose="02020603050405020304" pitchFamily="18" charset="0"/>
              </a:rPr>
              <a:t>is space </a:t>
            </a:r>
            <a:r>
              <a:rPr lang="en-GB" altLang="en-US" sz="2400" b="1" dirty="0">
                <a:solidFill>
                  <a:srgbClr val="000000"/>
                </a:solidFill>
                <a:latin typeface="Times New Roman" panose="02020603050405020304" pitchFamily="18" charset="0"/>
                <a:cs typeface="Times New Roman" panose="02020603050405020304" pitchFamily="18" charset="0"/>
              </a:rPr>
              <a:t>in second memory bin(B), so it will fit there.</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
        <p:nvSpPr>
          <p:cNvPr id="95" name="TextBox 24">
            <a:extLst>
              <a:ext uri="{FF2B5EF4-FFF2-40B4-BE49-F238E27FC236}">
                <a16:creationId xmlns="" xmlns:a16="http://schemas.microsoft.com/office/drawing/2014/main" id="{061DE3A8-53AA-4077-BB03-68B38ED1EE49}"/>
              </a:ext>
            </a:extLst>
          </p:cNvPr>
          <p:cNvSpPr txBox="1">
            <a:spLocks noChangeArrowheads="1"/>
          </p:cNvSpPr>
          <p:nvPr/>
        </p:nvSpPr>
        <p:spPr bwMode="auto">
          <a:xfrm>
            <a:off x="1720850" y="2859088"/>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96" name="TextBox 25">
            <a:extLst>
              <a:ext uri="{FF2B5EF4-FFF2-40B4-BE49-F238E27FC236}">
                <a16:creationId xmlns="" xmlns:a16="http://schemas.microsoft.com/office/drawing/2014/main" id="{94225515-9D74-4086-BBCC-10E517A01567}"/>
              </a:ext>
            </a:extLst>
          </p:cNvPr>
          <p:cNvSpPr txBox="1">
            <a:spLocks noChangeArrowheads="1"/>
          </p:cNvSpPr>
          <p:nvPr/>
        </p:nvSpPr>
        <p:spPr bwMode="auto">
          <a:xfrm>
            <a:off x="2657475" y="2859088"/>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97" name="TextBox 26">
            <a:extLst>
              <a:ext uri="{FF2B5EF4-FFF2-40B4-BE49-F238E27FC236}">
                <a16:creationId xmlns="" xmlns:a16="http://schemas.microsoft.com/office/drawing/2014/main" id="{88AD99A9-0C4E-4145-A4ED-BE74AB77438D}"/>
              </a:ext>
            </a:extLst>
          </p:cNvPr>
          <p:cNvSpPr txBox="1">
            <a:spLocks noChangeArrowheads="1"/>
          </p:cNvSpPr>
          <p:nvPr/>
        </p:nvSpPr>
        <p:spPr bwMode="auto">
          <a:xfrm>
            <a:off x="3665537" y="2859088"/>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98" name="TextBox 27">
            <a:extLst>
              <a:ext uri="{FF2B5EF4-FFF2-40B4-BE49-F238E27FC236}">
                <a16:creationId xmlns="" xmlns:a16="http://schemas.microsoft.com/office/drawing/2014/main" id="{FB9B6F5C-068C-4AF7-AD13-7F7F317985FC}"/>
              </a:ext>
            </a:extLst>
          </p:cNvPr>
          <p:cNvSpPr txBox="1">
            <a:spLocks noChangeArrowheads="1"/>
          </p:cNvSpPr>
          <p:nvPr/>
        </p:nvSpPr>
        <p:spPr bwMode="auto">
          <a:xfrm>
            <a:off x="4745037" y="2859088"/>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99" name="TextBox 28">
            <a:extLst>
              <a:ext uri="{FF2B5EF4-FFF2-40B4-BE49-F238E27FC236}">
                <a16:creationId xmlns="" xmlns:a16="http://schemas.microsoft.com/office/drawing/2014/main" id="{98907B12-69C1-4108-B7F1-E1FA9468E2CA}"/>
              </a:ext>
            </a:extLst>
          </p:cNvPr>
          <p:cNvSpPr txBox="1">
            <a:spLocks noChangeArrowheads="1"/>
          </p:cNvSpPr>
          <p:nvPr/>
        </p:nvSpPr>
        <p:spPr bwMode="auto">
          <a:xfrm>
            <a:off x="5681662" y="2859088"/>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100" name="TextBox 29">
            <a:extLst>
              <a:ext uri="{FF2B5EF4-FFF2-40B4-BE49-F238E27FC236}">
                <a16:creationId xmlns="" xmlns:a16="http://schemas.microsoft.com/office/drawing/2014/main" id="{847A8B4B-1B0C-48AE-924E-0343CC391587}"/>
              </a:ext>
            </a:extLst>
          </p:cNvPr>
          <p:cNvSpPr txBox="1">
            <a:spLocks noChangeArrowheads="1"/>
          </p:cNvSpPr>
          <p:nvPr/>
        </p:nvSpPr>
        <p:spPr bwMode="auto">
          <a:xfrm>
            <a:off x="6689725" y="2859088"/>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1840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9"/>
                                        </p:tgtEl>
                                        <p:attrNameLst>
                                          <p:attrName>style.visibility</p:attrName>
                                        </p:attrNameLst>
                                      </p:cBhvr>
                                      <p:to>
                                        <p:strVal val="visible"/>
                                      </p:to>
                                    </p:set>
                                    <p:anim calcmode="lin" valueType="num">
                                      <p:cBhvr additive="base">
                                        <p:cTn id="7" dur="500" fill="hold"/>
                                        <p:tgtEl>
                                          <p:spTgt spid="89"/>
                                        </p:tgtEl>
                                        <p:attrNameLst>
                                          <p:attrName>ppt_x</p:attrName>
                                        </p:attrNameLst>
                                      </p:cBhvr>
                                      <p:tavLst>
                                        <p:tav tm="0">
                                          <p:val>
                                            <p:strVal val="#ppt_x"/>
                                          </p:val>
                                        </p:tav>
                                        <p:tav tm="100000">
                                          <p:val>
                                            <p:strVal val="#ppt_x"/>
                                          </p:val>
                                        </p:tav>
                                      </p:tavLst>
                                    </p:anim>
                                    <p:anim calcmode="lin" valueType="num">
                                      <p:cBhvr additive="base">
                                        <p:cTn id="8" dur="500" fill="hold"/>
                                        <p:tgtEl>
                                          <p:spTgt spid="89"/>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89"/>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94"/>
                                        </p:tgtEl>
                                        <p:attrNameLst>
                                          <p:attrName>style.visibility</p:attrName>
                                        </p:attrNameLst>
                                      </p:cBhvr>
                                      <p:to>
                                        <p:strVal val="visible"/>
                                      </p:to>
                                    </p:set>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93"/>
                                        </p:tgtEl>
                                        <p:attrNameLst>
                                          <p:attrName>style.visibility</p:attrName>
                                        </p:attrNameLst>
                                      </p:cBhvr>
                                      <p:to>
                                        <p:strVal val="visible"/>
                                      </p:to>
                                    </p:set>
                                    <p:anim calcmode="lin" valueType="num">
                                      <p:cBhvr additive="base">
                                        <p:cTn id="16" dur="500" fill="hold"/>
                                        <p:tgtEl>
                                          <p:spTgt spid="93"/>
                                        </p:tgtEl>
                                        <p:attrNameLst>
                                          <p:attrName>ppt_x</p:attrName>
                                        </p:attrNameLst>
                                      </p:cBhvr>
                                      <p:tavLst>
                                        <p:tav tm="0">
                                          <p:val>
                                            <p:strVal val="#ppt_x"/>
                                          </p:val>
                                        </p:tav>
                                        <p:tav tm="100000">
                                          <p:val>
                                            <p:strVal val="#ppt_x"/>
                                          </p:val>
                                        </p:tav>
                                      </p:tavLst>
                                    </p:anim>
                                    <p:anim calcmode="lin" valueType="num">
                                      <p:cBhvr additive="base">
                                        <p:cTn id="17" dur="500" fill="hold"/>
                                        <p:tgtEl>
                                          <p:spTgt spid="9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autoUpdateAnimBg="0"/>
      <p:bldP spid="93" grpId="0" animBg="1" autoUpdateAnimBg="0"/>
      <p:bldP spid="94"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30" name="Comment 23">
            <a:extLst>
              <a:ext uri="{FF2B5EF4-FFF2-40B4-BE49-F238E27FC236}">
                <a16:creationId xmlns="" xmlns:a16="http://schemas.microsoft.com/office/drawing/2014/main" id="{806F90F3-957B-4E77-A598-9642479310E1}"/>
              </a:ext>
            </a:extLst>
          </p:cNvPr>
          <p:cNvSpPr>
            <a:spLocks noChangeArrowheads="1"/>
          </p:cNvSpPr>
          <p:nvPr/>
        </p:nvSpPr>
        <p:spPr bwMode="auto">
          <a:xfrm>
            <a:off x="0" y="3984748"/>
            <a:ext cx="9144000" cy="46166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400" b="1" dirty="0">
                <a:solidFill>
                  <a:srgbClr val="000000"/>
                </a:solidFill>
                <a:latin typeface="Times New Roman" panose="02020603050405020304" pitchFamily="18" charset="0"/>
                <a:cs typeface="Times New Roman" panose="02020603050405020304" pitchFamily="18" charset="0"/>
              </a:rPr>
              <a:t>The third memory bin(C) is the first one where process 5 will fit in</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
        <p:nvSpPr>
          <p:cNvPr id="31" name="Line 3">
            <a:extLst>
              <a:ext uri="{FF2B5EF4-FFF2-40B4-BE49-F238E27FC236}">
                <a16:creationId xmlns="" xmlns:a16="http://schemas.microsoft.com/office/drawing/2014/main" id="{A7E262DB-E6A9-462C-A3CE-B23B418636C9}"/>
              </a:ext>
            </a:extLst>
          </p:cNvPr>
          <p:cNvSpPr>
            <a:spLocks noChangeShapeType="1"/>
          </p:cNvSpPr>
          <p:nvPr/>
        </p:nvSpPr>
        <p:spPr bwMode="auto">
          <a:xfrm>
            <a:off x="1066800" y="3460873"/>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4">
            <a:extLst>
              <a:ext uri="{FF2B5EF4-FFF2-40B4-BE49-F238E27FC236}">
                <a16:creationId xmlns="" xmlns:a16="http://schemas.microsoft.com/office/drawing/2014/main" id="{3EDF80AB-EAA2-49AD-984C-44684A9BC78D}"/>
              </a:ext>
            </a:extLst>
          </p:cNvPr>
          <p:cNvSpPr>
            <a:spLocks noChangeShapeType="1"/>
          </p:cNvSpPr>
          <p:nvPr/>
        </p:nvSpPr>
        <p:spPr bwMode="auto">
          <a:xfrm flipV="1">
            <a:off x="10668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5">
            <a:extLst>
              <a:ext uri="{FF2B5EF4-FFF2-40B4-BE49-F238E27FC236}">
                <a16:creationId xmlns="" xmlns:a16="http://schemas.microsoft.com/office/drawing/2014/main" id="{FDB82EF5-AE94-4810-9FAA-B4C43FB36976}"/>
              </a:ext>
            </a:extLst>
          </p:cNvPr>
          <p:cNvSpPr>
            <a:spLocks noChangeShapeType="1"/>
          </p:cNvSpPr>
          <p:nvPr/>
        </p:nvSpPr>
        <p:spPr bwMode="auto">
          <a:xfrm flipV="1">
            <a:off x="60198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6">
            <a:extLst>
              <a:ext uri="{FF2B5EF4-FFF2-40B4-BE49-F238E27FC236}">
                <a16:creationId xmlns="" xmlns:a16="http://schemas.microsoft.com/office/drawing/2014/main" id="{E6ED0B23-B5D6-4EBE-A3D8-4BA64632FFAF}"/>
              </a:ext>
            </a:extLst>
          </p:cNvPr>
          <p:cNvSpPr>
            <a:spLocks noChangeShapeType="1"/>
          </p:cNvSpPr>
          <p:nvPr/>
        </p:nvSpPr>
        <p:spPr bwMode="auto">
          <a:xfrm flipV="1">
            <a:off x="20574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7">
            <a:extLst>
              <a:ext uri="{FF2B5EF4-FFF2-40B4-BE49-F238E27FC236}">
                <a16:creationId xmlns="" xmlns:a16="http://schemas.microsoft.com/office/drawing/2014/main" id="{4A8E7363-CF52-4FBE-A752-E203512BEC6B}"/>
              </a:ext>
            </a:extLst>
          </p:cNvPr>
          <p:cNvSpPr>
            <a:spLocks noChangeShapeType="1"/>
          </p:cNvSpPr>
          <p:nvPr/>
        </p:nvSpPr>
        <p:spPr bwMode="auto">
          <a:xfrm flipV="1">
            <a:off x="30480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8">
            <a:extLst>
              <a:ext uri="{FF2B5EF4-FFF2-40B4-BE49-F238E27FC236}">
                <a16:creationId xmlns="" xmlns:a16="http://schemas.microsoft.com/office/drawing/2014/main" id="{68188A14-40AF-4922-B9C1-332DB11AF410}"/>
              </a:ext>
            </a:extLst>
          </p:cNvPr>
          <p:cNvSpPr>
            <a:spLocks noChangeShapeType="1"/>
          </p:cNvSpPr>
          <p:nvPr/>
        </p:nvSpPr>
        <p:spPr bwMode="auto">
          <a:xfrm flipV="1">
            <a:off x="40386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9">
            <a:extLst>
              <a:ext uri="{FF2B5EF4-FFF2-40B4-BE49-F238E27FC236}">
                <a16:creationId xmlns="" xmlns:a16="http://schemas.microsoft.com/office/drawing/2014/main" id="{260F77A6-0F03-427F-895B-1E1985C52994}"/>
              </a:ext>
            </a:extLst>
          </p:cNvPr>
          <p:cNvSpPr>
            <a:spLocks noChangeShapeType="1"/>
          </p:cNvSpPr>
          <p:nvPr/>
        </p:nvSpPr>
        <p:spPr bwMode="auto">
          <a:xfrm flipV="1">
            <a:off x="50292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1">
            <a:extLst>
              <a:ext uri="{FF2B5EF4-FFF2-40B4-BE49-F238E27FC236}">
                <a16:creationId xmlns="" xmlns:a16="http://schemas.microsoft.com/office/drawing/2014/main" id="{618D885D-A7D5-4334-ADEC-C9E6A199FF84}"/>
              </a:ext>
            </a:extLst>
          </p:cNvPr>
          <p:cNvSpPr>
            <a:spLocks noChangeShapeType="1"/>
          </p:cNvSpPr>
          <p:nvPr/>
        </p:nvSpPr>
        <p:spPr bwMode="auto">
          <a:xfrm flipV="1">
            <a:off x="7010400" y="163207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Rectangle 12">
            <a:extLst>
              <a:ext uri="{FF2B5EF4-FFF2-40B4-BE49-F238E27FC236}">
                <a16:creationId xmlns="" xmlns:a16="http://schemas.microsoft.com/office/drawing/2014/main" id="{686357C5-BE5B-46B0-A1AC-5F7858B026A8}"/>
              </a:ext>
            </a:extLst>
          </p:cNvPr>
          <p:cNvSpPr>
            <a:spLocks noChangeArrowheads="1"/>
          </p:cNvSpPr>
          <p:nvPr/>
        </p:nvSpPr>
        <p:spPr bwMode="auto">
          <a:xfrm>
            <a:off x="1143000" y="2241673"/>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40" name="Rectangle 14">
            <a:extLst>
              <a:ext uri="{FF2B5EF4-FFF2-40B4-BE49-F238E27FC236}">
                <a16:creationId xmlns="" xmlns:a16="http://schemas.microsoft.com/office/drawing/2014/main" id="{07467555-89D5-4D6A-8F1C-9BD124E0C7E7}"/>
              </a:ext>
            </a:extLst>
          </p:cNvPr>
          <p:cNvSpPr>
            <a:spLocks noChangeArrowheads="1"/>
          </p:cNvSpPr>
          <p:nvPr/>
        </p:nvSpPr>
        <p:spPr bwMode="auto">
          <a:xfrm>
            <a:off x="1143000" y="1936873"/>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41" name="Rectangle 15">
            <a:extLst>
              <a:ext uri="{FF2B5EF4-FFF2-40B4-BE49-F238E27FC236}">
                <a16:creationId xmlns="" xmlns:a16="http://schemas.microsoft.com/office/drawing/2014/main" id="{87711E61-2042-40C7-9AF9-C4516D1DB968}"/>
              </a:ext>
            </a:extLst>
          </p:cNvPr>
          <p:cNvSpPr>
            <a:spLocks noChangeArrowheads="1"/>
          </p:cNvSpPr>
          <p:nvPr/>
        </p:nvSpPr>
        <p:spPr bwMode="auto">
          <a:xfrm>
            <a:off x="4822605" y="5948217"/>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2" name="Rectangle 17">
            <a:extLst>
              <a:ext uri="{FF2B5EF4-FFF2-40B4-BE49-F238E27FC236}">
                <a16:creationId xmlns="" xmlns:a16="http://schemas.microsoft.com/office/drawing/2014/main" id="{323E32B9-24FA-4CB9-8CA4-6DBF497BA6E2}"/>
              </a:ext>
            </a:extLst>
          </p:cNvPr>
          <p:cNvSpPr>
            <a:spLocks noChangeArrowheads="1"/>
          </p:cNvSpPr>
          <p:nvPr/>
        </p:nvSpPr>
        <p:spPr bwMode="auto">
          <a:xfrm>
            <a:off x="6842125" y="4747409"/>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43" name="Rectangle 19">
            <a:extLst>
              <a:ext uri="{FF2B5EF4-FFF2-40B4-BE49-F238E27FC236}">
                <a16:creationId xmlns="" xmlns:a16="http://schemas.microsoft.com/office/drawing/2014/main" id="{D1F5A768-18D8-4453-8614-D53E7335F148}"/>
              </a:ext>
            </a:extLst>
          </p:cNvPr>
          <p:cNvSpPr>
            <a:spLocks noChangeArrowheads="1"/>
          </p:cNvSpPr>
          <p:nvPr/>
        </p:nvSpPr>
        <p:spPr bwMode="auto">
          <a:xfrm>
            <a:off x="7794405" y="5643417"/>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4" name="Rectangle 20">
            <a:extLst>
              <a:ext uri="{FF2B5EF4-FFF2-40B4-BE49-F238E27FC236}">
                <a16:creationId xmlns="" xmlns:a16="http://schemas.microsoft.com/office/drawing/2014/main" id="{1F6A76DB-EE98-4453-A76B-DC2BA3CD1E97}"/>
              </a:ext>
            </a:extLst>
          </p:cNvPr>
          <p:cNvSpPr>
            <a:spLocks noChangeArrowheads="1"/>
          </p:cNvSpPr>
          <p:nvPr/>
        </p:nvSpPr>
        <p:spPr bwMode="auto">
          <a:xfrm>
            <a:off x="1143000" y="412873"/>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dirty="0"/>
              <a:t>5</a:t>
            </a:r>
          </a:p>
        </p:txBody>
      </p:sp>
      <p:sp>
        <p:nvSpPr>
          <p:cNvPr id="45" name="Rectangle 21">
            <a:extLst>
              <a:ext uri="{FF2B5EF4-FFF2-40B4-BE49-F238E27FC236}">
                <a16:creationId xmlns="" xmlns:a16="http://schemas.microsoft.com/office/drawing/2014/main" id="{A2D1DB3A-F80A-42C3-B9D9-09E5AED29ED3}"/>
              </a:ext>
            </a:extLst>
          </p:cNvPr>
          <p:cNvSpPr>
            <a:spLocks noChangeArrowheads="1"/>
          </p:cNvSpPr>
          <p:nvPr/>
        </p:nvSpPr>
        <p:spPr bwMode="auto">
          <a:xfrm>
            <a:off x="5813205" y="5643417"/>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6" name="Rectangle 22">
            <a:extLst>
              <a:ext uri="{FF2B5EF4-FFF2-40B4-BE49-F238E27FC236}">
                <a16:creationId xmlns="" xmlns:a16="http://schemas.microsoft.com/office/drawing/2014/main" id="{3C6F7E98-5B37-43D4-AB7D-69C29E94B00C}"/>
              </a:ext>
            </a:extLst>
          </p:cNvPr>
          <p:cNvSpPr>
            <a:spLocks noChangeArrowheads="1"/>
          </p:cNvSpPr>
          <p:nvPr/>
        </p:nvSpPr>
        <p:spPr bwMode="auto">
          <a:xfrm>
            <a:off x="2133600" y="2851273"/>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7" name="Rectangle 25">
            <a:extLst>
              <a:ext uri="{FF2B5EF4-FFF2-40B4-BE49-F238E27FC236}">
                <a16:creationId xmlns="" xmlns:a16="http://schemas.microsoft.com/office/drawing/2014/main" id="{D7BC3F71-25E4-4EA0-A46D-330BE882AAD9}"/>
              </a:ext>
            </a:extLst>
          </p:cNvPr>
          <p:cNvSpPr>
            <a:spLocks noChangeArrowheads="1"/>
          </p:cNvSpPr>
          <p:nvPr/>
        </p:nvSpPr>
        <p:spPr bwMode="auto">
          <a:xfrm>
            <a:off x="3832005" y="5643417"/>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8" name="Rectangle 27">
            <a:extLst>
              <a:ext uri="{FF2B5EF4-FFF2-40B4-BE49-F238E27FC236}">
                <a16:creationId xmlns="" xmlns:a16="http://schemas.microsoft.com/office/drawing/2014/main" id="{4739DFC5-7A4A-4BDD-9D20-E692096C09AB}"/>
              </a:ext>
            </a:extLst>
          </p:cNvPr>
          <p:cNvSpPr>
            <a:spLocks noChangeArrowheads="1"/>
          </p:cNvSpPr>
          <p:nvPr/>
        </p:nvSpPr>
        <p:spPr bwMode="auto">
          <a:xfrm>
            <a:off x="2133600" y="1327273"/>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49" name="Rectangle 28">
            <a:extLst>
              <a:ext uri="{FF2B5EF4-FFF2-40B4-BE49-F238E27FC236}">
                <a16:creationId xmlns="" xmlns:a16="http://schemas.microsoft.com/office/drawing/2014/main" id="{833D5526-43BA-4CE6-A126-C6AAE9B9CB34}"/>
              </a:ext>
            </a:extLst>
          </p:cNvPr>
          <p:cNvSpPr>
            <a:spLocks noChangeArrowheads="1"/>
          </p:cNvSpPr>
          <p:nvPr/>
        </p:nvSpPr>
        <p:spPr bwMode="auto">
          <a:xfrm>
            <a:off x="3124200" y="1936873"/>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50" name="TextBox 24">
            <a:extLst>
              <a:ext uri="{FF2B5EF4-FFF2-40B4-BE49-F238E27FC236}">
                <a16:creationId xmlns="" xmlns:a16="http://schemas.microsoft.com/office/drawing/2014/main" id="{2C9399CC-888D-49C8-844E-59F605C1120D}"/>
              </a:ext>
            </a:extLst>
          </p:cNvPr>
          <p:cNvSpPr txBox="1">
            <a:spLocks noChangeArrowheads="1"/>
          </p:cNvSpPr>
          <p:nvPr/>
        </p:nvSpPr>
        <p:spPr bwMode="auto">
          <a:xfrm>
            <a:off x="1441450" y="3543423"/>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51" name="TextBox 25">
            <a:extLst>
              <a:ext uri="{FF2B5EF4-FFF2-40B4-BE49-F238E27FC236}">
                <a16:creationId xmlns="" xmlns:a16="http://schemas.microsoft.com/office/drawing/2014/main" id="{9AD76DBF-436C-4976-9157-30690A1C3DBD}"/>
              </a:ext>
            </a:extLst>
          </p:cNvPr>
          <p:cNvSpPr txBox="1">
            <a:spLocks noChangeArrowheads="1"/>
          </p:cNvSpPr>
          <p:nvPr/>
        </p:nvSpPr>
        <p:spPr bwMode="auto">
          <a:xfrm>
            <a:off x="2378075" y="3543423"/>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52" name="TextBox 26">
            <a:extLst>
              <a:ext uri="{FF2B5EF4-FFF2-40B4-BE49-F238E27FC236}">
                <a16:creationId xmlns="" xmlns:a16="http://schemas.microsoft.com/office/drawing/2014/main" id="{9C89C341-D0AE-4245-95F7-2122E6D192D6}"/>
              </a:ext>
            </a:extLst>
          </p:cNvPr>
          <p:cNvSpPr txBox="1">
            <a:spLocks noChangeArrowheads="1"/>
          </p:cNvSpPr>
          <p:nvPr/>
        </p:nvSpPr>
        <p:spPr bwMode="auto">
          <a:xfrm>
            <a:off x="3386137" y="3543423"/>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53" name="TextBox 27">
            <a:extLst>
              <a:ext uri="{FF2B5EF4-FFF2-40B4-BE49-F238E27FC236}">
                <a16:creationId xmlns="" xmlns:a16="http://schemas.microsoft.com/office/drawing/2014/main" id="{D9A3BFAE-E1F7-49F5-A7AB-CDB6533B1246}"/>
              </a:ext>
            </a:extLst>
          </p:cNvPr>
          <p:cNvSpPr txBox="1">
            <a:spLocks noChangeArrowheads="1"/>
          </p:cNvSpPr>
          <p:nvPr/>
        </p:nvSpPr>
        <p:spPr bwMode="auto">
          <a:xfrm>
            <a:off x="4465637" y="3543423"/>
            <a:ext cx="433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54" name="TextBox 28">
            <a:extLst>
              <a:ext uri="{FF2B5EF4-FFF2-40B4-BE49-F238E27FC236}">
                <a16:creationId xmlns="" xmlns:a16="http://schemas.microsoft.com/office/drawing/2014/main" id="{261436C9-B85D-4A25-987C-22B0903D2DE3}"/>
              </a:ext>
            </a:extLst>
          </p:cNvPr>
          <p:cNvSpPr txBox="1">
            <a:spLocks noChangeArrowheads="1"/>
          </p:cNvSpPr>
          <p:nvPr/>
        </p:nvSpPr>
        <p:spPr bwMode="auto">
          <a:xfrm>
            <a:off x="5402262" y="3543423"/>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55" name="TextBox 29">
            <a:extLst>
              <a:ext uri="{FF2B5EF4-FFF2-40B4-BE49-F238E27FC236}">
                <a16:creationId xmlns="" xmlns:a16="http://schemas.microsoft.com/office/drawing/2014/main" id="{47407867-B901-4788-9088-B04066949673}"/>
              </a:ext>
            </a:extLst>
          </p:cNvPr>
          <p:cNvSpPr txBox="1">
            <a:spLocks noChangeArrowheads="1"/>
          </p:cNvSpPr>
          <p:nvPr/>
        </p:nvSpPr>
        <p:spPr bwMode="auto">
          <a:xfrm>
            <a:off x="6410325" y="3543423"/>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352336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additive="base">
                                        <p:cTn id="13" dur="500" fill="hold"/>
                                        <p:tgtEl>
                                          <p:spTgt spid="48"/>
                                        </p:tgtEl>
                                        <p:attrNameLst>
                                          <p:attrName>ppt_x</p:attrName>
                                        </p:attrNameLst>
                                      </p:cBhvr>
                                      <p:tavLst>
                                        <p:tav tm="0">
                                          <p:val>
                                            <p:strVal val="#ppt_x"/>
                                          </p:val>
                                        </p:tav>
                                        <p:tav tm="100000">
                                          <p:val>
                                            <p:strVal val="#ppt_x"/>
                                          </p:val>
                                        </p:tav>
                                      </p:tavLst>
                                    </p:anim>
                                    <p:anim calcmode="lin" valueType="num">
                                      <p:cBhvr additive="base">
                                        <p:cTn id="1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8" grpId="0" animBg="1"/>
      <p:bldP spid="4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29" name="Comment 2">
            <a:extLst>
              <a:ext uri="{FF2B5EF4-FFF2-40B4-BE49-F238E27FC236}">
                <a16:creationId xmlns="" xmlns:a16="http://schemas.microsoft.com/office/drawing/2014/main" id="{BB1F737F-4696-4590-912F-835E49511F99}"/>
              </a:ext>
            </a:extLst>
          </p:cNvPr>
          <p:cNvSpPr>
            <a:spLocks noChangeArrowheads="1"/>
          </p:cNvSpPr>
          <p:nvPr/>
        </p:nvSpPr>
        <p:spPr bwMode="auto">
          <a:xfrm>
            <a:off x="0" y="3642262"/>
            <a:ext cx="9144000" cy="523220"/>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800" b="1" dirty="0">
                <a:solidFill>
                  <a:srgbClr val="000000"/>
                </a:solidFill>
                <a:latin typeface="Times New Roman" panose="02020603050405020304" pitchFamily="18" charset="0"/>
                <a:cs typeface="Times New Roman" panose="02020603050405020304" pitchFamily="18" charset="0"/>
              </a:rPr>
              <a:t>The second memory bin(B) has room for the process 3(red)</a:t>
            </a:r>
            <a:endParaRPr lang="en-GB" altLang="en-US" sz="2800" dirty="0">
              <a:solidFill>
                <a:srgbClr val="000000"/>
              </a:solidFill>
              <a:latin typeface="Times New Roman" panose="02020603050405020304" pitchFamily="18" charset="0"/>
              <a:cs typeface="Times New Roman" panose="02020603050405020304" pitchFamily="18" charset="0"/>
            </a:endParaRPr>
          </a:p>
        </p:txBody>
      </p:sp>
      <p:sp>
        <p:nvSpPr>
          <p:cNvPr id="56" name="Line 4">
            <a:extLst>
              <a:ext uri="{FF2B5EF4-FFF2-40B4-BE49-F238E27FC236}">
                <a16:creationId xmlns="" xmlns:a16="http://schemas.microsoft.com/office/drawing/2014/main" id="{683A1BB2-BD37-49E7-B880-3B6AD1143EEA}"/>
              </a:ext>
            </a:extLst>
          </p:cNvPr>
          <p:cNvSpPr>
            <a:spLocks noChangeShapeType="1"/>
          </p:cNvSpPr>
          <p:nvPr/>
        </p:nvSpPr>
        <p:spPr bwMode="auto">
          <a:xfrm>
            <a:off x="1066800" y="3013075"/>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5">
            <a:extLst>
              <a:ext uri="{FF2B5EF4-FFF2-40B4-BE49-F238E27FC236}">
                <a16:creationId xmlns="" xmlns:a16="http://schemas.microsoft.com/office/drawing/2014/main" id="{FC103F3D-A3B8-4ED8-81C1-5654B13B87E5}"/>
              </a:ext>
            </a:extLst>
          </p:cNvPr>
          <p:cNvSpPr>
            <a:spLocks noChangeShapeType="1"/>
          </p:cNvSpPr>
          <p:nvPr/>
        </p:nvSpPr>
        <p:spPr bwMode="auto">
          <a:xfrm flipV="1">
            <a:off x="10668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6">
            <a:extLst>
              <a:ext uri="{FF2B5EF4-FFF2-40B4-BE49-F238E27FC236}">
                <a16:creationId xmlns="" xmlns:a16="http://schemas.microsoft.com/office/drawing/2014/main" id="{8E720B76-9A7F-4DC4-B3DA-9749E319BAED}"/>
              </a:ext>
            </a:extLst>
          </p:cNvPr>
          <p:cNvSpPr>
            <a:spLocks noChangeShapeType="1"/>
          </p:cNvSpPr>
          <p:nvPr/>
        </p:nvSpPr>
        <p:spPr bwMode="auto">
          <a:xfrm flipV="1">
            <a:off x="60198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7">
            <a:extLst>
              <a:ext uri="{FF2B5EF4-FFF2-40B4-BE49-F238E27FC236}">
                <a16:creationId xmlns="" xmlns:a16="http://schemas.microsoft.com/office/drawing/2014/main" id="{C638551A-8E81-4FC4-9078-61AFD3D18611}"/>
              </a:ext>
            </a:extLst>
          </p:cNvPr>
          <p:cNvSpPr>
            <a:spLocks noChangeShapeType="1"/>
          </p:cNvSpPr>
          <p:nvPr/>
        </p:nvSpPr>
        <p:spPr bwMode="auto">
          <a:xfrm flipV="1">
            <a:off x="20574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8">
            <a:extLst>
              <a:ext uri="{FF2B5EF4-FFF2-40B4-BE49-F238E27FC236}">
                <a16:creationId xmlns="" xmlns:a16="http://schemas.microsoft.com/office/drawing/2014/main" id="{48E9C4E6-CEFA-4903-8EA2-E637DE8C5782}"/>
              </a:ext>
            </a:extLst>
          </p:cNvPr>
          <p:cNvSpPr>
            <a:spLocks noChangeShapeType="1"/>
          </p:cNvSpPr>
          <p:nvPr/>
        </p:nvSpPr>
        <p:spPr bwMode="auto">
          <a:xfrm flipV="1">
            <a:off x="30480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9">
            <a:extLst>
              <a:ext uri="{FF2B5EF4-FFF2-40B4-BE49-F238E27FC236}">
                <a16:creationId xmlns="" xmlns:a16="http://schemas.microsoft.com/office/drawing/2014/main" id="{F7D1D291-1FC5-4303-9566-29B3A05617BE}"/>
              </a:ext>
            </a:extLst>
          </p:cNvPr>
          <p:cNvSpPr>
            <a:spLocks noChangeShapeType="1"/>
          </p:cNvSpPr>
          <p:nvPr/>
        </p:nvSpPr>
        <p:spPr bwMode="auto">
          <a:xfrm flipV="1">
            <a:off x="40386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10">
            <a:extLst>
              <a:ext uri="{FF2B5EF4-FFF2-40B4-BE49-F238E27FC236}">
                <a16:creationId xmlns="" xmlns:a16="http://schemas.microsoft.com/office/drawing/2014/main" id="{D6D4EC47-FB89-4577-892A-93391A929B7F}"/>
              </a:ext>
            </a:extLst>
          </p:cNvPr>
          <p:cNvSpPr>
            <a:spLocks noChangeShapeType="1"/>
          </p:cNvSpPr>
          <p:nvPr/>
        </p:nvSpPr>
        <p:spPr bwMode="auto">
          <a:xfrm flipV="1">
            <a:off x="50292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2">
            <a:extLst>
              <a:ext uri="{FF2B5EF4-FFF2-40B4-BE49-F238E27FC236}">
                <a16:creationId xmlns="" xmlns:a16="http://schemas.microsoft.com/office/drawing/2014/main" id="{C0FF67BB-0E79-421C-BFE6-FE0A0753693E}"/>
              </a:ext>
            </a:extLst>
          </p:cNvPr>
          <p:cNvSpPr>
            <a:spLocks noChangeShapeType="1"/>
          </p:cNvSpPr>
          <p:nvPr/>
        </p:nvSpPr>
        <p:spPr bwMode="auto">
          <a:xfrm flipV="1">
            <a:off x="7010400" y="1184275"/>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Rectangle 13">
            <a:extLst>
              <a:ext uri="{FF2B5EF4-FFF2-40B4-BE49-F238E27FC236}">
                <a16:creationId xmlns="" xmlns:a16="http://schemas.microsoft.com/office/drawing/2014/main" id="{D09640C7-A9BE-4771-A058-628BAD914D95}"/>
              </a:ext>
            </a:extLst>
          </p:cNvPr>
          <p:cNvSpPr>
            <a:spLocks noChangeArrowheads="1"/>
          </p:cNvSpPr>
          <p:nvPr/>
        </p:nvSpPr>
        <p:spPr bwMode="auto">
          <a:xfrm>
            <a:off x="1143000" y="1793875"/>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65" name="Rectangle 15">
            <a:extLst>
              <a:ext uri="{FF2B5EF4-FFF2-40B4-BE49-F238E27FC236}">
                <a16:creationId xmlns="" xmlns:a16="http://schemas.microsoft.com/office/drawing/2014/main" id="{3EF11041-F843-4C6A-9A50-004E130213AA}"/>
              </a:ext>
            </a:extLst>
          </p:cNvPr>
          <p:cNvSpPr>
            <a:spLocks noChangeArrowheads="1"/>
          </p:cNvSpPr>
          <p:nvPr/>
        </p:nvSpPr>
        <p:spPr bwMode="auto">
          <a:xfrm>
            <a:off x="1143000" y="1489075"/>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66" name="Rectangle 16">
            <a:extLst>
              <a:ext uri="{FF2B5EF4-FFF2-40B4-BE49-F238E27FC236}">
                <a16:creationId xmlns="" xmlns:a16="http://schemas.microsoft.com/office/drawing/2014/main" id="{B946BF63-C201-4F38-950A-E27C5DDDAEEE}"/>
              </a:ext>
            </a:extLst>
          </p:cNvPr>
          <p:cNvSpPr>
            <a:spLocks noChangeArrowheads="1"/>
          </p:cNvSpPr>
          <p:nvPr/>
        </p:nvSpPr>
        <p:spPr bwMode="auto">
          <a:xfrm>
            <a:off x="5181600" y="5749925"/>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67" name="Rectangle 17">
            <a:extLst>
              <a:ext uri="{FF2B5EF4-FFF2-40B4-BE49-F238E27FC236}">
                <a16:creationId xmlns="" xmlns:a16="http://schemas.microsoft.com/office/drawing/2014/main" id="{B2B80155-E4D4-47BB-929E-6DB88839CDC6}"/>
              </a:ext>
            </a:extLst>
          </p:cNvPr>
          <p:cNvSpPr>
            <a:spLocks noChangeArrowheads="1"/>
          </p:cNvSpPr>
          <p:nvPr/>
        </p:nvSpPr>
        <p:spPr bwMode="auto">
          <a:xfrm>
            <a:off x="7162800" y="455295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68" name="Rectangle 18">
            <a:extLst>
              <a:ext uri="{FF2B5EF4-FFF2-40B4-BE49-F238E27FC236}">
                <a16:creationId xmlns="" xmlns:a16="http://schemas.microsoft.com/office/drawing/2014/main" id="{2F87810B-526A-40BB-8CA2-1F617EF19B22}"/>
              </a:ext>
            </a:extLst>
          </p:cNvPr>
          <p:cNvSpPr>
            <a:spLocks noChangeArrowheads="1"/>
          </p:cNvSpPr>
          <p:nvPr/>
        </p:nvSpPr>
        <p:spPr bwMode="auto">
          <a:xfrm>
            <a:off x="8153400" y="5445125"/>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9" name="Rectangle 20">
            <a:extLst>
              <a:ext uri="{FF2B5EF4-FFF2-40B4-BE49-F238E27FC236}">
                <a16:creationId xmlns="" xmlns:a16="http://schemas.microsoft.com/office/drawing/2014/main" id="{33D397AF-AC8C-45A8-B2E9-3141BFCFA8E1}"/>
              </a:ext>
            </a:extLst>
          </p:cNvPr>
          <p:cNvSpPr>
            <a:spLocks noChangeArrowheads="1"/>
          </p:cNvSpPr>
          <p:nvPr/>
        </p:nvSpPr>
        <p:spPr bwMode="auto">
          <a:xfrm>
            <a:off x="6172200" y="5445125"/>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0" name="Rectangle 21">
            <a:extLst>
              <a:ext uri="{FF2B5EF4-FFF2-40B4-BE49-F238E27FC236}">
                <a16:creationId xmlns="" xmlns:a16="http://schemas.microsoft.com/office/drawing/2014/main" id="{10E1B290-0466-46C9-A97C-2DFDC565A67E}"/>
              </a:ext>
            </a:extLst>
          </p:cNvPr>
          <p:cNvSpPr>
            <a:spLocks noChangeArrowheads="1"/>
          </p:cNvSpPr>
          <p:nvPr/>
        </p:nvSpPr>
        <p:spPr bwMode="auto">
          <a:xfrm>
            <a:off x="2133600" y="2403475"/>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71" name="Rectangle 23">
            <a:extLst>
              <a:ext uri="{FF2B5EF4-FFF2-40B4-BE49-F238E27FC236}">
                <a16:creationId xmlns="" xmlns:a16="http://schemas.microsoft.com/office/drawing/2014/main" id="{5776FAA0-A387-4B2F-AE0F-BD7BBA79BDDA}"/>
              </a:ext>
            </a:extLst>
          </p:cNvPr>
          <p:cNvSpPr>
            <a:spLocks noChangeArrowheads="1"/>
          </p:cNvSpPr>
          <p:nvPr/>
        </p:nvSpPr>
        <p:spPr bwMode="auto">
          <a:xfrm>
            <a:off x="2133600" y="1489075"/>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2" name="Rectangle 25">
            <a:extLst>
              <a:ext uri="{FF2B5EF4-FFF2-40B4-BE49-F238E27FC236}">
                <a16:creationId xmlns="" xmlns:a16="http://schemas.microsoft.com/office/drawing/2014/main" id="{4EEFFFD5-B086-4AA0-9524-BC6B4DE16E06}"/>
              </a:ext>
            </a:extLst>
          </p:cNvPr>
          <p:cNvSpPr>
            <a:spLocks noChangeArrowheads="1"/>
          </p:cNvSpPr>
          <p:nvPr/>
        </p:nvSpPr>
        <p:spPr bwMode="auto">
          <a:xfrm>
            <a:off x="3124200" y="1489075"/>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73" name="Rectangle 26">
            <a:extLst>
              <a:ext uri="{FF2B5EF4-FFF2-40B4-BE49-F238E27FC236}">
                <a16:creationId xmlns="" xmlns:a16="http://schemas.microsoft.com/office/drawing/2014/main" id="{19A276B5-0881-464A-AE15-DD44277D4E67}"/>
              </a:ext>
            </a:extLst>
          </p:cNvPr>
          <p:cNvSpPr>
            <a:spLocks noChangeArrowheads="1"/>
          </p:cNvSpPr>
          <p:nvPr/>
        </p:nvSpPr>
        <p:spPr bwMode="auto">
          <a:xfrm>
            <a:off x="1143000" y="574675"/>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4" name="TextBox 22">
            <a:extLst>
              <a:ext uri="{FF2B5EF4-FFF2-40B4-BE49-F238E27FC236}">
                <a16:creationId xmlns="" xmlns:a16="http://schemas.microsoft.com/office/drawing/2014/main" id="{E7945515-D3CB-4ADE-B234-BCA647241276}"/>
              </a:ext>
            </a:extLst>
          </p:cNvPr>
          <p:cNvSpPr txBox="1">
            <a:spLocks noChangeArrowheads="1"/>
          </p:cNvSpPr>
          <p:nvPr/>
        </p:nvSpPr>
        <p:spPr bwMode="auto">
          <a:xfrm>
            <a:off x="1249363" y="30670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75" name="TextBox 23">
            <a:extLst>
              <a:ext uri="{FF2B5EF4-FFF2-40B4-BE49-F238E27FC236}">
                <a16:creationId xmlns="" xmlns:a16="http://schemas.microsoft.com/office/drawing/2014/main" id="{59D62786-A7E9-4998-9D01-DD9BC5E16BBD}"/>
              </a:ext>
            </a:extLst>
          </p:cNvPr>
          <p:cNvSpPr txBox="1">
            <a:spLocks noChangeArrowheads="1"/>
          </p:cNvSpPr>
          <p:nvPr/>
        </p:nvSpPr>
        <p:spPr bwMode="auto">
          <a:xfrm>
            <a:off x="2185988" y="30670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76" name="TextBox 24">
            <a:extLst>
              <a:ext uri="{FF2B5EF4-FFF2-40B4-BE49-F238E27FC236}">
                <a16:creationId xmlns="" xmlns:a16="http://schemas.microsoft.com/office/drawing/2014/main" id="{1CA4E36D-0766-4B3E-A4DC-D78EDBFFAAFC}"/>
              </a:ext>
            </a:extLst>
          </p:cNvPr>
          <p:cNvSpPr txBox="1">
            <a:spLocks noChangeArrowheads="1"/>
          </p:cNvSpPr>
          <p:nvPr/>
        </p:nvSpPr>
        <p:spPr bwMode="auto">
          <a:xfrm>
            <a:off x="3194050" y="30670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77" name="TextBox 25">
            <a:extLst>
              <a:ext uri="{FF2B5EF4-FFF2-40B4-BE49-F238E27FC236}">
                <a16:creationId xmlns="" xmlns:a16="http://schemas.microsoft.com/office/drawing/2014/main" id="{F2803668-1230-4687-B306-AE5D360DFC1B}"/>
              </a:ext>
            </a:extLst>
          </p:cNvPr>
          <p:cNvSpPr txBox="1">
            <a:spLocks noChangeArrowheads="1"/>
          </p:cNvSpPr>
          <p:nvPr/>
        </p:nvSpPr>
        <p:spPr bwMode="auto">
          <a:xfrm>
            <a:off x="4273550" y="3067050"/>
            <a:ext cx="433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78" name="TextBox 26">
            <a:extLst>
              <a:ext uri="{FF2B5EF4-FFF2-40B4-BE49-F238E27FC236}">
                <a16:creationId xmlns="" xmlns:a16="http://schemas.microsoft.com/office/drawing/2014/main" id="{C8FEC738-C8DB-4B4D-BC8A-F487C1623373}"/>
              </a:ext>
            </a:extLst>
          </p:cNvPr>
          <p:cNvSpPr txBox="1">
            <a:spLocks noChangeArrowheads="1"/>
          </p:cNvSpPr>
          <p:nvPr/>
        </p:nvSpPr>
        <p:spPr bwMode="auto">
          <a:xfrm>
            <a:off x="5210175" y="30670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79" name="TextBox 27">
            <a:extLst>
              <a:ext uri="{FF2B5EF4-FFF2-40B4-BE49-F238E27FC236}">
                <a16:creationId xmlns="" xmlns:a16="http://schemas.microsoft.com/office/drawing/2014/main" id="{EAEBF9F2-2D4F-4977-91D5-C204237E1FB5}"/>
              </a:ext>
            </a:extLst>
          </p:cNvPr>
          <p:cNvSpPr txBox="1">
            <a:spLocks noChangeArrowheads="1"/>
          </p:cNvSpPr>
          <p:nvPr/>
        </p:nvSpPr>
        <p:spPr bwMode="auto">
          <a:xfrm>
            <a:off x="6218238" y="3067050"/>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211386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
                                        </p:tgtEl>
                                        <p:attrNameLst>
                                          <p:attrName>style.visibility</p:attrName>
                                        </p:attrNameLst>
                                      </p:cBhvr>
                                      <p:to>
                                        <p:strVal val="visible"/>
                                      </p:to>
                                    </p:set>
                                    <p:anim calcmode="lin" valueType="num">
                                      <p:cBhvr additive="base">
                                        <p:cTn id="13" dur="500" fill="hold"/>
                                        <p:tgtEl>
                                          <p:spTgt spid="71"/>
                                        </p:tgtEl>
                                        <p:attrNameLst>
                                          <p:attrName>ppt_x</p:attrName>
                                        </p:attrNameLst>
                                      </p:cBhvr>
                                      <p:tavLst>
                                        <p:tav tm="0">
                                          <p:val>
                                            <p:strVal val="#ppt_x"/>
                                          </p:val>
                                        </p:tav>
                                        <p:tav tm="100000">
                                          <p:val>
                                            <p:strVal val="#ppt_x"/>
                                          </p:val>
                                        </p:tav>
                                      </p:tavLst>
                                    </p:anim>
                                    <p:anim calcmode="lin" valueType="num">
                                      <p:cBhvr additive="base">
                                        <p:cTn id="14"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28" name="Comment 2">
            <a:extLst>
              <a:ext uri="{FF2B5EF4-FFF2-40B4-BE49-F238E27FC236}">
                <a16:creationId xmlns="" xmlns:a16="http://schemas.microsoft.com/office/drawing/2014/main" id="{D58A933F-B8D4-4C38-A7D4-DACD1B73B678}"/>
              </a:ext>
            </a:extLst>
          </p:cNvPr>
          <p:cNvSpPr>
            <a:spLocks noChangeArrowheads="1"/>
          </p:cNvSpPr>
          <p:nvPr/>
        </p:nvSpPr>
        <p:spPr bwMode="auto">
          <a:xfrm>
            <a:off x="0" y="3467100"/>
            <a:ext cx="9144000" cy="954107"/>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800" b="1" dirty="0">
                <a:solidFill>
                  <a:srgbClr val="000000"/>
                </a:solidFill>
                <a:latin typeface="Times New Roman" panose="02020603050405020304" pitchFamily="18" charset="0"/>
                <a:cs typeface="Times New Roman" panose="02020603050405020304" pitchFamily="18" charset="0"/>
              </a:rPr>
              <a:t>The fourth bin(D) is the first one with room for the next process(2-purple)</a:t>
            </a:r>
            <a:endParaRPr lang="en-GB" altLang="en-US" sz="2800" dirty="0">
              <a:solidFill>
                <a:srgbClr val="000000"/>
              </a:solidFill>
              <a:latin typeface="Times New Roman" panose="02020603050405020304" pitchFamily="18" charset="0"/>
              <a:cs typeface="Times New Roman" panose="02020603050405020304" pitchFamily="18" charset="0"/>
            </a:endParaRPr>
          </a:p>
        </p:txBody>
      </p:sp>
      <p:sp>
        <p:nvSpPr>
          <p:cNvPr id="30" name="Line 4">
            <a:extLst>
              <a:ext uri="{FF2B5EF4-FFF2-40B4-BE49-F238E27FC236}">
                <a16:creationId xmlns="" xmlns:a16="http://schemas.microsoft.com/office/drawing/2014/main" id="{8BA1A260-399C-4AEA-B8F6-C4ED17BE7178}"/>
              </a:ext>
            </a:extLst>
          </p:cNvPr>
          <p:cNvSpPr>
            <a:spLocks noChangeShapeType="1"/>
          </p:cNvSpPr>
          <p:nvPr/>
        </p:nvSpPr>
        <p:spPr bwMode="auto">
          <a:xfrm>
            <a:off x="1295400" y="2709863"/>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5">
            <a:extLst>
              <a:ext uri="{FF2B5EF4-FFF2-40B4-BE49-F238E27FC236}">
                <a16:creationId xmlns="" xmlns:a16="http://schemas.microsoft.com/office/drawing/2014/main" id="{DAA0D13A-031C-4DA6-B276-FBDA681413B5}"/>
              </a:ext>
            </a:extLst>
          </p:cNvPr>
          <p:cNvSpPr>
            <a:spLocks noChangeShapeType="1"/>
          </p:cNvSpPr>
          <p:nvPr/>
        </p:nvSpPr>
        <p:spPr bwMode="auto">
          <a:xfrm flipV="1">
            <a:off x="12954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6">
            <a:extLst>
              <a:ext uri="{FF2B5EF4-FFF2-40B4-BE49-F238E27FC236}">
                <a16:creationId xmlns="" xmlns:a16="http://schemas.microsoft.com/office/drawing/2014/main" id="{DC4CB90E-085E-432F-8512-9FD46D4F8682}"/>
              </a:ext>
            </a:extLst>
          </p:cNvPr>
          <p:cNvSpPr>
            <a:spLocks noChangeShapeType="1"/>
          </p:cNvSpPr>
          <p:nvPr/>
        </p:nvSpPr>
        <p:spPr bwMode="auto">
          <a:xfrm flipV="1">
            <a:off x="62484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
            <a:extLst>
              <a:ext uri="{FF2B5EF4-FFF2-40B4-BE49-F238E27FC236}">
                <a16:creationId xmlns="" xmlns:a16="http://schemas.microsoft.com/office/drawing/2014/main" id="{93FD16C9-65FD-4FE0-9BCF-78AA29BFF0F1}"/>
              </a:ext>
            </a:extLst>
          </p:cNvPr>
          <p:cNvSpPr>
            <a:spLocks noChangeShapeType="1"/>
          </p:cNvSpPr>
          <p:nvPr/>
        </p:nvSpPr>
        <p:spPr bwMode="auto">
          <a:xfrm flipV="1">
            <a:off x="22860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8">
            <a:extLst>
              <a:ext uri="{FF2B5EF4-FFF2-40B4-BE49-F238E27FC236}">
                <a16:creationId xmlns="" xmlns:a16="http://schemas.microsoft.com/office/drawing/2014/main" id="{3DEF1CE8-1BF1-4EF8-86F8-B6344C608A5C}"/>
              </a:ext>
            </a:extLst>
          </p:cNvPr>
          <p:cNvSpPr>
            <a:spLocks noChangeShapeType="1"/>
          </p:cNvSpPr>
          <p:nvPr/>
        </p:nvSpPr>
        <p:spPr bwMode="auto">
          <a:xfrm flipV="1">
            <a:off x="32766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9">
            <a:extLst>
              <a:ext uri="{FF2B5EF4-FFF2-40B4-BE49-F238E27FC236}">
                <a16:creationId xmlns="" xmlns:a16="http://schemas.microsoft.com/office/drawing/2014/main" id="{ECC03BD2-6CB1-4EB7-9C56-1B0C5999EF0C}"/>
              </a:ext>
            </a:extLst>
          </p:cNvPr>
          <p:cNvSpPr>
            <a:spLocks noChangeShapeType="1"/>
          </p:cNvSpPr>
          <p:nvPr/>
        </p:nvSpPr>
        <p:spPr bwMode="auto">
          <a:xfrm flipV="1">
            <a:off x="42672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0">
            <a:extLst>
              <a:ext uri="{FF2B5EF4-FFF2-40B4-BE49-F238E27FC236}">
                <a16:creationId xmlns="" xmlns:a16="http://schemas.microsoft.com/office/drawing/2014/main" id="{AEFF4F80-621E-46B3-94B7-68744066B97F}"/>
              </a:ext>
            </a:extLst>
          </p:cNvPr>
          <p:cNvSpPr>
            <a:spLocks noChangeShapeType="1"/>
          </p:cNvSpPr>
          <p:nvPr/>
        </p:nvSpPr>
        <p:spPr bwMode="auto">
          <a:xfrm flipV="1">
            <a:off x="52578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2">
            <a:extLst>
              <a:ext uri="{FF2B5EF4-FFF2-40B4-BE49-F238E27FC236}">
                <a16:creationId xmlns="" xmlns:a16="http://schemas.microsoft.com/office/drawing/2014/main" id="{88E477C6-F75E-4144-93A9-4085ED9104A3}"/>
              </a:ext>
            </a:extLst>
          </p:cNvPr>
          <p:cNvSpPr>
            <a:spLocks noChangeShapeType="1"/>
          </p:cNvSpPr>
          <p:nvPr/>
        </p:nvSpPr>
        <p:spPr bwMode="auto">
          <a:xfrm flipV="1">
            <a:off x="7239000" y="8810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Rectangle 13">
            <a:extLst>
              <a:ext uri="{FF2B5EF4-FFF2-40B4-BE49-F238E27FC236}">
                <a16:creationId xmlns="" xmlns:a16="http://schemas.microsoft.com/office/drawing/2014/main" id="{E9866370-8AE2-4C2A-AF86-B8CA1439D4A8}"/>
              </a:ext>
            </a:extLst>
          </p:cNvPr>
          <p:cNvSpPr>
            <a:spLocks noChangeArrowheads="1"/>
          </p:cNvSpPr>
          <p:nvPr/>
        </p:nvSpPr>
        <p:spPr bwMode="auto">
          <a:xfrm>
            <a:off x="1371600" y="1490663"/>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39" name="Rectangle 14">
            <a:extLst>
              <a:ext uri="{FF2B5EF4-FFF2-40B4-BE49-F238E27FC236}">
                <a16:creationId xmlns="" xmlns:a16="http://schemas.microsoft.com/office/drawing/2014/main" id="{8CE0896B-8F13-4AA1-8AE8-5C9701D72EAE}"/>
              </a:ext>
            </a:extLst>
          </p:cNvPr>
          <p:cNvSpPr>
            <a:spLocks noChangeArrowheads="1"/>
          </p:cNvSpPr>
          <p:nvPr/>
        </p:nvSpPr>
        <p:spPr bwMode="auto">
          <a:xfrm>
            <a:off x="1371600" y="1185863"/>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40" name="Rectangle 15">
            <a:extLst>
              <a:ext uri="{FF2B5EF4-FFF2-40B4-BE49-F238E27FC236}">
                <a16:creationId xmlns="" xmlns:a16="http://schemas.microsoft.com/office/drawing/2014/main" id="{04F6B412-97C8-4D56-A751-F3355831CF18}"/>
              </a:ext>
            </a:extLst>
          </p:cNvPr>
          <p:cNvSpPr>
            <a:spLocks noChangeArrowheads="1"/>
          </p:cNvSpPr>
          <p:nvPr/>
        </p:nvSpPr>
        <p:spPr bwMode="auto">
          <a:xfrm>
            <a:off x="1371600" y="576263"/>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1" name="Rectangle 16">
            <a:extLst>
              <a:ext uri="{FF2B5EF4-FFF2-40B4-BE49-F238E27FC236}">
                <a16:creationId xmlns="" xmlns:a16="http://schemas.microsoft.com/office/drawing/2014/main" id="{1C2A8DD5-F862-4F26-B2D2-C3072D410720}"/>
              </a:ext>
            </a:extLst>
          </p:cNvPr>
          <p:cNvSpPr>
            <a:spLocks noChangeArrowheads="1"/>
          </p:cNvSpPr>
          <p:nvPr/>
        </p:nvSpPr>
        <p:spPr bwMode="auto">
          <a:xfrm>
            <a:off x="7162800" y="45085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42" name="Rectangle 17">
            <a:extLst>
              <a:ext uri="{FF2B5EF4-FFF2-40B4-BE49-F238E27FC236}">
                <a16:creationId xmlns="" xmlns:a16="http://schemas.microsoft.com/office/drawing/2014/main" id="{A74CB60C-BA45-4585-8274-82E33BD574C1}"/>
              </a:ext>
            </a:extLst>
          </p:cNvPr>
          <p:cNvSpPr>
            <a:spLocks noChangeArrowheads="1"/>
          </p:cNvSpPr>
          <p:nvPr/>
        </p:nvSpPr>
        <p:spPr bwMode="auto">
          <a:xfrm>
            <a:off x="8153400" y="54229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3" name="Rectangle 19">
            <a:extLst>
              <a:ext uri="{FF2B5EF4-FFF2-40B4-BE49-F238E27FC236}">
                <a16:creationId xmlns="" xmlns:a16="http://schemas.microsoft.com/office/drawing/2014/main" id="{58EDA7D6-3A02-4DD3-9D2C-4879EFD7A784}"/>
              </a:ext>
            </a:extLst>
          </p:cNvPr>
          <p:cNvSpPr>
            <a:spLocks noChangeArrowheads="1"/>
          </p:cNvSpPr>
          <p:nvPr/>
        </p:nvSpPr>
        <p:spPr bwMode="auto">
          <a:xfrm>
            <a:off x="6172200" y="54229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4" name="Rectangle 20">
            <a:extLst>
              <a:ext uri="{FF2B5EF4-FFF2-40B4-BE49-F238E27FC236}">
                <a16:creationId xmlns="" xmlns:a16="http://schemas.microsoft.com/office/drawing/2014/main" id="{10DB2458-B5F2-410F-AF3E-F7EB927D0FF0}"/>
              </a:ext>
            </a:extLst>
          </p:cNvPr>
          <p:cNvSpPr>
            <a:spLocks noChangeArrowheads="1"/>
          </p:cNvSpPr>
          <p:nvPr/>
        </p:nvSpPr>
        <p:spPr bwMode="auto">
          <a:xfrm>
            <a:off x="2362200" y="2100263"/>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5" name="Rectangle 21">
            <a:extLst>
              <a:ext uri="{FF2B5EF4-FFF2-40B4-BE49-F238E27FC236}">
                <a16:creationId xmlns="" xmlns:a16="http://schemas.microsoft.com/office/drawing/2014/main" id="{4F9B9C6F-97A6-4684-8185-82220773B0CA}"/>
              </a:ext>
            </a:extLst>
          </p:cNvPr>
          <p:cNvSpPr>
            <a:spLocks noChangeArrowheads="1"/>
          </p:cNvSpPr>
          <p:nvPr/>
        </p:nvSpPr>
        <p:spPr bwMode="auto">
          <a:xfrm>
            <a:off x="2362200" y="1185863"/>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6" name="Rectangle 23">
            <a:extLst>
              <a:ext uri="{FF2B5EF4-FFF2-40B4-BE49-F238E27FC236}">
                <a16:creationId xmlns="" xmlns:a16="http://schemas.microsoft.com/office/drawing/2014/main" id="{FABDFCDF-7500-4A7D-A029-5191E99BD565}"/>
              </a:ext>
            </a:extLst>
          </p:cNvPr>
          <p:cNvSpPr>
            <a:spLocks noChangeArrowheads="1"/>
          </p:cNvSpPr>
          <p:nvPr/>
        </p:nvSpPr>
        <p:spPr bwMode="auto">
          <a:xfrm>
            <a:off x="3352800" y="1185863"/>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47" name="Rectangle 24">
            <a:extLst>
              <a:ext uri="{FF2B5EF4-FFF2-40B4-BE49-F238E27FC236}">
                <a16:creationId xmlns="" xmlns:a16="http://schemas.microsoft.com/office/drawing/2014/main" id="{B76E043B-F205-4DC3-8DAD-B2CF112CFFDE}"/>
              </a:ext>
            </a:extLst>
          </p:cNvPr>
          <p:cNvSpPr>
            <a:spLocks noChangeArrowheads="1"/>
          </p:cNvSpPr>
          <p:nvPr/>
        </p:nvSpPr>
        <p:spPr bwMode="auto">
          <a:xfrm>
            <a:off x="2362200" y="576263"/>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8" name="Rectangle 25">
            <a:extLst>
              <a:ext uri="{FF2B5EF4-FFF2-40B4-BE49-F238E27FC236}">
                <a16:creationId xmlns="" xmlns:a16="http://schemas.microsoft.com/office/drawing/2014/main" id="{9F13849D-44B7-48F4-87E4-2F4C1F1023CE}"/>
              </a:ext>
            </a:extLst>
          </p:cNvPr>
          <p:cNvSpPr>
            <a:spLocks noChangeArrowheads="1"/>
          </p:cNvSpPr>
          <p:nvPr/>
        </p:nvSpPr>
        <p:spPr bwMode="auto">
          <a:xfrm>
            <a:off x="3352800" y="576263"/>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9" name="Rectangle 26">
            <a:extLst>
              <a:ext uri="{FF2B5EF4-FFF2-40B4-BE49-F238E27FC236}">
                <a16:creationId xmlns="" xmlns:a16="http://schemas.microsoft.com/office/drawing/2014/main" id="{4993E5BF-2B70-4DFB-B8FD-3687D112A38E}"/>
              </a:ext>
            </a:extLst>
          </p:cNvPr>
          <p:cNvSpPr>
            <a:spLocks noChangeArrowheads="1"/>
          </p:cNvSpPr>
          <p:nvPr/>
        </p:nvSpPr>
        <p:spPr bwMode="auto">
          <a:xfrm>
            <a:off x="4343400" y="2100263"/>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50" name="TextBox 25">
            <a:extLst>
              <a:ext uri="{FF2B5EF4-FFF2-40B4-BE49-F238E27FC236}">
                <a16:creationId xmlns="" xmlns:a16="http://schemas.microsoft.com/office/drawing/2014/main" id="{4E384EA8-A45D-45BF-BDB1-476128510463}"/>
              </a:ext>
            </a:extLst>
          </p:cNvPr>
          <p:cNvSpPr txBox="1">
            <a:spLocks noChangeArrowheads="1"/>
          </p:cNvSpPr>
          <p:nvPr/>
        </p:nvSpPr>
        <p:spPr bwMode="auto">
          <a:xfrm>
            <a:off x="1477963" y="2808288"/>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51" name="TextBox 26">
            <a:extLst>
              <a:ext uri="{FF2B5EF4-FFF2-40B4-BE49-F238E27FC236}">
                <a16:creationId xmlns="" xmlns:a16="http://schemas.microsoft.com/office/drawing/2014/main" id="{C05FAFB5-5C05-4663-A534-A5F0193F0B30}"/>
              </a:ext>
            </a:extLst>
          </p:cNvPr>
          <p:cNvSpPr txBox="1">
            <a:spLocks noChangeArrowheads="1"/>
          </p:cNvSpPr>
          <p:nvPr/>
        </p:nvSpPr>
        <p:spPr bwMode="auto">
          <a:xfrm>
            <a:off x="2414588" y="2808288"/>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52" name="TextBox 27">
            <a:extLst>
              <a:ext uri="{FF2B5EF4-FFF2-40B4-BE49-F238E27FC236}">
                <a16:creationId xmlns="" xmlns:a16="http://schemas.microsoft.com/office/drawing/2014/main" id="{2B573964-A2D9-4784-BB0E-FF43B39B738B}"/>
              </a:ext>
            </a:extLst>
          </p:cNvPr>
          <p:cNvSpPr txBox="1">
            <a:spLocks noChangeArrowheads="1"/>
          </p:cNvSpPr>
          <p:nvPr/>
        </p:nvSpPr>
        <p:spPr bwMode="auto">
          <a:xfrm>
            <a:off x="3422650" y="2808288"/>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53" name="TextBox 28">
            <a:extLst>
              <a:ext uri="{FF2B5EF4-FFF2-40B4-BE49-F238E27FC236}">
                <a16:creationId xmlns="" xmlns:a16="http://schemas.microsoft.com/office/drawing/2014/main" id="{EC98A313-CECB-4399-8B89-009C6802C949}"/>
              </a:ext>
            </a:extLst>
          </p:cNvPr>
          <p:cNvSpPr txBox="1">
            <a:spLocks noChangeArrowheads="1"/>
          </p:cNvSpPr>
          <p:nvPr/>
        </p:nvSpPr>
        <p:spPr bwMode="auto">
          <a:xfrm>
            <a:off x="4502150" y="2808288"/>
            <a:ext cx="433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54" name="TextBox 29">
            <a:extLst>
              <a:ext uri="{FF2B5EF4-FFF2-40B4-BE49-F238E27FC236}">
                <a16:creationId xmlns="" xmlns:a16="http://schemas.microsoft.com/office/drawing/2014/main" id="{0F2B1C24-E5EC-4D81-8816-10EBD009ADB5}"/>
              </a:ext>
            </a:extLst>
          </p:cNvPr>
          <p:cNvSpPr txBox="1">
            <a:spLocks noChangeArrowheads="1"/>
          </p:cNvSpPr>
          <p:nvPr/>
        </p:nvSpPr>
        <p:spPr bwMode="auto">
          <a:xfrm>
            <a:off x="5438775" y="2808288"/>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55" name="TextBox 30">
            <a:extLst>
              <a:ext uri="{FF2B5EF4-FFF2-40B4-BE49-F238E27FC236}">
                <a16:creationId xmlns="" xmlns:a16="http://schemas.microsoft.com/office/drawing/2014/main" id="{093DA288-AA70-41FC-B2F8-20358E4F5D0F}"/>
              </a:ext>
            </a:extLst>
          </p:cNvPr>
          <p:cNvSpPr txBox="1">
            <a:spLocks noChangeArrowheads="1"/>
          </p:cNvSpPr>
          <p:nvPr/>
        </p:nvSpPr>
        <p:spPr bwMode="auto">
          <a:xfrm>
            <a:off x="6446838" y="2808288"/>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244469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anim calcmode="lin" valueType="num">
                                      <p:cBhvr additive="base">
                                        <p:cTn id="25" dur="500" fill="hold"/>
                                        <p:tgtEl>
                                          <p:spTgt spid="49"/>
                                        </p:tgtEl>
                                        <p:attrNameLst>
                                          <p:attrName>ppt_x</p:attrName>
                                        </p:attrNameLst>
                                      </p:cBhvr>
                                      <p:tavLst>
                                        <p:tav tm="0">
                                          <p:val>
                                            <p:strVal val="#ppt_x"/>
                                          </p:val>
                                        </p:tav>
                                        <p:tav tm="100000">
                                          <p:val>
                                            <p:strVal val="#ppt_x"/>
                                          </p:val>
                                        </p:tav>
                                      </p:tavLst>
                                    </p:anim>
                                    <p:anim calcmode="lin" valueType="num">
                                      <p:cBhvr additive="base">
                                        <p:cTn id="2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7" grpId="0" animBg="1"/>
      <p:bldP spid="48" grpId="0" animBg="1"/>
      <p:bldP spid="4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56" name="Comment 2">
            <a:extLst>
              <a:ext uri="{FF2B5EF4-FFF2-40B4-BE49-F238E27FC236}">
                <a16:creationId xmlns="" xmlns:a16="http://schemas.microsoft.com/office/drawing/2014/main" id="{F967DAE5-690E-4683-A679-9A1D21332CDE}"/>
              </a:ext>
            </a:extLst>
          </p:cNvPr>
          <p:cNvSpPr>
            <a:spLocks noChangeArrowheads="1"/>
          </p:cNvSpPr>
          <p:nvPr/>
        </p:nvSpPr>
        <p:spPr bwMode="auto">
          <a:xfrm>
            <a:off x="0" y="3665121"/>
            <a:ext cx="9144000" cy="954107"/>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800" b="1" dirty="0">
                <a:solidFill>
                  <a:srgbClr val="000000"/>
                </a:solidFill>
                <a:latin typeface="Times New Roman" panose="02020603050405020304" pitchFamily="18" charset="0"/>
                <a:cs typeface="Times New Roman" panose="02020603050405020304" pitchFamily="18" charset="0"/>
              </a:rPr>
              <a:t>The next process(3-Dark green) also fits in the fourth bin(D)</a:t>
            </a:r>
            <a:endParaRPr lang="en-GB" altLang="en-US" sz="2800" dirty="0">
              <a:solidFill>
                <a:srgbClr val="000000"/>
              </a:solidFill>
              <a:latin typeface="Times New Roman" panose="02020603050405020304" pitchFamily="18" charset="0"/>
              <a:cs typeface="Times New Roman" panose="02020603050405020304" pitchFamily="18" charset="0"/>
            </a:endParaRPr>
          </a:p>
        </p:txBody>
      </p:sp>
      <p:sp>
        <p:nvSpPr>
          <p:cNvPr id="57" name="Line 4">
            <a:extLst>
              <a:ext uri="{FF2B5EF4-FFF2-40B4-BE49-F238E27FC236}">
                <a16:creationId xmlns="" xmlns:a16="http://schemas.microsoft.com/office/drawing/2014/main" id="{F7721EF1-65C7-4FFD-A221-7C5BFBB91029}"/>
              </a:ext>
            </a:extLst>
          </p:cNvPr>
          <p:cNvSpPr>
            <a:spLocks noChangeShapeType="1"/>
          </p:cNvSpPr>
          <p:nvPr/>
        </p:nvSpPr>
        <p:spPr bwMode="auto">
          <a:xfrm>
            <a:off x="1263357" y="29718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5">
            <a:extLst>
              <a:ext uri="{FF2B5EF4-FFF2-40B4-BE49-F238E27FC236}">
                <a16:creationId xmlns="" xmlns:a16="http://schemas.microsoft.com/office/drawing/2014/main" id="{B1255CC6-82C6-4959-BBB5-A93F6AB0ACC8}"/>
              </a:ext>
            </a:extLst>
          </p:cNvPr>
          <p:cNvSpPr>
            <a:spLocks noChangeShapeType="1"/>
          </p:cNvSpPr>
          <p:nvPr/>
        </p:nvSpPr>
        <p:spPr bwMode="auto">
          <a:xfrm flipV="1">
            <a:off x="12633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6">
            <a:extLst>
              <a:ext uri="{FF2B5EF4-FFF2-40B4-BE49-F238E27FC236}">
                <a16:creationId xmlns="" xmlns:a16="http://schemas.microsoft.com/office/drawing/2014/main" id="{A69D62EE-3227-493D-B8A6-BDC423ED2821}"/>
              </a:ext>
            </a:extLst>
          </p:cNvPr>
          <p:cNvSpPr>
            <a:spLocks noChangeShapeType="1"/>
          </p:cNvSpPr>
          <p:nvPr/>
        </p:nvSpPr>
        <p:spPr bwMode="auto">
          <a:xfrm flipV="1">
            <a:off x="62163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7">
            <a:extLst>
              <a:ext uri="{FF2B5EF4-FFF2-40B4-BE49-F238E27FC236}">
                <a16:creationId xmlns="" xmlns:a16="http://schemas.microsoft.com/office/drawing/2014/main" id="{FB051EA4-479B-4570-B8B3-D923D1B5CC9C}"/>
              </a:ext>
            </a:extLst>
          </p:cNvPr>
          <p:cNvSpPr>
            <a:spLocks noChangeShapeType="1"/>
          </p:cNvSpPr>
          <p:nvPr/>
        </p:nvSpPr>
        <p:spPr bwMode="auto">
          <a:xfrm flipV="1">
            <a:off x="22539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8">
            <a:extLst>
              <a:ext uri="{FF2B5EF4-FFF2-40B4-BE49-F238E27FC236}">
                <a16:creationId xmlns="" xmlns:a16="http://schemas.microsoft.com/office/drawing/2014/main" id="{972952D5-1710-4DFC-95BF-9D00C5401889}"/>
              </a:ext>
            </a:extLst>
          </p:cNvPr>
          <p:cNvSpPr>
            <a:spLocks noChangeShapeType="1"/>
          </p:cNvSpPr>
          <p:nvPr/>
        </p:nvSpPr>
        <p:spPr bwMode="auto">
          <a:xfrm flipV="1">
            <a:off x="32445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9">
            <a:extLst>
              <a:ext uri="{FF2B5EF4-FFF2-40B4-BE49-F238E27FC236}">
                <a16:creationId xmlns="" xmlns:a16="http://schemas.microsoft.com/office/drawing/2014/main" id="{0EB89897-5756-4DD0-9295-B39959EDFD88}"/>
              </a:ext>
            </a:extLst>
          </p:cNvPr>
          <p:cNvSpPr>
            <a:spLocks noChangeShapeType="1"/>
          </p:cNvSpPr>
          <p:nvPr/>
        </p:nvSpPr>
        <p:spPr bwMode="auto">
          <a:xfrm flipV="1">
            <a:off x="42351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0">
            <a:extLst>
              <a:ext uri="{FF2B5EF4-FFF2-40B4-BE49-F238E27FC236}">
                <a16:creationId xmlns="" xmlns:a16="http://schemas.microsoft.com/office/drawing/2014/main" id="{13FB66CE-D896-457E-8057-304730B2482B}"/>
              </a:ext>
            </a:extLst>
          </p:cNvPr>
          <p:cNvSpPr>
            <a:spLocks noChangeShapeType="1"/>
          </p:cNvSpPr>
          <p:nvPr/>
        </p:nvSpPr>
        <p:spPr bwMode="auto">
          <a:xfrm flipV="1">
            <a:off x="52257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2">
            <a:extLst>
              <a:ext uri="{FF2B5EF4-FFF2-40B4-BE49-F238E27FC236}">
                <a16:creationId xmlns="" xmlns:a16="http://schemas.microsoft.com/office/drawing/2014/main" id="{8C1D30FA-55F5-4D6A-BF98-E420F845A154}"/>
              </a:ext>
            </a:extLst>
          </p:cNvPr>
          <p:cNvSpPr>
            <a:spLocks noChangeShapeType="1"/>
          </p:cNvSpPr>
          <p:nvPr/>
        </p:nvSpPr>
        <p:spPr bwMode="auto">
          <a:xfrm flipV="1">
            <a:off x="7206957" y="11430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Rectangle 13">
            <a:extLst>
              <a:ext uri="{FF2B5EF4-FFF2-40B4-BE49-F238E27FC236}">
                <a16:creationId xmlns="" xmlns:a16="http://schemas.microsoft.com/office/drawing/2014/main" id="{7F50FF8B-4615-4E08-824B-BBB19D96E62B}"/>
              </a:ext>
            </a:extLst>
          </p:cNvPr>
          <p:cNvSpPr>
            <a:spLocks noChangeArrowheads="1"/>
          </p:cNvSpPr>
          <p:nvPr/>
        </p:nvSpPr>
        <p:spPr bwMode="auto">
          <a:xfrm>
            <a:off x="1339557" y="1752600"/>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66" name="Rectangle 14">
            <a:extLst>
              <a:ext uri="{FF2B5EF4-FFF2-40B4-BE49-F238E27FC236}">
                <a16:creationId xmlns="" xmlns:a16="http://schemas.microsoft.com/office/drawing/2014/main" id="{5DA976AD-AA9A-47A8-A621-12E731C8D366}"/>
              </a:ext>
            </a:extLst>
          </p:cNvPr>
          <p:cNvSpPr>
            <a:spLocks noChangeArrowheads="1"/>
          </p:cNvSpPr>
          <p:nvPr/>
        </p:nvSpPr>
        <p:spPr bwMode="auto">
          <a:xfrm>
            <a:off x="1339557" y="144780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67" name="Rectangle 16">
            <a:extLst>
              <a:ext uri="{FF2B5EF4-FFF2-40B4-BE49-F238E27FC236}">
                <a16:creationId xmlns="" xmlns:a16="http://schemas.microsoft.com/office/drawing/2014/main" id="{597D320C-6D1D-4F22-AF32-EE57760DE7DA}"/>
              </a:ext>
            </a:extLst>
          </p:cNvPr>
          <p:cNvSpPr>
            <a:spLocks noChangeArrowheads="1"/>
          </p:cNvSpPr>
          <p:nvPr/>
        </p:nvSpPr>
        <p:spPr bwMode="auto">
          <a:xfrm>
            <a:off x="7162800" y="45085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68" name="Rectangle 17">
            <a:extLst>
              <a:ext uri="{FF2B5EF4-FFF2-40B4-BE49-F238E27FC236}">
                <a16:creationId xmlns="" xmlns:a16="http://schemas.microsoft.com/office/drawing/2014/main" id="{DBA3290A-58F5-4713-A546-772226EB3C4C}"/>
              </a:ext>
            </a:extLst>
          </p:cNvPr>
          <p:cNvSpPr>
            <a:spLocks noChangeArrowheads="1"/>
          </p:cNvSpPr>
          <p:nvPr/>
        </p:nvSpPr>
        <p:spPr bwMode="auto">
          <a:xfrm>
            <a:off x="8153400" y="54229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9" name="Rectangle 19">
            <a:extLst>
              <a:ext uri="{FF2B5EF4-FFF2-40B4-BE49-F238E27FC236}">
                <a16:creationId xmlns="" xmlns:a16="http://schemas.microsoft.com/office/drawing/2014/main" id="{905731C7-111F-4905-8D22-1E47F5F5905D}"/>
              </a:ext>
            </a:extLst>
          </p:cNvPr>
          <p:cNvSpPr>
            <a:spLocks noChangeArrowheads="1"/>
          </p:cNvSpPr>
          <p:nvPr/>
        </p:nvSpPr>
        <p:spPr bwMode="auto">
          <a:xfrm>
            <a:off x="2330157" y="2362200"/>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70" name="Rectangle 20">
            <a:extLst>
              <a:ext uri="{FF2B5EF4-FFF2-40B4-BE49-F238E27FC236}">
                <a16:creationId xmlns="" xmlns:a16="http://schemas.microsoft.com/office/drawing/2014/main" id="{10E5F0CE-5CBC-4CB9-8CF9-8F2074E1DF43}"/>
              </a:ext>
            </a:extLst>
          </p:cNvPr>
          <p:cNvSpPr>
            <a:spLocks noChangeArrowheads="1"/>
          </p:cNvSpPr>
          <p:nvPr/>
        </p:nvSpPr>
        <p:spPr bwMode="auto">
          <a:xfrm>
            <a:off x="2330157" y="1447800"/>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1" name="Rectangle 21">
            <a:extLst>
              <a:ext uri="{FF2B5EF4-FFF2-40B4-BE49-F238E27FC236}">
                <a16:creationId xmlns="" xmlns:a16="http://schemas.microsoft.com/office/drawing/2014/main" id="{6092D60C-1E20-42A6-9E1D-538A94BD6B7D}"/>
              </a:ext>
            </a:extLst>
          </p:cNvPr>
          <p:cNvSpPr>
            <a:spLocks noChangeArrowheads="1"/>
          </p:cNvSpPr>
          <p:nvPr/>
        </p:nvSpPr>
        <p:spPr bwMode="auto">
          <a:xfrm>
            <a:off x="3320757" y="144780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72" name="Rectangle 24">
            <a:extLst>
              <a:ext uri="{FF2B5EF4-FFF2-40B4-BE49-F238E27FC236}">
                <a16:creationId xmlns="" xmlns:a16="http://schemas.microsoft.com/office/drawing/2014/main" id="{82BD8A41-0023-42F6-9A0A-C108063F665C}"/>
              </a:ext>
            </a:extLst>
          </p:cNvPr>
          <p:cNvSpPr>
            <a:spLocks noChangeArrowheads="1"/>
          </p:cNvSpPr>
          <p:nvPr/>
        </p:nvSpPr>
        <p:spPr bwMode="auto">
          <a:xfrm>
            <a:off x="4311357" y="2362200"/>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73" name="Rectangle 25">
            <a:extLst>
              <a:ext uri="{FF2B5EF4-FFF2-40B4-BE49-F238E27FC236}">
                <a16:creationId xmlns="" xmlns:a16="http://schemas.microsoft.com/office/drawing/2014/main" id="{11FD2D0D-CC76-4886-A370-D8CEAE3F5702}"/>
              </a:ext>
            </a:extLst>
          </p:cNvPr>
          <p:cNvSpPr>
            <a:spLocks noChangeArrowheads="1"/>
          </p:cNvSpPr>
          <p:nvPr/>
        </p:nvSpPr>
        <p:spPr bwMode="auto">
          <a:xfrm>
            <a:off x="1339557" y="5334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4" name="Rectangle 26">
            <a:extLst>
              <a:ext uri="{FF2B5EF4-FFF2-40B4-BE49-F238E27FC236}">
                <a16:creationId xmlns="" xmlns:a16="http://schemas.microsoft.com/office/drawing/2014/main" id="{5453E0D7-E73B-4117-92D5-AEF0E13A7F8A}"/>
              </a:ext>
            </a:extLst>
          </p:cNvPr>
          <p:cNvSpPr>
            <a:spLocks noChangeArrowheads="1"/>
          </p:cNvSpPr>
          <p:nvPr/>
        </p:nvSpPr>
        <p:spPr bwMode="auto">
          <a:xfrm>
            <a:off x="2330157" y="5334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5" name="Rectangle 27">
            <a:extLst>
              <a:ext uri="{FF2B5EF4-FFF2-40B4-BE49-F238E27FC236}">
                <a16:creationId xmlns="" xmlns:a16="http://schemas.microsoft.com/office/drawing/2014/main" id="{64EA57FF-E69C-4CEB-9D9F-7784E8077D59}"/>
              </a:ext>
            </a:extLst>
          </p:cNvPr>
          <p:cNvSpPr>
            <a:spLocks noChangeArrowheads="1"/>
          </p:cNvSpPr>
          <p:nvPr/>
        </p:nvSpPr>
        <p:spPr bwMode="auto">
          <a:xfrm>
            <a:off x="3320757" y="5334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6" name="Rectangle 28">
            <a:extLst>
              <a:ext uri="{FF2B5EF4-FFF2-40B4-BE49-F238E27FC236}">
                <a16:creationId xmlns="" xmlns:a16="http://schemas.microsoft.com/office/drawing/2014/main" id="{8F8FB48B-8BE6-491D-81A8-70A948F99BAB}"/>
              </a:ext>
            </a:extLst>
          </p:cNvPr>
          <p:cNvSpPr>
            <a:spLocks noChangeArrowheads="1"/>
          </p:cNvSpPr>
          <p:nvPr/>
        </p:nvSpPr>
        <p:spPr bwMode="auto">
          <a:xfrm>
            <a:off x="4311357" y="14478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7" name="TextBox 25">
            <a:extLst>
              <a:ext uri="{FF2B5EF4-FFF2-40B4-BE49-F238E27FC236}">
                <a16:creationId xmlns="" xmlns:a16="http://schemas.microsoft.com/office/drawing/2014/main" id="{D2AF3635-FF0D-48CE-BB2F-E75092F2D09A}"/>
              </a:ext>
            </a:extLst>
          </p:cNvPr>
          <p:cNvSpPr txBox="1">
            <a:spLocks noChangeArrowheads="1"/>
          </p:cNvSpPr>
          <p:nvPr/>
        </p:nvSpPr>
        <p:spPr bwMode="auto">
          <a:xfrm>
            <a:off x="1445920" y="30257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78" name="TextBox 26">
            <a:extLst>
              <a:ext uri="{FF2B5EF4-FFF2-40B4-BE49-F238E27FC236}">
                <a16:creationId xmlns="" xmlns:a16="http://schemas.microsoft.com/office/drawing/2014/main" id="{C2394813-B0AE-413A-A160-253C0AD96891}"/>
              </a:ext>
            </a:extLst>
          </p:cNvPr>
          <p:cNvSpPr txBox="1">
            <a:spLocks noChangeArrowheads="1"/>
          </p:cNvSpPr>
          <p:nvPr/>
        </p:nvSpPr>
        <p:spPr bwMode="auto">
          <a:xfrm>
            <a:off x="2382545" y="30257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79" name="TextBox 27">
            <a:extLst>
              <a:ext uri="{FF2B5EF4-FFF2-40B4-BE49-F238E27FC236}">
                <a16:creationId xmlns="" xmlns:a16="http://schemas.microsoft.com/office/drawing/2014/main" id="{BB6D1411-6F5D-4DFA-8E16-FF1A9442952B}"/>
              </a:ext>
            </a:extLst>
          </p:cNvPr>
          <p:cNvSpPr txBox="1">
            <a:spLocks noChangeArrowheads="1"/>
          </p:cNvSpPr>
          <p:nvPr/>
        </p:nvSpPr>
        <p:spPr bwMode="auto">
          <a:xfrm>
            <a:off x="3390607" y="30257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80" name="TextBox 28">
            <a:extLst>
              <a:ext uri="{FF2B5EF4-FFF2-40B4-BE49-F238E27FC236}">
                <a16:creationId xmlns="" xmlns:a16="http://schemas.microsoft.com/office/drawing/2014/main" id="{7D2F5769-6A00-480B-AE56-867786F70CA1}"/>
              </a:ext>
            </a:extLst>
          </p:cNvPr>
          <p:cNvSpPr txBox="1">
            <a:spLocks noChangeArrowheads="1"/>
          </p:cNvSpPr>
          <p:nvPr/>
        </p:nvSpPr>
        <p:spPr bwMode="auto">
          <a:xfrm>
            <a:off x="4470107" y="3025775"/>
            <a:ext cx="433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81" name="TextBox 29">
            <a:extLst>
              <a:ext uri="{FF2B5EF4-FFF2-40B4-BE49-F238E27FC236}">
                <a16:creationId xmlns="" xmlns:a16="http://schemas.microsoft.com/office/drawing/2014/main" id="{B907D33B-3BE9-45B4-A414-B4F34F101005}"/>
              </a:ext>
            </a:extLst>
          </p:cNvPr>
          <p:cNvSpPr txBox="1">
            <a:spLocks noChangeArrowheads="1"/>
          </p:cNvSpPr>
          <p:nvPr/>
        </p:nvSpPr>
        <p:spPr bwMode="auto">
          <a:xfrm>
            <a:off x="5406732" y="30257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82" name="TextBox 30">
            <a:extLst>
              <a:ext uri="{FF2B5EF4-FFF2-40B4-BE49-F238E27FC236}">
                <a16:creationId xmlns="" xmlns:a16="http://schemas.microsoft.com/office/drawing/2014/main" id="{8909C4D0-05DD-4C2A-9367-3CA20F28F693}"/>
              </a:ext>
            </a:extLst>
          </p:cNvPr>
          <p:cNvSpPr txBox="1">
            <a:spLocks noChangeArrowheads="1"/>
          </p:cNvSpPr>
          <p:nvPr/>
        </p:nvSpPr>
        <p:spPr bwMode="auto">
          <a:xfrm>
            <a:off x="6414795" y="30257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400492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anim calcmode="lin" valueType="num">
                                      <p:cBhvr additive="base">
                                        <p:cTn id="13" dur="500" fill="hold"/>
                                        <p:tgtEl>
                                          <p:spTgt spid="74"/>
                                        </p:tgtEl>
                                        <p:attrNameLst>
                                          <p:attrName>ppt_x</p:attrName>
                                        </p:attrNameLst>
                                      </p:cBhvr>
                                      <p:tavLst>
                                        <p:tav tm="0">
                                          <p:val>
                                            <p:strVal val="#ppt_x"/>
                                          </p:val>
                                        </p:tav>
                                        <p:tav tm="100000">
                                          <p:val>
                                            <p:strVal val="#ppt_x"/>
                                          </p:val>
                                        </p:tav>
                                      </p:tavLst>
                                    </p:anim>
                                    <p:anim calcmode="lin" valueType="num">
                                      <p:cBhvr additive="base">
                                        <p:cTn id="1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fill="hold"/>
                                        <p:tgtEl>
                                          <p:spTgt spid="75"/>
                                        </p:tgtEl>
                                        <p:attrNameLst>
                                          <p:attrName>ppt_x</p:attrName>
                                        </p:attrNameLst>
                                      </p:cBhvr>
                                      <p:tavLst>
                                        <p:tav tm="0">
                                          <p:val>
                                            <p:strVal val="#ppt_x"/>
                                          </p:val>
                                        </p:tav>
                                        <p:tav tm="100000">
                                          <p:val>
                                            <p:strVal val="#ppt_x"/>
                                          </p:val>
                                        </p:tav>
                                      </p:tavLst>
                                    </p:anim>
                                    <p:anim calcmode="lin" valueType="num">
                                      <p:cBhvr additive="base">
                                        <p:cTn id="20"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6"/>
                                        </p:tgtEl>
                                        <p:attrNameLst>
                                          <p:attrName>style.visibility</p:attrName>
                                        </p:attrNameLst>
                                      </p:cBhvr>
                                      <p:to>
                                        <p:strVal val="visible"/>
                                      </p:to>
                                    </p:set>
                                    <p:anim calcmode="lin" valueType="num">
                                      <p:cBhvr additive="base">
                                        <p:cTn id="25" dur="500" fill="hold"/>
                                        <p:tgtEl>
                                          <p:spTgt spid="76"/>
                                        </p:tgtEl>
                                        <p:attrNameLst>
                                          <p:attrName>ppt_x</p:attrName>
                                        </p:attrNameLst>
                                      </p:cBhvr>
                                      <p:tavLst>
                                        <p:tav tm="0">
                                          <p:val>
                                            <p:strVal val="#ppt_x"/>
                                          </p:val>
                                        </p:tav>
                                        <p:tav tm="100000">
                                          <p:val>
                                            <p:strVal val="#ppt_x"/>
                                          </p:val>
                                        </p:tav>
                                      </p:tavLst>
                                    </p:anim>
                                    <p:anim calcmode="lin" valueType="num">
                                      <p:cBhvr additive="base">
                                        <p:cTn id="26"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30" name="Comment 2">
            <a:extLst>
              <a:ext uri="{FF2B5EF4-FFF2-40B4-BE49-F238E27FC236}">
                <a16:creationId xmlns="" xmlns:a16="http://schemas.microsoft.com/office/drawing/2014/main" id="{0B3580A6-6F3F-4330-87FC-2BF3F38A79F1}"/>
              </a:ext>
            </a:extLst>
          </p:cNvPr>
          <p:cNvSpPr>
            <a:spLocks noChangeArrowheads="1"/>
          </p:cNvSpPr>
          <p:nvPr/>
        </p:nvSpPr>
        <p:spPr bwMode="auto">
          <a:xfrm>
            <a:off x="0" y="4546426"/>
            <a:ext cx="9144000" cy="830997"/>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400" b="1" dirty="0">
                <a:solidFill>
                  <a:srgbClr val="000000"/>
                </a:solidFill>
                <a:latin typeface="Times New Roman" panose="02020603050405020304" pitchFamily="18" charset="0"/>
                <a:cs typeface="Times New Roman" panose="02020603050405020304" pitchFamily="18" charset="0"/>
              </a:rPr>
              <a:t>There is no room for process 6-(orange) until it reaches fifth memory bin(E), where it finally will fit in.</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
        <p:nvSpPr>
          <p:cNvPr id="31" name="Line 4">
            <a:extLst>
              <a:ext uri="{FF2B5EF4-FFF2-40B4-BE49-F238E27FC236}">
                <a16:creationId xmlns="" xmlns:a16="http://schemas.microsoft.com/office/drawing/2014/main" id="{4977397F-0C32-4A64-A162-E2A720323351}"/>
              </a:ext>
            </a:extLst>
          </p:cNvPr>
          <p:cNvSpPr>
            <a:spLocks noChangeShapeType="1"/>
          </p:cNvSpPr>
          <p:nvPr/>
        </p:nvSpPr>
        <p:spPr bwMode="auto">
          <a:xfrm>
            <a:off x="1899456" y="3967163"/>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5">
            <a:extLst>
              <a:ext uri="{FF2B5EF4-FFF2-40B4-BE49-F238E27FC236}">
                <a16:creationId xmlns="" xmlns:a16="http://schemas.microsoft.com/office/drawing/2014/main" id="{BC82006D-5E70-4833-9900-5C5E5465A538}"/>
              </a:ext>
            </a:extLst>
          </p:cNvPr>
          <p:cNvSpPr>
            <a:spLocks noChangeShapeType="1"/>
          </p:cNvSpPr>
          <p:nvPr/>
        </p:nvSpPr>
        <p:spPr bwMode="auto">
          <a:xfrm flipV="1">
            <a:off x="18994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6">
            <a:extLst>
              <a:ext uri="{FF2B5EF4-FFF2-40B4-BE49-F238E27FC236}">
                <a16:creationId xmlns="" xmlns:a16="http://schemas.microsoft.com/office/drawing/2014/main" id="{B266AFE7-6E8F-4B61-8FDB-538099A41225}"/>
              </a:ext>
            </a:extLst>
          </p:cNvPr>
          <p:cNvSpPr>
            <a:spLocks noChangeShapeType="1"/>
          </p:cNvSpPr>
          <p:nvPr/>
        </p:nvSpPr>
        <p:spPr bwMode="auto">
          <a:xfrm flipV="1">
            <a:off x="68524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
            <a:extLst>
              <a:ext uri="{FF2B5EF4-FFF2-40B4-BE49-F238E27FC236}">
                <a16:creationId xmlns="" xmlns:a16="http://schemas.microsoft.com/office/drawing/2014/main" id="{6B95BD1E-6087-4673-94E3-5FE028E03A90}"/>
              </a:ext>
            </a:extLst>
          </p:cNvPr>
          <p:cNvSpPr>
            <a:spLocks noChangeShapeType="1"/>
          </p:cNvSpPr>
          <p:nvPr/>
        </p:nvSpPr>
        <p:spPr bwMode="auto">
          <a:xfrm flipV="1">
            <a:off x="28900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8">
            <a:extLst>
              <a:ext uri="{FF2B5EF4-FFF2-40B4-BE49-F238E27FC236}">
                <a16:creationId xmlns="" xmlns:a16="http://schemas.microsoft.com/office/drawing/2014/main" id="{7D7E635C-1A31-4AD2-9FC7-D3CE44F3F94B}"/>
              </a:ext>
            </a:extLst>
          </p:cNvPr>
          <p:cNvSpPr>
            <a:spLocks noChangeShapeType="1"/>
          </p:cNvSpPr>
          <p:nvPr/>
        </p:nvSpPr>
        <p:spPr bwMode="auto">
          <a:xfrm flipV="1">
            <a:off x="38806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9">
            <a:extLst>
              <a:ext uri="{FF2B5EF4-FFF2-40B4-BE49-F238E27FC236}">
                <a16:creationId xmlns="" xmlns:a16="http://schemas.microsoft.com/office/drawing/2014/main" id="{E84EA75A-7C45-4881-BEF0-37E5A3F821B0}"/>
              </a:ext>
            </a:extLst>
          </p:cNvPr>
          <p:cNvSpPr>
            <a:spLocks noChangeShapeType="1"/>
          </p:cNvSpPr>
          <p:nvPr/>
        </p:nvSpPr>
        <p:spPr bwMode="auto">
          <a:xfrm flipV="1">
            <a:off x="48712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0">
            <a:extLst>
              <a:ext uri="{FF2B5EF4-FFF2-40B4-BE49-F238E27FC236}">
                <a16:creationId xmlns="" xmlns:a16="http://schemas.microsoft.com/office/drawing/2014/main" id="{487B498D-4717-4D58-A1E8-2CE89F19DE7F}"/>
              </a:ext>
            </a:extLst>
          </p:cNvPr>
          <p:cNvSpPr>
            <a:spLocks noChangeShapeType="1"/>
          </p:cNvSpPr>
          <p:nvPr/>
        </p:nvSpPr>
        <p:spPr bwMode="auto">
          <a:xfrm flipV="1">
            <a:off x="58618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2">
            <a:extLst>
              <a:ext uri="{FF2B5EF4-FFF2-40B4-BE49-F238E27FC236}">
                <a16:creationId xmlns="" xmlns:a16="http://schemas.microsoft.com/office/drawing/2014/main" id="{55BB8A22-29AE-4A55-8CEE-489F3951505A}"/>
              </a:ext>
            </a:extLst>
          </p:cNvPr>
          <p:cNvSpPr>
            <a:spLocks noChangeShapeType="1"/>
          </p:cNvSpPr>
          <p:nvPr/>
        </p:nvSpPr>
        <p:spPr bwMode="auto">
          <a:xfrm flipV="1">
            <a:off x="7843056" y="213836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Rectangle 13">
            <a:extLst>
              <a:ext uri="{FF2B5EF4-FFF2-40B4-BE49-F238E27FC236}">
                <a16:creationId xmlns="" xmlns:a16="http://schemas.microsoft.com/office/drawing/2014/main" id="{39665286-6ED6-4CC6-BB7B-629268C0FB8F}"/>
              </a:ext>
            </a:extLst>
          </p:cNvPr>
          <p:cNvSpPr>
            <a:spLocks noChangeArrowheads="1"/>
          </p:cNvSpPr>
          <p:nvPr/>
        </p:nvSpPr>
        <p:spPr bwMode="auto">
          <a:xfrm>
            <a:off x="1975656" y="2747963"/>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40" name="Rectangle 14">
            <a:extLst>
              <a:ext uri="{FF2B5EF4-FFF2-40B4-BE49-F238E27FC236}">
                <a16:creationId xmlns="" xmlns:a16="http://schemas.microsoft.com/office/drawing/2014/main" id="{2BA7A854-2F8D-43F7-8258-3DAA1DF828BD}"/>
              </a:ext>
            </a:extLst>
          </p:cNvPr>
          <p:cNvSpPr>
            <a:spLocks noChangeArrowheads="1"/>
          </p:cNvSpPr>
          <p:nvPr/>
        </p:nvSpPr>
        <p:spPr bwMode="auto">
          <a:xfrm>
            <a:off x="1975656" y="2443163"/>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41" name="Rectangle 15">
            <a:extLst>
              <a:ext uri="{FF2B5EF4-FFF2-40B4-BE49-F238E27FC236}">
                <a16:creationId xmlns="" xmlns:a16="http://schemas.microsoft.com/office/drawing/2014/main" id="{845E8721-F3BD-4945-93D3-6B964390C259}"/>
              </a:ext>
            </a:extLst>
          </p:cNvPr>
          <p:cNvSpPr>
            <a:spLocks noChangeArrowheads="1"/>
          </p:cNvSpPr>
          <p:nvPr/>
        </p:nvSpPr>
        <p:spPr bwMode="auto">
          <a:xfrm>
            <a:off x="1975656" y="614363"/>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42" name="Rectangle 16">
            <a:extLst>
              <a:ext uri="{FF2B5EF4-FFF2-40B4-BE49-F238E27FC236}">
                <a16:creationId xmlns="" xmlns:a16="http://schemas.microsoft.com/office/drawing/2014/main" id="{734D1D90-CBEA-470C-807C-B32E4E8AE2A7}"/>
              </a:ext>
            </a:extLst>
          </p:cNvPr>
          <p:cNvSpPr>
            <a:spLocks noChangeArrowheads="1"/>
          </p:cNvSpPr>
          <p:nvPr/>
        </p:nvSpPr>
        <p:spPr bwMode="auto">
          <a:xfrm>
            <a:off x="8153400" y="5926205"/>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3" name="Rectangle 17">
            <a:extLst>
              <a:ext uri="{FF2B5EF4-FFF2-40B4-BE49-F238E27FC236}">
                <a16:creationId xmlns="" xmlns:a16="http://schemas.microsoft.com/office/drawing/2014/main" id="{86260F8E-D7C4-4D31-A8F3-D9E46160F202}"/>
              </a:ext>
            </a:extLst>
          </p:cNvPr>
          <p:cNvSpPr>
            <a:spLocks noChangeArrowheads="1"/>
          </p:cNvSpPr>
          <p:nvPr/>
        </p:nvSpPr>
        <p:spPr bwMode="auto">
          <a:xfrm>
            <a:off x="2966256" y="3357563"/>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4" name="Rectangle 18">
            <a:extLst>
              <a:ext uri="{FF2B5EF4-FFF2-40B4-BE49-F238E27FC236}">
                <a16:creationId xmlns="" xmlns:a16="http://schemas.microsoft.com/office/drawing/2014/main" id="{A99D4148-E5AC-4715-918F-D5BEF310DBB7}"/>
              </a:ext>
            </a:extLst>
          </p:cNvPr>
          <p:cNvSpPr>
            <a:spLocks noChangeArrowheads="1"/>
          </p:cNvSpPr>
          <p:nvPr/>
        </p:nvSpPr>
        <p:spPr bwMode="auto">
          <a:xfrm>
            <a:off x="2966256" y="2443163"/>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5" name="Rectangle 19">
            <a:extLst>
              <a:ext uri="{FF2B5EF4-FFF2-40B4-BE49-F238E27FC236}">
                <a16:creationId xmlns="" xmlns:a16="http://schemas.microsoft.com/office/drawing/2014/main" id="{DEC17852-AB79-4153-A4E8-DB61544140FD}"/>
              </a:ext>
            </a:extLst>
          </p:cNvPr>
          <p:cNvSpPr>
            <a:spLocks noChangeArrowheads="1"/>
          </p:cNvSpPr>
          <p:nvPr/>
        </p:nvSpPr>
        <p:spPr bwMode="auto">
          <a:xfrm>
            <a:off x="3956856" y="2443163"/>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46" name="Rectangle 20">
            <a:extLst>
              <a:ext uri="{FF2B5EF4-FFF2-40B4-BE49-F238E27FC236}">
                <a16:creationId xmlns="" xmlns:a16="http://schemas.microsoft.com/office/drawing/2014/main" id="{D4C6103C-1E13-493F-BD5D-3EC51DAD4F52}"/>
              </a:ext>
            </a:extLst>
          </p:cNvPr>
          <p:cNvSpPr>
            <a:spLocks noChangeArrowheads="1"/>
          </p:cNvSpPr>
          <p:nvPr/>
        </p:nvSpPr>
        <p:spPr bwMode="auto">
          <a:xfrm>
            <a:off x="4947456" y="3357563"/>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47" name="Rectangle 24">
            <a:extLst>
              <a:ext uri="{FF2B5EF4-FFF2-40B4-BE49-F238E27FC236}">
                <a16:creationId xmlns="" xmlns:a16="http://schemas.microsoft.com/office/drawing/2014/main" id="{6A15B0AA-D14E-4BD3-AF8A-60460F28E935}"/>
              </a:ext>
            </a:extLst>
          </p:cNvPr>
          <p:cNvSpPr>
            <a:spLocks noChangeArrowheads="1"/>
          </p:cNvSpPr>
          <p:nvPr/>
        </p:nvSpPr>
        <p:spPr bwMode="auto">
          <a:xfrm>
            <a:off x="4947456" y="2443163"/>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48" name="Rectangle 25">
            <a:extLst>
              <a:ext uri="{FF2B5EF4-FFF2-40B4-BE49-F238E27FC236}">
                <a16:creationId xmlns="" xmlns:a16="http://schemas.microsoft.com/office/drawing/2014/main" id="{82F9C12C-03B8-4FC7-A045-6D8627F2BE7E}"/>
              </a:ext>
            </a:extLst>
          </p:cNvPr>
          <p:cNvSpPr>
            <a:spLocks noChangeArrowheads="1"/>
          </p:cNvSpPr>
          <p:nvPr/>
        </p:nvSpPr>
        <p:spPr bwMode="auto">
          <a:xfrm>
            <a:off x="2966256" y="614363"/>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49" name="Rectangle 26">
            <a:extLst>
              <a:ext uri="{FF2B5EF4-FFF2-40B4-BE49-F238E27FC236}">
                <a16:creationId xmlns="" xmlns:a16="http://schemas.microsoft.com/office/drawing/2014/main" id="{85643883-808D-43CC-A989-2B4EE7C4440F}"/>
              </a:ext>
            </a:extLst>
          </p:cNvPr>
          <p:cNvSpPr>
            <a:spLocks noChangeArrowheads="1"/>
          </p:cNvSpPr>
          <p:nvPr/>
        </p:nvSpPr>
        <p:spPr bwMode="auto">
          <a:xfrm>
            <a:off x="3956856" y="614363"/>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50" name="Rectangle 27">
            <a:extLst>
              <a:ext uri="{FF2B5EF4-FFF2-40B4-BE49-F238E27FC236}">
                <a16:creationId xmlns="" xmlns:a16="http://schemas.microsoft.com/office/drawing/2014/main" id="{8877A244-3E5B-43EF-A2CE-2010D5BDC0B6}"/>
              </a:ext>
            </a:extLst>
          </p:cNvPr>
          <p:cNvSpPr>
            <a:spLocks noChangeArrowheads="1"/>
          </p:cNvSpPr>
          <p:nvPr/>
        </p:nvSpPr>
        <p:spPr bwMode="auto">
          <a:xfrm>
            <a:off x="4947456" y="614363"/>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51" name="Rectangle 28">
            <a:extLst>
              <a:ext uri="{FF2B5EF4-FFF2-40B4-BE49-F238E27FC236}">
                <a16:creationId xmlns="" xmlns:a16="http://schemas.microsoft.com/office/drawing/2014/main" id="{0265582E-E42B-4D22-BC1E-90D79AF3655D}"/>
              </a:ext>
            </a:extLst>
          </p:cNvPr>
          <p:cNvSpPr>
            <a:spLocks noChangeArrowheads="1"/>
          </p:cNvSpPr>
          <p:nvPr/>
        </p:nvSpPr>
        <p:spPr bwMode="auto">
          <a:xfrm>
            <a:off x="5938056" y="2138363"/>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52" name="TextBox 26">
            <a:extLst>
              <a:ext uri="{FF2B5EF4-FFF2-40B4-BE49-F238E27FC236}">
                <a16:creationId xmlns="" xmlns:a16="http://schemas.microsoft.com/office/drawing/2014/main" id="{F9C25AE3-7D34-4A05-A75B-B6FA217AF9CA}"/>
              </a:ext>
            </a:extLst>
          </p:cNvPr>
          <p:cNvSpPr txBox="1">
            <a:spLocks noChangeArrowheads="1"/>
          </p:cNvSpPr>
          <p:nvPr/>
        </p:nvSpPr>
        <p:spPr bwMode="auto">
          <a:xfrm>
            <a:off x="2170113" y="407264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53" name="TextBox 27">
            <a:extLst>
              <a:ext uri="{FF2B5EF4-FFF2-40B4-BE49-F238E27FC236}">
                <a16:creationId xmlns="" xmlns:a16="http://schemas.microsoft.com/office/drawing/2014/main" id="{9CA67CEA-F51D-40DE-9C58-BAD2949AD5CF}"/>
              </a:ext>
            </a:extLst>
          </p:cNvPr>
          <p:cNvSpPr txBox="1">
            <a:spLocks noChangeArrowheads="1"/>
          </p:cNvSpPr>
          <p:nvPr/>
        </p:nvSpPr>
        <p:spPr bwMode="auto">
          <a:xfrm>
            <a:off x="3106738" y="407264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54" name="TextBox 28">
            <a:extLst>
              <a:ext uri="{FF2B5EF4-FFF2-40B4-BE49-F238E27FC236}">
                <a16:creationId xmlns="" xmlns:a16="http://schemas.microsoft.com/office/drawing/2014/main" id="{96A532F1-5C5B-4445-BD5A-5BC7A8B422EA}"/>
              </a:ext>
            </a:extLst>
          </p:cNvPr>
          <p:cNvSpPr txBox="1">
            <a:spLocks noChangeArrowheads="1"/>
          </p:cNvSpPr>
          <p:nvPr/>
        </p:nvSpPr>
        <p:spPr bwMode="auto">
          <a:xfrm>
            <a:off x="4114800" y="407264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55" name="TextBox 29">
            <a:extLst>
              <a:ext uri="{FF2B5EF4-FFF2-40B4-BE49-F238E27FC236}">
                <a16:creationId xmlns="" xmlns:a16="http://schemas.microsoft.com/office/drawing/2014/main" id="{F72AE1A5-5F50-4CFD-8BA6-33BA2D56CB7D}"/>
              </a:ext>
            </a:extLst>
          </p:cNvPr>
          <p:cNvSpPr txBox="1">
            <a:spLocks noChangeArrowheads="1"/>
          </p:cNvSpPr>
          <p:nvPr/>
        </p:nvSpPr>
        <p:spPr bwMode="auto">
          <a:xfrm>
            <a:off x="5194300" y="4072645"/>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D</a:t>
            </a:r>
          </a:p>
        </p:txBody>
      </p:sp>
      <p:sp>
        <p:nvSpPr>
          <p:cNvPr id="83" name="TextBox 30">
            <a:extLst>
              <a:ext uri="{FF2B5EF4-FFF2-40B4-BE49-F238E27FC236}">
                <a16:creationId xmlns="" xmlns:a16="http://schemas.microsoft.com/office/drawing/2014/main" id="{2B2C06B1-0639-4F9D-9BAD-6905620D4677}"/>
              </a:ext>
            </a:extLst>
          </p:cNvPr>
          <p:cNvSpPr txBox="1">
            <a:spLocks noChangeArrowheads="1"/>
          </p:cNvSpPr>
          <p:nvPr/>
        </p:nvSpPr>
        <p:spPr bwMode="auto">
          <a:xfrm>
            <a:off x="6130925" y="407264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84" name="TextBox 31">
            <a:extLst>
              <a:ext uri="{FF2B5EF4-FFF2-40B4-BE49-F238E27FC236}">
                <a16:creationId xmlns="" xmlns:a16="http://schemas.microsoft.com/office/drawing/2014/main" id="{B6984F95-91E7-4D2C-AB51-3E7B968B5C26}"/>
              </a:ext>
            </a:extLst>
          </p:cNvPr>
          <p:cNvSpPr txBox="1">
            <a:spLocks noChangeArrowheads="1"/>
          </p:cNvSpPr>
          <p:nvPr/>
        </p:nvSpPr>
        <p:spPr bwMode="auto">
          <a:xfrm>
            <a:off x="7138988" y="4072645"/>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210714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additive="base">
                                        <p:cTn id="13" dur="500" fill="hold"/>
                                        <p:tgtEl>
                                          <p:spTgt spid="48"/>
                                        </p:tgtEl>
                                        <p:attrNameLst>
                                          <p:attrName>ppt_x</p:attrName>
                                        </p:attrNameLst>
                                      </p:cBhvr>
                                      <p:tavLst>
                                        <p:tav tm="0">
                                          <p:val>
                                            <p:strVal val="#ppt_x"/>
                                          </p:val>
                                        </p:tav>
                                        <p:tav tm="100000">
                                          <p:val>
                                            <p:strVal val="#ppt_x"/>
                                          </p:val>
                                        </p:tav>
                                      </p:tavLst>
                                    </p:anim>
                                    <p:anim calcmode="lin" valueType="num">
                                      <p:cBhvr additive="base">
                                        <p:cTn id="1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 calcmode="lin" valueType="num">
                                      <p:cBhvr additive="base">
                                        <p:cTn id="25" dur="500" fill="hold"/>
                                        <p:tgtEl>
                                          <p:spTgt spid="50"/>
                                        </p:tgtEl>
                                        <p:attrNameLst>
                                          <p:attrName>ppt_x</p:attrName>
                                        </p:attrNameLst>
                                      </p:cBhvr>
                                      <p:tavLst>
                                        <p:tav tm="0">
                                          <p:val>
                                            <p:strVal val="#ppt_x"/>
                                          </p:val>
                                        </p:tav>
                                        <p:tav tm="100000">
                                          <p:val>
                                            <p:strVal val="#ppt_x"/>
                                          </p:val>
                                        </p:tav>
                                      </p:tavLst>
                                    </p:anim>
                                    <p:anim calcmode="lin" valueType="num">
                                      <p:cBhvr additive="base">
                                        <p:cTn id="2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additive="base">
                                        <p:cTn id="31" dur="500" fill="hold"/>
                                        <p:tgtEl>
                                          <p:spTgt spid="51"/>
                                        </p:tgtEl>
                                        <p:attrNameLst>
                                          <p:attrName>ppt_x</p:attrName>
                                        </p:attrNameLst>
                                      </p:cBhvr>
                                      <p:tavLst>
                                        <p:tav tm="0">
                                          <p:val>
                                            <p:strVal val="#ppt_x"/>
                                          </p:val>
                                        </p:tav>
                                        <p:tav tm="100000">
                                          <p:val>
                                            <p:strVal val="#ppt_x"/>
                                          </p:val>
                                        </p:tav>
                                      </p:tavLst>
                                    </p:anim>
                                    <p:anim calcmode="lin" valueType="num">
                                      <p:cBhvr additive="base">
                                        <p:cTn id="32"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8" grpId="0" animBg="1"/>
      <p:bldP spid="49" grpId="0" animBg="1"/>
      <p:bldP spid="50" grpId="0" animBg="1"/>
      <p:bldP spid="5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56" name="Comment 2">
            <a:extLst>
              <a:ext uri="{FF2B5EF4-FFF2-40B4-BE49-F238E27FC236}">
                <a16:creationId xmlns="" xmlns:a16="http://schemas.microsoft.com/office/drawing/2014/main" id="{E139D14D-93BF-4369-B4E2-3F5732C8925F}"/>
              </a:ext>
            </a:extLst>
          </p:cNvPr>
          <p:cNvSpPr>
            <a:spLocks noChangeArrowheads="1"/>
          </p:cNvSpPr>
          <p:nvPr/>
        </p:nvSpPr>
        <p:spPr bwMode="auto">
          <a:xfrm>
            <a:off x="0" y="4287837"/>
            <a:ext cx="9144000" cy="46166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2400" b="1" dirty="0">
                <a:solidFill>
                  <a:srgbClr val="000000"/>
                </a:solidFill>
                <a:latin typeface="Times New Roman" panose="02020603050405020304" pitchFamily="18" charset="0"/>
                <a:cs typeface="Times New Roman" panose="02020603050405020304" pitchFamily="18" charset="0"/>
              </a:rPr>
              <a:t>Process 3- (Light Green) will find space in sixth memory bin(F).</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
        <p:nvSpPr>
          <p:cNvPr id="57" name="Line 4">
            <a:extLst>
              <a:ext uri="{FF2B5EF4-FFF2-40B4-BE49-F238E27FC236}">
                <a16:creationId xmlns="" xmlns:a16="http://schemas.microsoft.com/office/drawing/2014/main" id="{E7CF31D7-54FF-4A22-9B5F-D0B2E94E12D5}"/>
              </a:ext>
            </a:extLst>
          </p:cNvPr>
          <p:cNvSpPr>
            <a:spLocks noChangeShapeType="1"/>
          </p:cNvSpPr>
          <p:nvPr/>
        </p:nvSpPr>
        <p:spPr bwMode="auto">
          <a:xfrm>
            <a:off x="1600200" y="34290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5">
            <a:extLst>
              <a:ext uri="{FF2B5EF4-FFF2-40B4-BE49-F238E27FC236}">
                <a16:creationId xmlns="" xmlns:a16="http://schemas.microsoft.com/office/drawing/2014/main" id="{3C23CB89-B9D4-4779-86F1-BDC68A467201}"/>
              </a:ext>
            </a:extLst>
          </p:cNvPr>
          <p:cNvSpPr>
            <a:spLocks noChangeShapeType="1"/>
          </p:cNvSpPr>
          <p:nvPr/>
        </p:nvSpPr>
        <p:spPr bwMode="auto">
          <a:xfrm flipV="1">
            <a:off x="1600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6">
            <a:extLst>
              <a:ext uri="{FF2B5EF4-FFF2-40B4-BE49-F238E27FC236}">
                <a16:creationId xmlns="" xmlns:a16="http://schemas.microsoft.com/office/drawing/2014/main" id="{55D071C5-5ECF-41C1-BA75-5974CEA126DC}"/>
              </a:ext>
            </a:extLst>
          </p:cNvPr>
          <p:cNvSpPr>
            <a:spLocks noChangeShapeType="1"/>
          </p:cNvSpPr>
          <p:nvPr/>
        </p:nvSpPr>
        <p:spPr bwMode="auto">
          <a:xfrm flipV="1">
            <a:off x="6553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7">
            <a:extLst>
              <a:ext uri="{FF2B5EF4-FFF2-40B4-BE49-F238E27FC236}">
                <a16:creationId xmlns="" xmlns:a16="http://schemas.microsoft.com/office/drawing/2014/main" id="{7FBFFF5C-CCE0-4025-9A2B-5307886E792B}"/>
              </a:ext>
            </a:extLst>
          </p:cNvPr>
          <p:cNvSpPr>
            <a:spLocks noChangeShapeType="1"/>
          </p:cNvSpPr>
          <p:nvPr/>
        </p:nvSpPr>
        <p:spPr bwMode="auto">
          <a:xfrm flipV="1">
            <a:off x="2590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8">
            <a:extLst>
              <a:ext uri="{FF2B5EF4-FFF2-40B4-BE49-F238E27FC236}">
                <a16:creationId xmlns="" xmlns:a16="http://schemas.microsoft.com/office/drawing/2014/main" id="{401C9FF1-0BCF-4E21-9BA6-EB0244C6B489}"/>
              </a:ext>
            </a:extLst>
          </p:cNvPr>
          <p:cNvSpPr>
            <a:spLocks noChangeShapeType="1"/>
          </p:cNvSpPr>
          <p:nvPr/>
        </p:nvSpPr>
        <p:spPr bwMode="auto">
          <a:xfrm flipV="1">
            <a:off x="35814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9">
            <a:extLst>
              <a:ext uri="{FF2B5EF4-FFF2-40B4-BE49-F238E27FC236}">
                <a16:creationId xmlns="" xmlns:a16="http://schemas.microsoft.com/office/drawing/2014/main" id="{EE8F4118-DFB6-4D8E-985B-EB39DE0546F5}"/>
              </a:ext>
            </a:extLst>
          </p:cNvPr>
          <p:cNvSpPr>
            <a:spLocks noChangeShapeType="1"/>
          </p:cNvSpPr>
          <p:nvPr/>
        </p:nvSpPr>
        <p:spPr bwMode="auto">
          <a:xfrm flipV="1">
            <a:off x="45720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0">
            <a:extLst>
              <a:ext uri="{FF2B5EF4-FFF2-40B4-BE49-F238E27FC236}">
                <a16:creationId xmlns="" xmlns:a16="http://schemas.microsoft.com/office/drawing/2014/main" id="{609D7825-4808-4552-BBEA-87AD2A188C27}"/>
              </a:ext>
            </a:extLst>
          </p:cNvPr>
          <p:cNvSpPr>
            <a:spLocks noChangeShapeType="1"/>
          </p:cNvSpPr>
          <p:nvPr/>
        </p:nvSpPr>
        <p:spPr bwMode="auto">
          <a:xfrm flipV="1">
            <a:off x="55626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2">
            <a:extLst>
              <a:ext uri="{FF2B5EF4-FFF2-40B4-BE49-F238E27FC236}">
                <a16:creationId xmlns="" xmlns:a16="http://schemas.microsoft.com/office/drawing/2014/main" id="{FE8B9658-619E-450C-A6D0-4078AE12ED8E}"/>
              </a:ext>
            </a:extLst>
          </p:cNvPr>
          <p:cNvSpPr>
            <a:spLocks noChangeShapeType="1"/>
          </p:cNvSpPr>
          <p:nvPr/>
        </p:nvSpPr>
        <p:spPr bwMode="auto">
          <a:xfrm flipV="1">
            <a:off x="7543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Rectangle 13">
            <a:extLst>
              <a:ext uri="{FF2B5EF4-FFF2-40B4-BE49-F238E27FC236}">
                <a16:creationId xmlns="" xmlns:a16="http://schemas.microsoft.com/office/drawing/2014/main" id="{B0D98660-A762-4F33-A20C-6DB235FC8743}"/>
              </a:ext>
            </a:extLst>
          </p:cNvPr>
          <p:cNvSpPr>
            <a:spLocks noChangeArrowheads="1"/>
          </p:cNvSpPr>
          <p:nvPr/>
        </p:nvSpPr>
        <p:spPr bwMode="auto">
          <a:xfrm>
            <a:off x="1676400" y="2209800"/>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66" name="Rectangle 14">
            <a:extLst>
              <a:ext uri="{FF2B5EF4-FFF2-40B4-BE49-F238E27FC236}">
                <a16:creationId xmlns="" xmlns:a16="http://schemas.microsoft.com/office/drawing/2014/main" id="{92E20B52-ECA5-4E76-B2D5-AF66A82CF3C3}"/>
              </a:ext>
            </a:extLst>
          </p:cNvPr>
          <p:cNvSpPr>
            <a:spLocks noChangeArrowheads="1"/>
          </p:cNvSpPr>
          <p:nvPr/>
        </p:nvSpPr>
        <p:spPr bwMode="auto">
          <a:xfrm>
            <a:off x="1676400" y="190500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67" name="Rectangle 17">
            <a:extLst>
              <a:ext uri="{FF2B5EF4-FFF2-40B4-BE49-F238E27FC236}">
                <a16:creationId xmlns="" xmlns:a16="http://schemas.microsoft.com/office/drawing/2014/main" id="{209FDB8F-358D-4AF0-92AA-5675B9A3DF17}"/>
              </a:ext>
            </a:extLst>
          </p:cNvPr>
          <p:cNvSpPr>
            <a:spLocks noChangeArrowheads="1"/>
          </p:cNvSpPr>
          <p:nvPr/>
        </p:nvSpPr>
        <p:spPr bwMode="auto">
          <a:xfrm>
            <a:off x="2667000" y="2819400"/>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68" name="Rectangle 18">
            <a:extLst>
              <a:ext uri="{FF2B5EF4-FFF2-40B4-BE49-F238E27FC236}">
                <a16:creationId xmlns="" xmlns:a16="http://schemas.microsoft.com/office/drawing/2014/main" id="{0748635D-CE71-401B-B3F3-261DEBAE6C6C}"/>
              </a:ext>
            </a:extLst>
          </p:cNvPr>
          <p:cNvSpPr>
            <a:spLocks noChangeArrowheads="1"/>
          </p:cNvSpPr>
          <p:nvPr/>
        </p:nvSpPr>
        <p:spPr bwMode="auto">
          <a:xfrm>
            <a:off x="2667000" y="1905000"/>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9" name="Rectangle 19">
            <a:extLst>
              <a:ext uri="{FF2B5EF4-FFF2-40B4-BE49-F238E27FC236}">
                <a16:creationId xmlns="" xmlns:a16="http://schemas.microsoft.com/office/drawing/2014/main" id="{EDC835A9-871D-4D5D-B31D-C86FE4B1D9E3}"/>
              </a:ext>
            </a:extLst>
          </p:cNvPr>
          <p:cNvSpPr>
            <a:spLocks noChangeArrowheads="1"/>
          </p:cNvSpPr>
          <p:nvPr/>
        </p:nvSpPr>
        <p:spPr bwMode="auto">
          <a:xfrm>
            <a:off x="3657600" y="190500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70" name="Rectangle 20">
            <a:extLst>
              <a:ext uri="{FF2B5EF4-FFF2-40B4-BE49-F238E27FC236}">
                <a16:creationId xmlns="" xmlns:a16="http://schemas.microsoft.com/office/drawing/2014/main" id="{C170D3F2-FFF4-4957-BBDA-6DC79C70B2FB}"/>
              </a:ext>
            </a:extLst>
          </p:cNvPr>
          <p:cNvSpPr>
            <a:spLocks noChangeArrowheads="1"/>
          </p:cNvSpPr>
          <p:nvPr/>
        </p:nvSpPr>
        <p:spPr bwMode="auto">
          <a:xfrm>
            <a:off x="4648200" y="2819400"/>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71" name="Rectangle 21">
            <a:extLst>
              <a:ext uri="{FF2B5EF4-FFF2-40B4-BE49-F238E27FC236}">
                <a16:creationId xmlns="" xmlns:a16="http://schemas.microsoft.com/office/drawing/2014/main" id="{10915DB1-D41A-4DF0-AD10-0C7393962EE0}"/>
              </a:ext>
            </a:extLst>
          </p:cNvPr>
          <p:cNvSpPr>
            <a:spLocks noChangeArrowheads="1"/>
          </p:cNvSpPr>
          <p:nvPr/>
        </p:nvSpPr>
        <p:spPr bwMode="auto">
          <a:xfrm>
            <a:off x="4648200" y="19050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2" name="Rectangle 25">
            <a:extLst>
              <a:ext uri="{FF2B5EF4-FFF2-40B4-BE49-F238E27FC236}">
                <a16:creationId xmlns="" xmlns:a16="http://schemas.microsoft.com/office/drawing/2014/main" id="{A06625E0-9FD7-4B6F-B617-8440340701AF}"/>
              </a:ext>
            </a:extLst>
          </p:cNvPr>
          <p:cNvSpPr>
            <a:spLocks noChangeArrowheads="1"/>
          </p:cNvSpPr>
          <p:nvPr/>
        </p:nvSpPr>
        <p:spPr bwMode="auto">
          <a:xfrm>
            <a:off x="5638800" y="16002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73" name="Rectangle 26">
            <a:extLst>
              <a:ext uri="{FF2B5EF4-FFF2-40B4-BE49-F238E27FC236}">
                <a16:creationId xmlns="" xmlns:a16="http://schemas.microsoft.com/office/drawing/2014/main" id="{7A529BCE-3A8B-4968-B347-84CB52D7F929}"/>
              </a:ext>
            </a:extLst>
          </p:cNvPr>
          <p:cNvSpPr>
            <a:spLocks noChangeArrowheads="1"/>
          </p:cNvSpPr>
          <p:nvPr/>
        </p:nvSpPr>
        <p:spPr bwMode="auto">
          <a:xfrm>
            <a:off x="1676400" y="9906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4" name="Rectangle 27">
            <a:extLst>
              <a:ext uri="{FF2B5EF4-FFF2-40B4-BE49-F238E27FC236}">
                <a16:creationId xmlns="" xmlns:a16="http://schemas.microsoft.com/office/drawing/2014/main" id="{B75BD122-5210-49DD-A8D5-DD3A58C77FFB}"/>
              </a:ext>
            </a:extLst>
          </p:cNvPr>
          <p:cNvSpPr>
            <a:spLocks noChangeArrowheads="1"/>
          </p:cNvSpPr>
          <p:nvPr/>
        </p:nvSpPr>
        <p:spPr bwMode="auto">
          <a:xfrm>
            <a:off x="2667000" y="9906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5" name="Rectangle 28">
            <a:extLst>
              <a:ext uri="{FF2B5EF4-FFF2-40B4-BE49-F238E27FC236}">
                <a16:creationId xmlns="" xmlns:a16="http://schemas.microsoft.com/office/drawing/2014/main" id="{0865F930-BE64-4567-BEF1-87B019D21756}"/>
              </a:ext>
            </a:extLst>
          </p:cNvPr>
          <p:cNvSpPr>
            <a:spLocks noChangeArrowheads="1"/>
          </p:cNvSpPr>
          <p:nvPr/>
        </p:nvSpPr>
        <p:spPr bwMode="auto">
          <a:xfrm>
            <a:off x="3657600" y="9906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6" name="Rectangle 29">
            <a:extLst>
              <a:ext uri="{FF2B5EF4-FFF2-40B4-BE49-F238E27FC236}">
                <a16:creationId xmlns="" xmlns:a16="http://schemas.microsoft.com/office/drawing/2014/main" id="{655C5B33-67FA-4F98-B381-9F2714F32F89}"/>
              </a:ext>
            </a:extLst>
          </p:cNvPr>
          <p:cNvSpPr>
            <a:spLocks noChangeArrowheads="1"/>
          </p:cNvSpPr>
          <p:nvPr/>
        </p:nvSpPr>
        <p:spPr bwMode="auto">
          <a:xfrm>
            <a:off x="4648200" y="9906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7" name="Rectangle 30">
            <a:extLst>
              <a:ext uri="{FF2B5EF4-FFF2-40B4-BE49-F238E27FC236}">
                <a16:creationId xmlns="" xmlns:a16="http://schemas.microsoft.com/office/drawing/2014/main" id="{FB225C62-FFA7-4A42-AF21-1A3C7E11CAF6}"/>
              </a:ext>
            </a:extLst>
          </p:cNvPr>
          <p:cNvSpPr>
            <a:spLocks noChangeArrowheads="1"/>
          </p:cNvSpPr>
          <p:nvPr/>
        </p:nvSpPr>
        <p:spPr bwMode="auto">
          <a:xfrm>
            <a:off x="5638800" y="6858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8" name="Rectangle 31">
            <a:extLst>
              <a:ext uri="{FF2B5EF4-FFF2-40B4-BE49-F238E27FC236}">
                <a16:creationId xmlns="" xmlns:a16="http://schemas.microsoft.com/office/drawing/2014/main" id="{277C17F8-5621-41A2-AF72-950259D3F6C2}"/>
              </a:ext>
            </a:extLst>
          </p:cNvPr>
          <p:cNvSpPr>
            <a:spLocks noChangeArrowheads="1"/>
          </p:cNvSpPr>
          <p:nvPr/>
        </p:nvSpPr>
        <p:spPr bwMode="auto">
          <a:xfrm>
            <a:off x="6629400" y="25146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9" name="TextBox 28">
            <a:extLst>
              <a:ext uri="{FF2B5EF4-FFF2-40B4-BE49-F238E27FC236}">
                <a16:creationId xmlns="" xmlns:a16="http://schemas.microsoft.com/office/drawing/2014/main" id="{28243C0A-1BAC-4F72-A07E-CAE74447EB26}"/>
              </a:ext>
            </a:extLst>
          </p:cNvPr>
          <p:cNvSpPr txBox="1">
            <a:spLocks noChangeArrowheads="1"/>
          </p:cNvSpPr>
          <p:nvPr/>
        </p:nvSpPr>
        <p:spPr bwMode="auto">
          <a:xfrm>
            <a:off x="1782763"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80" name="TextBox 29">
            <a:extLst>
              <a:ext uri="{FF2B5EF4-FFF2-40B4-BE49-F238E27FC236}">
                <a16:creationId xmlns="" xmlns:a16="http://schemas.microsoft.com/office/drawing/2014/main" id="{281BB703-35D2-4C5B-81D2-65B6B939FF8E}"/>
              </a:ext>
            </a:extLst>
          </p:cNvPr>
          <p:cNvSpPr txBox="1">
            <a:spLocks noChangeArrowheads="1"/>
          </p:cNvSpPr>
          <p:nvPr/>
        </p:nvSpPr>
        <p:spPr bwMode="auto">
          <a:xfrm>
            <a:off x="271938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81" name="TextBox 30">
            <a:extLst>
              <a:ext uri="{FF2B5EF4-FFF2-40B4-BE49-F238E27FC236}">
                <a16:creationId xmlns="" xmlns:a16="http://schemas.microsoft.com/office/drawing/2014/main" id="{D0901553-6FE8-4A73-9DD7-7810792247E6}"/>
              </a:ext>
            </a:extLst>
          </p:cNvPr>
          <p:cNvSpPr txBox="1">
            <a:spLocks noChangeArrowheads="1"/>
          </p:cNvSpPr>
          <p:nvPr/>
        </p:nvSpPr>
        <p:spPr bwMode="auto">
          <a:xfrm>
            <a:off x="3727450"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82" name="TextBox 31">
            <a:extLst>
              <a:ext uri="{FF2B5EF4-FFF2-40B4-BE49-F238E27FC236}">
                <a16:creationId xmlns="" xmlns:a16="http://schemas.microsoft.com/office/drawing/2014/main" id="{1F110DB5-3CA6-4494-8771-9D2C3E1BEF52}"/>
              </a:ext>
            </a:extLst>
          </p:cNvPr>
          <p:cNvSpPr txBox="1">
            <a:spLocks noChangeArrowheads="1"/>
          </p:cNvSpPr>
          <p:nvPr/>
        </p:nvSpPr>
        <p:spPr bwMode="auto">
          <a:xfrm>
            <a:off x="4806950" y="3492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85" name="TextBox 32">
            <a:extLst>
              <a:ext uri="{FF2B5EF4-FFF2-40B4-BE49-F238E27FC236}">
                <a16:creationId xmlns="" xmlns:a16="http://schemas.microsoft.com/office/drawing/2014/main" id="{A70B43C9-11C5-42B4-B314-95502D815EC8}"/>
              </a:ext>
            </a:extLst>
          </p:cNvPr>
          <p:cNvSpPr txBox="1">
            <a:spLocks noChangeArrowheads="1"/>
          </p:cNvSpPr>
          <p:nvPr/>
        </p:nvSpPr>
        <p:spPr bwMode="auto">
          <a:xfrm>
            <a:off x="5743575"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86" name="TextBox 33">
            <a:extLst>
              <a:ext uri="{FF2B5EF4-FFF2-40B4-BE49-F238E27FC236}">
                <a16:creationId xmlns="" xmlns:a16="http://schemas.microsoft.com/office/drawing/2014/main" id="{3FA89C86-DC95-407B-AF4F-585C6441E618}"/>
              </a:ext>
            </a:extLst>
          </p:cNvPr>
          <p:cNvSpPr txBox="1">
            <a:spLocks noChangeArrowheads="1"/>
          </p:cNvSpPr>
          <p:nvPr/>
        </p:nvSpPr>
        <p:spPr bwMode="auto">
          <a:xfrm>
            <a:off x="675163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16428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anim calcmode="lin" valueType="num">
                                      <p:cBhvr additive="base">
                                        <p:cTn id="13" dur="500" fill="hold"/>
                                        <p:tgtEl>
                                          <p:spTgt spid="74"/>
                                        </p:tgtEl>
                                        <p:attrNameLst>
                                          <p:attrName>ppt_x</p:attrName>
                                        </p:attrNameLst>
                                      </p:cBhvr>
                                      <p:tavLst>
                                        <p:tav tm="0">
                                          <p:val>
                                            <p:strVal val="#ppt_x"/>
                                          </p:val>
                                        </p:tav>
                                        <p:tav tm="100000">
                                          <p:val>
                                            <p:strVal val="#ppt_x"/>
                                          </p:val>
                                        </p:tav>
                                      </p:tavLst>
                                    </p:anim>
                                    <p:anim calcmode="lin" valueType="num">
                                      <p:cBhvr additive="base">
                                        <p:cTn id="1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fill="hold"/>
                                        <p:tgtEl>
                                          <p:spTgt spid="75"/>
                                        </p:tgtEl>
                                        <p:attrNameLst>
                                          <p:attrName>ppt_x</p:attrName>
                                        </p:attrNameLst>
                                      </p:cBhvr>
                                      <p:tavLst>
                                        <p:tav tm="0">
                                          <p:val>
                                            <p:strVal val="#ppt_x"/>
                                          </p:val>
                                        </p:tav>
                                        <p:tav tm="100000">
                                          <p:val>
                                            <p:strVal val="#ppt_x"/>
                                          </p:val>
                                        </p:tav>
                                      </p:tavLst>
                                    </p:anim>
                                    <p:anim calcmode="lin" valueType="num">
                                      <p:cBhvr additive="base">
                                        <p:cTn id="20"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6"/>
                                        </p:tgtEl>
                                        <p:attrNameLst>
                                          <p:attrName>style.visibility</p:attrName>
                                        </p:attrNameLst>
                                      </p:cBhvr>
                                      <p:to>
                                        <p:strVal val="visible"/>
                                      </p:to>
                                    </p:set>
                                    <p:anim calcmode="lin" valueType="num">
                                      <p:cBhvr additive="base">
                                        <p:cTn id="25" dur="500" fill="hold"/>
                                        <p:tgtEl>
                                          <p:spTgt spid="76"/>
                                        </p:tgtEl>
                                        <p:attrNameLst>
                                          <p:attrName>ppt_x</p:attrName>
                                        </p:attrNameLst>
                                      </p:cBhvr>
                                      <p:tavLst>
                                        <p:tav tm="0">
                                          <p:val>
                                            <p:strVal val="#ppt_x"/>
                                          </p:val>
                                        </p:tav>
                                        <p:tav tm="100000">
                                          <p:val>
                                            <p:strVal val="#ppt_x"/>
                                          </p:val>
                                        </p:tav>
                                      </p:tavLst>
                                    </p:anim>
                                    <p:anim calcmode="lin" valueType="num">
                                      <p:cBhvr additive="base">
                                        <p:cTn id="26"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7"/>
                                        </p:tgtEl>
                                        <p:attrNameLst>
                                          <p:attrName>style.visibility</p:attrName>
                                        </p:attrNameLst>
                                      </p:cBhvr>
                                      <p:to>
                                        <p:strVal val="visible"/>
                                      </p:to>
                                    </p:set>
                                    <p:anim calcmode="lin" valueType="num">
                                      <p:cBhvr additive="base">
                                        <p:cTn id="31" dur="500" fill="hold"/>
                                        <p:tgtEl>
                                          <p:spTgt spid="77"/>
                                        </p:tgtEl>
                                        <p:attrNameLst>
                                          <p:attrName>ppt_x</p:attrName>
                                        </p:attrNameLst>
                                      </p:cBhvr>
                                      <p:tavLst>
                                        <p:tav tm="0">
                                          <p:val>
                                            <p:strVal val="#ppt_x"/>
                                          </p:val>
                                        </p:tav>
                                        <p:tav tm="100000">
                                          <p:val>
                                            <p:strVal val="#ppt_x"/>
                                          </p:val>
                                        </p:tav>
                                      </p:tavLst>
                                    </p:anim>
                                    <p:anim calcmode="lin" valueType="num">
                                      <p:cBhvr additive="base">
                                        <p:cTn id="32"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8"/>
                                        </p:tgtEl>
                                        <p:attrNameLst>
                                          <p:attrName>style.visibility</p:attrName>
                                        </p:attrNameLst>
                                      </p:cBhvr>
                                      <p:to>
                                        <p:strVal val="visible"/>
                                      </p:to>
                                    </p:set>
                                    <p:anim calcmode="lin" valueType="num">
                                      <p:cBhvr additive="base">
                                        <p:cTn id="37" dur="500" fill="hold"/>
                                        <p:tgtEl>
                                          <p:spTgt spid="78"/>
                                        </p:tgtEl>
                                        <p:attrNameLst>
                                          <p:attrName>ppt_x</p:attrName>
                                        </p:attrNameLst>
                                      </p:cBhvr>
                                      <p:tavLst>
                                        <p:tav tm="0">
                                          <p:val>
                                            <p:strVal val="#ppt_x"/>
                                          </p:val>
                                        </p:tav>
                                        <p:tav tm="100000">
                                          <p:val>
                                            <p:strVal val="#ppt_x"/>
                                          </p:val>
                                        </p:tav>
                                      </p:tavLst>
                                    </p:anim>
                                    <p:anim calcmode="lin" valueType="num">
                                      <p:cBhvr additive="base">
                                        <p:cTn id="3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animBg="1"/>
      <p:bldP spid="77" grpId="0" animBg="1"/>
      <p:bldP spid="7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395288"/>
          </a:xfrm>
        </p:spPr>
        <p:txBody>
          <a:bodyPr>
            <a:noAutofit/>
          </a:bodyPr>
          <a:lstStyle/>
          <a:p>
            <a:pPr>
              <a:spcBef>
                <a:spcPct val="50000"/>
              </a:spcBef>
              <a:defRPr/>
            </a:pPr>
            <a:r>
              <a:rPr lang="en-US" sz="3200" b="1" dirty="0">
                <a:solidFill>
                  <a:schemeClr val="accent3">
                    <a:lumMod val="75000"/>
                  </a:schemeClr>
                </a:solidFill>
                <a:latin typeface="Times New Roman" pitchFamily="18" charset="0"/>
              </a:rPr>
              <a:t>FIRST FIT(FF):EXAMPLE</a:t>
            </a:r>
          </a:p>
        </p:txBody>
      </p:sp>
      <p:sp>
        <p:nvSpPr>
          <p:cNvPr id="56" name="Comment 2">
            <a:extLst>
              <a:ext uri="{FF2B5EF4-FFF2-40B4-BE49-F238E27FC236}">
                <a16:creationId xmlns="" xmlns:a16="http://schemas.microsoft.com/office/drawing/2014/main" id="{E139D14D-93BF-4369-B4E2-3F5732C8925F}"/>
              </a:ext>
            </a:extLst>
          </p:cNvPr>
          <p:cNvSpPr>
            <a:spLocks noChangeArrowheads="1"/>
          </p:cNvSpPr>
          <p:nvPr/>
        </p:nvSpPr>
        <p:spPr bwMode="auto">
          <a:xfrm>
            <a:off x="0" y="4287837"/>
            <a:ext cx="9144000" cy="58477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3200" b="1" dirty="0">
                <a:solidFill>
                  <a:srgbClr val="000000"/>
                </a:solidFill>
                <a:latin typeface="Times New Roman" panose="02020603050405020304" pitchFamily="18" charset="0"/>
                <a:cs typeface="Times New Roman" panose="02020603050405020304" pitchFamily="18" charset="0"/>
              </a:rPr>
              <a:t>Final memory allocation for all the process.</a:t>
            </a:r>
            <a:endParaRPr lang="en-GB" altLang="en-US" sz="3200" dirty="0">
              <a:solidFill>
                <a:srgbClr val="000000"/>
              </a:solidFill>
              <a:latin typeface="Times New Roman" panose="02020603050405020304" pitchFamily="18" charset="0"/>
              <a:cs typeface="Times New Roman" panose="02020603050405020304" pitchFamily="18" charset="0"/>
            </a:endParaRPr>
          </a:p>
        </p:txBody>
      </p:sp>
      <p:sp>
        <p:nvSpPr>
          <p:cNvPr id="57" name="Line 4">
            <a:extLst>
              <a:ext uri="{FF2B5EF4-FFF2-40B4-BE49-F238E27FC236}">
                <a16:creationId xmlns="" xmlns:a16="http://schemas.microsoft.com/office/drawing/2014/main" id="{E7CF31D7-54FF-4A22-9B5F-D0B2E94E12D5}"/>
              </a:ext>
            </a:extLst>
          </p:cNvPr>
          <p:cNvSpPr>
            <a:spLocks noChangeShapeType="1"/>
          </p:cNvSpPr>
          <p:nvPr/>
        </p:nvSpPr>
        <p:spPr bwMode="auto">
          <a:xfrm>
            <a:off x="1600200" y="34290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5">
            <a:extLst>
              <a:ext uri="{FF2B5EF4-FFF2-40B4-BE49-F238E27FC236}">
                <a16:creationId xmlns="" xmlns:a16="http://schemas.microsoft.com/office/drawing/2014/main" id="{3C23CB89-B9D4-4779-86F1-BDC68A467201}"/>
              </a:ext>
            </a:extLst>
          </p:cNvPr>
          <p:cNvSpPr>
            <a:spLocks noChangeShapeType="1"/>
          </p:cNvSpPr>
          <p:nvPr/>
        </p:nvSpPr>
        <p:spPr bwMode="auto">
          <a:xfrm flipV="1">
            <a:off x="1600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6">
            <a:extLst>
              <a:ext uri="{FF2B5EF4-FFF2-40B4-BE49-F238E27FC236}">
                <a16:creationId xmlns="" xmlns:a16="http://schemas.microsoft.com/office/drawing/2014/main" id="{55D071C5-5ECF-41C1-BA75-5974CEA126DC}"/>
              </a:ext>
            </a:extLst>
          </p:cNvPr>
          <p:cNvSpPr>
            <a:spLocks noChangeShapeType="1"/>
          </p:cNvSpPr>
          <p:nvPr/>
        </p:nvSpPr>
        <p:spPr bwMode="auto">
          <a:xfrm flipV="1">
            <a:off x="6553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7">
            <a:extLst>
              <a:ext uri="{FF2B5EF4-FFF2-40B4-BE49-F238E27FC236}">
                <a16:creationId xmlns="" xmlns:a16="http://schemas.microsoft.com/office/drawing/2014/main" id="{7FBFFF5C-CCE0-4025-9A2B-5307886E792B}"/>
              </a:ext>
            </a:extLst>
          </p:cNvPr>
          <p:cNvSpPr>
            <a:spLocks noChangeShapeType="1"/>
          </p:cNvSpPr>
          <p:nvPr/>
        </p:nvSpPr>
        <p:spPr bwMode="auto">
          <a:xfrm flipV="1">
            <a:off x="2590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8">
            <a:extLst>
              <a:ext uri="{FF2B5EF4-FFF2-40B4-BE49-F238E27FC236}">
                <a16:creationId xmlns="" xmlns:a16="http://schemas.microsoft.com/office/drawing/2014/main" id="{401C9FF1-0BCF-4E21-9BA6-EB0244C6B489}"/>
              </a:ext>
            </a:extLst>
          </p:cNvPr>
          <p:cNvSpPr>
            <a:spLocks noChangeShapeType="1"/>
          </p:cNvSpPr>
          <p:nvPr/>
        </p:nvSpPr>
        <p:spPr bwMode="auto">
          <a:xfrm flipV="1">
            <a:off x="35814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9">
            <a:extLst>
              <a:ext uri="{FF2B5EF4-FFF2-40B4-BE49-F238E27FC236}">
                <a16:creationId xmlns="" xmlns:a16="http://schemas.microsoft.com/office/drawing/2014/main" id="{EE8F4118-DFB6-4D8E-985B-EB39DE0546F5}"/>
              </a:ext>
            </a:extLst>
          </p:cNvPr>
          <p:cNvSpPr>
            <a:spLocks noChangeShapeType="1"/>
          </p:cNvSpPr>
          <p:nvPr/>
        </p:nvSpPr>
        <p:spPr bwMode="auto">
          <a:xfrm flipV="1">
            <a:off x="45720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0">
            <a:extLst>
              <a:ext uri="{FF2B5EF4-FFF2-40B4-BE49-F238E27FC236}">
                <a16:creationId xmlns="" xmlns:a16="http://schemas.microsoft.com/office/drawing/2014/main" id="{609D7825-4808-4552-BBEA-87AD2A188C27}"/>
              </a:ext>
            </a:extLst>
          </p:cNvPr>
          <p:cNvSpPr>
            <a:spLocks noChangeShapeType="1"/>
          </p:cNvSpPr>
          <p:nvPr/>
        </p:nvSpPr>
        <p:spPr bwMode="auto">
          <a:xfrm flipV="1">
            <a:off x="55626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12">
            <a:extLst>
              <a:ext uri="{FF2B5EF4-FFF2-40B4-BE49-F238E27FC236}">
                <a16:creationId xmlns="" xmlns:a16="http://schemas.microsoft.com/office/drawing/2014/main" id="{FE8B9658-619E-450C-A6D0-4078AE12ED8E}"/>
              </a:ext>
            </a:extLst>
          </p:cNvPr>
          <p:cNvSpPr>
            <a:spLocks noChangeShapeType="1"/>
          </p:cNvSpPr>
          <p:nvPr/>
        </p:nvSpPr>
        <p:spPr bwMode="auto">
          <a:xfrm flipV="1">
            <a:off x="7543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Rectangle 13">
            <a:extLst>
              <a:ext uri="{FF2B5EF4-FFF2-40B4-BE49-F238E27FC236}">
                <a16:creationId xmlns="" xmlns:a16="http://schemas.microsoft.com/office/drawing/2014/main" id="{B0D98660-A762-4F33-A20C-6DB235FC8743}"/>
              </a:ext>
            </a:extLst>
          </p:cNvPr>
          <p:cNvSpPr>
            <a:spLocks noChangeArrowheads="1"/>
          </p:cNvSpPr>
          <p:nvPr/>
        </p:nvSpPr>
        <p:spPr bwMode="auto">
          <a:xfrm>
            <a:off x="1676400" y="2209800"/>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66" name="Rectangle 14">
            <a:extLst>
              <a:ext uri="{FF2B5EF4-FFF2-40B4-BE49-F238E27FC236}">
                <a16:creationId xmlns="" xmlns:a16="http://schemas.microsoft.com/office/drawing/2014/main" id="{92E20B52-ECA5-4E76-B2D5-AF66A82CF3C3}"/>
              </a:ext>
            </a:extLst>
          </p:cNvPr>
          <p:cNvSpPr>
            <a:spLocks noChangeArrowheads="1"/>
          </p:cNvSpPr>
          <p:nvPr/>
        </p:nvSpPr>
        <p:spPr bwMode="auto">
          <a:xfrm>
            <a:off x="1676400" y="190500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67" name="Rectangle 17">
            <a:extLst>
              <a:ext uri="{FF2B5EF4-FFF2-40B4-BE49-F238E27FC236}">
                <a16:creationId xmlns="" xmlns:a16="http://schemas.microsoft.com/office/drawing/2014/main" id="{209FDB8F-358D-4AF0-92AA-5675B9A3DF17}"/>
              </a:ext>
            </a:extLst>
          </p:cNvPr>
          <p:cNvSpPr>
            <a:spLocks noChangeArrowheads="1"/>
          </p:cNvSpPr>
          <p:nvPr/>
        </p:nvSpPr>
        <p:spPr bwMode="auto">
          <a:xfrm>
            <a:off x="2667000" y="2819400"/>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68" name="Rectangle 18">
            <a:extLst>
              <a:ext uri="{FF2B5EF4-FFF2-40B4-BE49-F238E27FC236}">
                <a16:creationId xmlns="" xmlns:a16="http://schemas.microsoft.com/office/drawing/2014/main" id="{0748635D-CE71-401B-B3F3-261DEBAE6C6C}"/>
              </a:ext>
            </a:extLst>
          </p:cNvPr>
          <p:cNvSpPr>
            <a:spLocks noChangeArrowheads="1"/>
          </p:cNvSpPr>
          <p:nvPr/>
        </p:nvSpPr>
        <p:spPr bwMode="auto">
          <a:xfrm>
            <a:off x="2667000" y="1905000"/>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69" name="Rectangle 19">
            <a:extLst>
              <a:ext uri="{FF2B5EF4-FFF2-40B4-BE49-F238E27FC236}">
                <a16:creationId xmlns="" xmlns:a16="http://schemas.microsoft.com/office/drawing/2014/main" id="{EDC835A9-871D-4D5D-B31D-C86FE4B1D9E3}"/>
              </a:ext>
            </a:extLst>
          </p:cNvPr>
          <p:cNvSpPr>
            <a:spLocks noChangeArrowheads="1"/>
          </p:cNvSpPr>
          <p:nvPr/>
        </p:nvSpPr>
        <p:spPr bwMode="auto">
          <a:xfrm>
            <a:off x="3657600" y="190500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70" name="Rectangle 20">
            <a:extLst>
              <a:ext uri="{FF2B5EF4-FFF2-40B4-BE49-F238E27FC236}">
                <a16:creationId xmlns="" xmlns:a16="http://schemas.microsoft.com/office/drawing/2014/main" id="{C170D3F2-FFF4-4957-BBDA-6DC79C70B2FB}"/>
              </a:ext>
            </a:extLst>
          </p:cNvPr>
          <p:cNvSpPr>
            <a:spLocks noChangeArrowheads="1"/>
          </p:cNvSpPr>
          <p:nvPr/>
        </p:nvSpPr>
        <p:spPr bwMode="auto">
          <a:xfrm>
            <a:off x="4648200" y="2819400"/>
            <a:ext cx="838200" cy="609600"/>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71" name="Rectangle 21">
            <a:extLst>
              <a:ext uri="{FF2B5EF4-FFF2-40B4-BE49-F238E27FC236}">
                <a16:creationId xmlns="" xmlns:a16="http://schemas.microsoft.com/office/drawing/2014/main" id="{10915DB1-D41A-4DF0-AD10-0C7393962EE0}"/>
              </a:ext>
            </a:extLst>
          </p:cNvPr>
          <p:cNvSpPr>
            <a:spLocks noChangeArrowheads="1"/>
          </p:cNvSpPr>
          <p:nvPr/>
        </p:nvSpPr>
        <p:spPr bwMode="auto">
          <a:xfrm>
            <a:off x="4648200" y="1905000"/>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2" name="Rectangle 25">
            <a:extLst>
              <a:ext uri="{FF2B5EF4-FFF2-40B4-BE49-F238E27FC236}">
                <a16:creationId xmlns="" xmlns:a16="http://schemas.microsoft.com/office/drawing/2014/main" id="{A06625E0-9FD7-4B6F-B617-8440340701AF}"/>
              </a:ext>
            </a:extLst>
          </p:cNvPr>
          <p:cNvSpPr>
            <a:spLocks noChangeArrowheads="1"/>
          </p:cNvSpPr>
          <p:nvPr/>
        </p:nvSpPr>
        <p:spPr bwMode="auto">
          <a:xfrm>
            <a:off x="5638800" y="16002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78" name="Rectangle 31">
            <a:extLst>
              <a:ext uri="{FF2B5EF4-FFF2-40B4-BE49-F238E27FC236}">
                <a16:creationId xmlns="" xmlns:a16="http://schemas.microsoft.com/office/drawing/2014/main" id="{277C17F8-5621-41A2-AF72-950259D3F6C2}"/>
              </a:ext>
            </a:extLst>
          </p:cNvPr>
          <p:cNvSpPr>
            <a:spLocks noChangeArrowheads="1"/>
          </p:cNvSpPr>
          <p:nvPr/>
        </p:nvSpPr>
        <p:spPr bwMode="auto">
          <a:xfrm>
            <a:off x="6629400" y="2514600"/>
            <a:ext cx="838200" cy="914400"/>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79" name="TextBox 28">
            <a:extLst>
              <a:ext uri="{FF2B5EF4-FFF2-40B4-BE49-F238E27FC236}">
                <a16:creationId xmlns="" xmlns:a16="http://schemas.microsoft.com/office/drawing/2014/main" id="{28243C0A-1BAC-4F72-A07E-CAE74447EB26}"/>
              </a:ext>
            </a:extLst>
          </p:cNvPr>
          <p:cNvSpPr txBox="1">
            <a:spLocks noChangeArrowheads="1"/>
          </p:cNvSpPr>
          <p:nvPr/>
        </p:nvSpPr>
        <p:spPr bwMode="auto">
          <a:xfrm>
            <a:off x="1782763"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80" name="TextBox 29">
            <a:extLst>
              <a:ext uri="{FF2B5EF4-FFF2-40B4-BE49-F238E27FC236}">
                <a16:creationId xmlns="" xmlns:a16="http://schemas.microsoft.com/office/drawing/2014/main" id="{281BB703-35D2-4C5B-81D2-65B6B939FF8E}"/>
              </a:ext>
            </a:extLst>
          </p:cNvPr>
          <p:cNvSpPr txBox="1">
            <a:spLocks noChangeArrowheads="1"/>
          </p:cNvSpPr>
          <p:nvPr/>
        </p:nvSpPr>
        <p:spPr bwMode="auto">
          <a:xfrm>
            <a:off x="271938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81" name="TextBox 30">
            <a:extLst>
              <a:ext uri="{FF2B5EF4-FFF2-40B4-BE49-F238E27FC236}">
                <a16:creationId xmlns="" xmlns:a16="http://schemas.microsoft.com/office/drawing/2014/main" id="{D0901553-6FE8-4A73-9DD7-7810792247E6}"/>
              </a:ext>
            </a:extLst>
          </p:cNvPr>
          <p:cNvSpPr txBox="1">
            <a:spLocks noChangeArrowheads="1"/>
          </p:cNvSpPr>
          <p:nvPr/>
        </p:nvSpPr>
        <p:spPr bwMode="auto">
          <a:xfrm>
            <a:off x="3727450"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82" name="TextBox 31">
            <a:extLst>
              <a:ext uri="{FF2B5EF4-FFF2-40B4-BE49-F238E27FC236}">
                <a16:creationId xmlns="" xmlns:a16="http://schemas.microsoft.com/office/drawing/2014/main" id="{1F110DB5-3CA6-4494-8771-9D2C3E1BEF52}"/>
              </a:ext>
            </a:extLst>
          </p:cNvPr>
          <p:cNvSpPr txBox="1">
            <a:spLocks noChangeArrowheads="1"/>
          </p:cNvSpPr>
          <p:nvPr/>
        </p:nvSpPr>
        <p:spPr bwMode="auto">
          <a:xfrm>
            <a:off x="4806950" y="3492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85" name="TextBox 32">
            <a:extLst>
              <a:ext uri="{FF2B5EF4-FFF2-40B4-BE49-F238E27FC236}">
                <a16:creationId xmlns="" xmlns:a16="http://schemas.microsoft.com/office/drawing/2014/main" id="{A70B43C9-11C5-42B4-B314-95502D815EC8}"/>
              </a:ext>
            </a:extLst>
          </p:cNvPr>
          <p:cNvSpPr txBox="1">
            <a:spLocks noChangeArrowheads="1"/>
          </p:cNvSpPr>
          <p:nvPr/>
        </p:nvSpPr>
        <p:spPr bwMode="auto">
          <a:xfrm>
            <a:off x="5743575"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86" name="TextBox 33">
            <a:extLst>
              <a:ext uri="{FF2B5EF4-FFF2-40B4-BE49-F238E27FC236}">
                <a16:creationId xmlns="" xmlns:a16="http://schemas.microsoft.com/office/drawing/2014/main" id="{3FA89C86-DC95-407B-AF4F-585C6441E618}"/>
              </a:ext>
            </a:extLst>
          </p:cNvPr>
          <p:cNvSpPr txBox="1">
            <a:spLocks noChangeArrowheads="1"/>
          </p:cNvSpPr>
          <p:nvPr/>
        </p:nvSpPr>
        <p:spPr bwMode="auto">
          <a:xfrm>
            <a:off x="675163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1224117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Next Fit(NF) Algorithm</a:t>
            </a:r>
          </a:p>
        </p:txBody>
      </p:sp>
    </p:spTree>
    <p:extLst>
      <p:ext uri="{BB962C8B-B14F-4D97-AF65-F5344CB8AC3E}">
        <p14:creationId xmlns:p14="http://schemas.microsoft.com/office/powerpoint/2010/main" val="37234002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0"/>
            <a:ext cx="9144000" cy="6096000"/>
          </a:xfrm>
        </p:spPr>
        <p:txBody>
          <a:bodyPr>
            <a:noAutofit/>
          </a:bodyPr>
          <a:lstStyle/>
          <a:p>
            <a:pPr lvl="1" algn="just" eaLnBrk="0" hangingPunct="0">
              <a:lnSpc>
                <a:spcPct val="200000"/>
              </a:lnSpc>
              <a:buFont typeface="Arial" panose="020B0604020202020204" pitchFamily="34" charset="0"/>
              <a:buChar char="•"/>
              <a:defRPr/>
            </a:pPr>
            <a:r>
              <a:rPr lang="en-US" b="1" dirty="0">
                <a:latin typeface="Times New Roman" panose="02020603050405020304" pitchFamily="18" charset="0"/>
                <a:cs typeface="Times New Roman" panose="02020603050405020304" pitchFamily="18" charset="0"/>
              </a:rPr>
              <a:t>We </a:t>
            </a:r>
            <a:r>
              <a:rPr lang="en-US" b="1" dirty="0" smtClean="0">
                <a:latin typeface="Times New Roman" panose="02020603050405020304" pitchFamily="18" charset="0"/>
                <a:cs typeface="Times New Roman" panose="02020603050405020304" pitchFamily="18" charset="0"/>
              </a:rPr>
              <a:t>start </a:t>
            </a:r>
            <a:r>
              <a:rPr lang="en-US" b="1" dirty="0">
                <a:latin typeface="Times New Roman" panose="02020603050405020304" pitchFamily="18" charset="0"/>
                <a:cs typeface="Times New Roman" panose="02020603050405020304" pitchFamily="18" charset="0"/>
              </a:rPr>
              <a:t>to search for the free memory from the last point we stopped. </a:t>
            </a:r>
          </a:p>
          <a:p>
            <a:pPr lvl="1" algn="just" eaLnBrk="0" hangingPunct="0">
              <a:lnSpc>
                <a:spcPct val="200000"/>
              </a:lnSpc>
              <a:buFont typeface="Arial" panose="020B0604020202020204" pitchFamily="34" charset="0"/>
              <a:buChar char="•"/>
              <a:defRPr/>
            </a:pPr>
            <a:r>
              <a:rPr lang="en-US" b="1" dirty="0">
                <a:latin typeface="Times New Roman" panose="02020603050405020304" pitchFamily="18" charset="0"/>
                <a:cs typeface="Times New Roman" panose="02020603050405020304" pitchFamily="18" charset="0"/>
              </a:rPr>
              <a:t>For the first time, it just </a:t>
            </a:r>
            <a:r>
              <a:rPr lang="en-US" b="1" dirty="0" smtClean="0">
                <a:latin typeface="Times New Roman" panose="02020603050405020304" pitchFamily="18" charset="0"/>
                <a:cs typeface="Times New Roman" panose="02020603050405020304" pitchFamily="18" charset="0"/>
              </a:rPr>
              <a:t>looks like </a:t>
            </a:r>
            <a:r>
              <a:rPr lang="en-US" b="1" dirty="0">
                <a:latin typeface="Times New Roman" panose="02020603050405020304" pitchFamily="18" charset="0"/>
                <a:cs typeface="Times New Roman" panose="02020603050405020304" pitchFamily="18" charset="0"/>
              </a:rPr>
              <a:t>first fit but generally from the second time it will start to search from the last position it stopped before.</a:t>
            </a:r>
            <a:endParaRPr lang="en-US" b="1" kern="0" dirty="0">
              <a:latin typeface="Times New Roman" panose="02020603050405020304" pitchFamily="18" charset="0"/>
              <a:cs typeface="Times New Roman" panose="02020603050405020304" pitchFamily="18" charset="0"/>
            </a:endParaRPr>
          </a:p>
          <a:p>
            <a:pPr lvl="1" algn="just" eaLnBrk="0" hangingPunct="0">
              <a:lnSpc>
                <a:spcPct val="200000"/>
              </a:lnSpc>
              <a:buFont typeface="Arial" panose="020B0604020202020204" pitchFamily="34" charset="0"/>
              <a:buChar char="•"/>
              <a:defRPr/>
            </a:pPr>
            <a:r>
              <a:rPr lang="en-US" b="1" kern="0" dirty="0">
                <a:latin typeface="Times New Roman" panose="02020603050405020304" pitchFamily="18" charset="0"/>
                <a:cs typeface="Times New Roman" panose="02020603050405020304" pitchFamily="18" charset="0"/>
              </a:rPr>
              <a:t>Scans memory from the location of the last placement.</a:t>
            </a:r>
          </a:p>
        </p:txBody>
      </p:sp>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NEXT FIT(NF)</a:t>
            </a:r>
          </a:p>
        </p:txBody>
      </p:sp>
    </p:spTree>
    <p:extLst>
      <p:ext uri="{BB962C8B-B14F-4D97-AF65-F5344CB8AC3E}">
        <p14:creationId xmlns:p14="http://schemas.microsoft.com/office/powerpoint/2010/main" val="906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BEST FIT(BF) Algorithm</a:t>
            </a:r>
          </a:p>
        </p:txBody>
      </p:sp>
    </p:spTree>
    <p:extLst>
      <p:ext uri="{BB962C8B-B14F-4D97-AF65-F5344CB8AC3E}">
        <p14:creationId xmlns:p14="http://schemas.microsoft.com/office/powerpoint/2010/main" val="3116354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BEST FIT(BF)</a:t>
            </a:r>
          </a:p>
        </p:txBody>
      </p:sp>
      <p:sp>
        <p:nvSpPr>
          <p:cNvPr id="6" name="TextBox 6">
            <a:extLst>
              <a:ext uri="{FF2B5EF4-FFF2-40B4-BE49-F238E27FC236}">
                <a16:creationId xmlns="" xmlns:a16="http://schemas.microsoft.com/office/drawing/2014/main" id="{1915589A-54FF-452B-B71F-B502F3FE7DB3}"/>
              </a:ext>
            </a:extLst>
          </p:cNvPr>
          <p:cNvSpPr txBox="1">
            <a:spLocks noChangeArrowheads="1"/>
          </p:cNvSpPr>
          <p:nvPr/>
        </p:nvSpPr>
        <p:spPr bwMode="auto">
          <a:xfrm>
            <a:off x="0" y="762000"/>
            <a:ext cx="9144000" cy="599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342900" indent="-342900" algn="just" eaLnBrk="1" hangingPunct="1">
              <a:lnSpc>
                <a:spcPct val="200000"/>
              </a:lnSpc>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It searches the entire list that is close to the actual size needed.</a:t>
            </a:r>
          </a:p>
          <a:p>
            <a:pPr marL="342900" indent="-342900" algn="just" eaLnBrk="1" hangingPunct="1">
              <a:lnSpc>
                <a:spcPct val="200000"/>
              </a:lnSpc>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It searches the entire list, from beginning to end and takes the smallest hole that is sufficient.</a:t>
            </a:r>
          </a:p>
          <a:p>
            <a:pPr marL="342900" indent="-342900" algn="just" eaLnBrk="1" hangingPunct="1">
              <a:lnSpc>
                <a:spcPct val="200000"/>
              </a:lnSpc>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Scan all bins and place item in bin with tightest fit (will be fullest after item is placed there)</a:t>
            </a:r>
          </a:p>
          <a:p>
            <a:pPr marL="342900" indent="-342900" algn="just" eaLnBrk="1" hangingPunct="1">
              <a:lnSpc>
                <a:spcPct val="200000"/>
              </a:lnSpc>
              <a:buFont typeface="Arial" panose="020B0604020202020204" pitchFamily="34" charset="0"/>
              <a:buChar char="•"/>
            </a:pPr>
            <a:endParaRPr lang="en-US"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80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BEST FIT(BF)</a:t>
            </a:r>
          </a:p>
        </p:txBody>
      </p:sp>
      <p:sp>
        <p:nvSpPr>
          <p:cNvPr id="5" name="Line 4">
            <a:extLst>
              <a:ext uri="{FF2B5EF4-FFF2-40B4-BE49-F238E27FC236}">
                <a16:creationId xmlns="" xmlns:a16="http://schemas.microsoft.com/office/drawing/2014/main" id="{B5D73A92-7234-4C43-A622-BBD9295BD43C}"/>
              </a:ext>
            </a:extLst>
          </p:cNvPr>
          <p:cNvSpPr>
            <a:spLocks noChangeShapeType="1"/>
          </p:cNvSpPr>
          <p:nvPr/>
        </p:nvSpPr>
        <p:spPr bwMode="auto">
          <a:xfrm flipV="1">
            <a:off x="1600200" y="3426949"/>
            <a:ext cx="5029200" cy="205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7" name="Line 5">
            <a:extLst>
              <a:ext uri="{FF2B5EF4-FFF2-40B4-BE49-F238E27FC236}">
                <a16:creationId xmlns="" xmlns:a16="http://schemas.microsoft.com/office/drawing/2014/main" id="{1762B64D-8E43-4A28-AF5A-7707D519A094}"/>
              </a:ext>
            </a:extLst>
          </p:cNvPr>
          <p:cNvSpPr>
            <a:spLocks noChangeShapeType="1"/>
          </p:cNvSpPr>
          <p:nvPr/>
        </p:nvSpPr>
        <p:spPr bwMode="auto">
          <a:xfrm flipV="1">
            <a:off x="1610751" y="1600200"/>
            <a:ext cx="0" cy="18288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10" name="Line 7">
            <a:extLst>
              <a:ext uri="{FF2B5EF4-FFF2-40B4-BE49-F238E27FC236}">
                <a16:creationId xmlns="" xmlns:a16="http://schemas.microsoft.com/office/drawing/2014/main" id="{4FB632A7-92FE-4C03-BC04-7C6BEF59133A}"/>
              </a:ext>
            </a:extLst>
          </p:cNvPr>
          <p:cNvSpPr>
            <a:spLocks noChangeShapeType="1"/>
          </p:cNvSpPr>
          <p:nvPr/>
        </p:nvSpPr>
        <p:spPr bwMode="auto">
          <a:xfrm flipV="1">
            <a:off x="2590800" y="1600200"/>
            <a:ext cx="0" cy="18288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11" name="Line 8">
            <a:extLst>
              <a:ext uri="{FF2B5EF4-FFF2-40B4-BE49-F238E27FC236}">
                <a16:creationId xmlns="" xmlns:a16="http://schemas.microsoft.com/office/drawing/2014/main" id="{80EB1FF9-FBFC-4720-B477-52FC791D6428}"/>
              </a:ext>
            </a:extLst>
          </p:cNvPr>
          <p:cNvSpPr>
            <a:spLocks noChangeShapeType="1"/>
          </p:cNvSpPr>
          <p:nvPr/>
        </p:nvSpPr>
        <p:spPr bwMode="auto">
          <a:xfrm flipV="1">
            <a:off x="3581400" y="1600200"/>
            <a:ext cx="0" cy="18288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12" name="Line 9">
            <a:extLst>
              <a:ext uri="{FF2B5EF4-FFF2-40B4-BE49-F238E27FC236}">
                <a16:creationId xmlns="" xmlns:a16="http://schemas.microsoft.com/office/drawing/2014/main" id="{B416DCAD-B904-401B-8A7A-9395A4FD04BB}"/>
              </a:ext>
            </a:extLst>
          </p:cNvPr>
          <p:cNvSpPr>
            <a:spLocks noChangeShapeType="1"/>
          </p:cNvSpPr>
          <p:nvPr/>
        </p:nvSpPr>
        <p:spPr bwMode="auto">
          <a:xfrm flipV="1">
            <a:off x="4572000" y="1600200"/>
            <a:ext cx="0" cy="18288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13" name="Line 10">
            <a:extLst>
              <a:ext uri="{FF2B5EF4-FFF2-40B4-BE49-F238E27FC236}">
                <a16:creationId xmlns="" xmlns:a16="http://schemas.microsoft.com/office/drawing/2014/main" id="{C568DE44-FDC7-4117-BC78-33B05FC0D42C}"/>
              </a:ext>
            </a:extLst>
          </p:cNvPr>
          <p:cNvSpPr>
            <a:spLocks noChangeShapeType="1"/>
          </p:cNvSpPr>
          <p:nvPr/>
        </p:nvSpPr>
        <p:spPr bwMode="auto">
          <a:xfrm flipV="1">
            <a:off x="5562600" y="1600200"/>
            <a:ext cx="0" cy="18288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15" name="Rectangle 13">
            <a:extLst>
              <a:ext uri="{FF2B5EF4-FFF2-40B4-BE49-F238E27FC236}">
                <a16:creationId xmlns="" xmlns:a16="http://schemas.microsoft.com/office/drawing/2014/main" id="{728D2485-7F6D-4AB2-9DD0-6CC5A45A03AD}"/>
              </a:ext>
            </a:extLst>
          </p:cNvPr>
          <p:cNvSpPr>
            <a:spLocks noChangeArrowheads="1"/>
          </p:cNvSpPr>
          <p:nvPr/>
        </p:nvSpPr>
        <p:spPr bwMode="auto">
          <a:xfrm>
            <a:off x="1676400" y="2514600"/>
            <a:ext cx="838200" cy="914400"/>
          </a:xfrm>
          <a:prstGeom prst="rect">
            <a:avLst/>
          </a:prstGeom>
          <a:noFill/>
          <a:ln w="2857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n-US" b="1" dirty="0">
                <a:latin typeface="Times New Roman" panose="02020603050405020304" pitchFamily="18" charset="0"/>
                <a:cs typeface="Times New Roman" panose="02020603050405020304" pitchFamily="18" charset="0"/>
              </a:rPr>
              <a:t>1</a:t>
            </a:r>
          </a:p>
        </p:txBody>
      </p:sp>
      <p:sp>
        <p:nvSpPr>
          <p:cNvPr id="16" name="Rectangle 14">
            <a:extLst>
              <a:ext uri="{FF2B5EF4-FFF2-40B4-BE49-F238E27FC236}">
                <a16:creationId xmlns="" xmlns:a16="http://schemas.microsoft.com/office/drawing/2014/main" id="{68DE0A54-9104-4A92-8193-B42604DC3A57}"/>
              </a:ext>
            </a:extLst>
          </p:cNvPr>
          <p:cNvSpPr>
            <a:spLocks noChangeArrowheads="1"/>
          </p:cNvSpPr>
          <p:nvPr/>
        </p:nvSpPr>
        <p:spPr bwMode="auto">
          <a:xfrm>
            <a:off x="4635426" y="3014199"/>
            <a:ext cx="838200" cy="381000"/>
          </a:xfrm>
          <a:prstGeom prst="rect">
            <a:avLst/>
          </a:prstGeom>
          <a:noFill/>
          <a:ln w="2857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n-US" b="1" dirty="0">
                <a:latin typeface="Times New Roman" panose="02020603050405020304" pitchFamily="18" charset="0"/>
                <a:cs typeface="Times New Roman" panose="02020603050405020304" pitchFamily="18" charset="0"/>
              </a:rPr>
              <a:t>5</a:t>
            </a:r>
          </a:p>
        </p:txBody>
      </p:sp>
      <p:sp>
        <p:nvSpPr>
          <p:cNvPr id="17" name="Rectangle 17">
            <a:extLst>
              <a:ext uri="{FF2B5EF4-FFF2-40B4-BE49-F238E27FC236}">
                <a16:creationId xmlns="" xmlns:a16="http://schemas.microsoft.com/office/drawing/2014/main" id="{EBD0A3CA-B0F4-4589-BB6C-BFB0B8C65F4A}"/>
              </a:ext>
            </a:extLst>
          </p:cNvPr>
          <p:cNvSpPr>
            <a:spLocks noChangeArrowheads="1"/>
          </p:cNvSpPr>
          <p:nvPr/>
        </p:nvSpPr>
        <p:spPr bwMode="auto">
          <a:xfrm>
            <a:off x="2667000" y="2819400"/>
            <a:ext cx="838200" cy="609600"/>
          </a:xfrm>
          <a:prstGeom prst="rect">
            <a:avLst/>
          </a:prstGeom>
          <a:noFill/>
          <a:ln w="349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n-US" b="1" dirty="0">
                <a:latin typeface="Times New Roman" panose="02020603050405020304" pitchFamily="18" charset="0"/>
                <a:cs typeface="Times New Roman" panose="02020603050405020304" pitchFamily="18" charset="0"/>
              </a:rPr>
              <a:t>3</a:t>
            </a:r>
          </a:p>
        </p:txBody>
      </p:sp>
      <p:sp>
        <p:nvSpPr>
          <p:cNvPr id="19" name="Rectangle 19">
            <a:extLst>
              <a:ext uri="{FF2B5EF4-FFF2-40B4-BE49-F238E27FC236}">
                <a16:creationId xmlns="" xmlns:a16="http://schemas.microsoft.com/office/drawing/2014/main" id="{006362C3-EDF7-4FF3-9F06-2898B33C8F6E}"/>
              </a:ext>
            </a:extLst>
          </p:cNvPr>
          <p:cNvSpPr>
            <a:spLocks noChangeArrowheads="1"/>
          </p:cNvSpPr>
          <p:nvPr/>
        </p:nvSpPr>
        <p:spPr bwMode="auto">
          <a:xfrm>
            <a:off x="2666999" y="2218005"/>
            <a:ext cx="838200" cy="609600"/>
          </a:xfrm>
          <a:prstGeom prst="rect">
            <a:avLst/>
          </a:prstGeom>
          <a:noFill/>
          <a:ln w="317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n-US" b="1" dirty="0">
                <a:latin typeface="Times New Roman" panose="02020603050405020304" pitchFamily="18" charset="0"/>
                <a:cs typeface="Times New Roman" panose="02020603050405020304" pitchFamily="18" charset="0"/>
              </a:rPr>
              <a:t>2</a:t>
            </a:r>
          </a:p>
        </p:txBody>
      </p:sp>
      <p:sp>
        <p:nvSpPr>
          <p:cNvPr id="20" name="Rectangle 20">
            <a:extLst>
              <a:ext uri="{FF2B5EF4-FFF2-40B4-BE49-F238E27FC236}">
                <a16:creationId xmlns="" xmlns:a16="http://schemas.microsoft.com/office/drawing/2014/main" id="{3D048B3E-B82B-4F0D-ADE9-680403F85846}"/>
              </a:ext>
            </a:extLst>
          </p:cNvPr>
          <p:cNvSpPr>
            <a:spLocks noChangeArrowheads="1"/>
          </p:cNvSpPr>
          <p:nvPr/>
        </p:nvSpPr>
        <p:spPr bwMode="auto">
          <a:xfrm>
            <a:off x="3664268" y="2817349"/>
            <a:ext cx="838199" cy="609600"/>
          </a:xfrm>
          <a:prstGeom prst="rect">
            <a:avLst/>
          </a:prstGeom>
          <a:noFill/>
          <a:ln w="317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n-US" b="1" dirty="0">
                <a:latin typeface="Times New Roman" panose="02020603050405020304" pitchFamily="18" charset="0"/>
                <a:cs typeface="Times New Roman" panose="02020603050405020304" pitchFamily="18" charset="0"/>
              </a:rPr>
              <a:t>4</a:t>
            </a:r>
          </a:p>
        </p:txBody>
      </p:sp>
      <p:sp>
        <p:nvSpPr>
          <p:cNvPr id="24" name="TextBox 28">
            <a:extLst>
              <a:ext uri="{FF2B5EF4-FFF2-40B4-BE49-F238E27FC236}">
                <a16:creationId xmlns="" xmlns:a16="http://schemas.microsoft.com/office/drawing/2014/main" id="{CE663876-2B79-471D-BE73-93B4452DF1A7}"/>
              </a:ext>
            </a:extLst>
          </p:cNvPr>
          <p:cNvSpPr txBox="1">
            <a:spLocks noChangeArrowheads="1"/>
          </p:cNvSpPr>
          <p:nvPr/>
        </p:nvSpPr>
        <p:spPr bwMode="auto">
          <a:xfrm>
            <a:off x="1782763"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cs typeface="Times New Roman" panose="02020603050405020304" pitchFamily="18" charset="0"/>
              </a:rPr>
              <a:t>A</a:t>
            </a:r>
          </a:p>
        </p:txBody>
      </p:sp>
      <p:sp>
        <p:nvSpPr>
          <p:cNvPr id="25" name="TextBox 29">
            <a:extLst>
              <a:ext uri="{FF2B5EF4-FFF2-40B4-BE49-F238E27FC236}">
                <a16:creationId xmlns="" xmlns:a16="http://schemas.microsoft.com/office/drawing/2014/main" id="{ECEAA5CF-3872-46DF-8779-C77992843AEB}"/>
              </a:ext>
            </a:extLst>
          </p:cNvPr>
          <p:cNvSpPr txBox="1">
            <a:spLocks noChangeArrowheads="1"/>
          </p:cNvSpPr>
          <p:nvPr/>
        </p:nvSpPr>
        <p:spPr bwMode="auto">
          <a:xfrm>
            <a:off x="271938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cs typeface="Times New Roman" panose="02020603050405020304" pitchFamily="18" charset="0"/>
              </a:rPr>
              <a:t>B</a:t>
            </a:r>
          </a:p>
        </p:txBody>
      </p:sp>
      <p:sp>
        <p:nvSpPr>
          <p:cNvPr id="26" name="TextBox 30">
            <a:extLst>
              <a:ext uri="{FF2B5EF4-FFF2-40B4-BE49-F238E27FC236}">
                <a16:creationId xmlns="" xmlns:a16="http://schemas.microsoft.com/office/drawing/2014/main" id="{2D5FA81D-35A6-48E3-BFA6-799EB0E48810}"/>
              </a:ext>
            </a:extLst>
          </p:cNvPr>
          <p:cNvSpPr txBox="1">
            <a:spLocks noChangeArrowheads="1"/>
          </p:cNvSpPr>
          <p:nvPr/>
        </p:nvSpPr>
        <p:spPr bwMode="auto">
          <a:xfrm>
            <a:off x="3727450"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cs typeface="Times New Roman" panose="02020603050405020304" pitchFamily="18" charset="0"/>
              </a:rPr>
              <a:t>C</a:t>
            </a:r>
          </a:p>
        </p:txBody>
      </p:sp>
      <p:sp>
        <p:nvSpPr>
          <p:cNvPr id="27" name="TextBox 31">
            <a:extLst>
              <a:ext uri="{FF2B5EF4-FFF2-40B4-BE49-F238E27FC236}">
                <a16:creationId xmlns="" xmlns:a16="http://schemas.microsoft.com/office/drawing/2014/main" id="{776A0EF7-340B-4298-88A2-10F03E2ABD9C}"/>
              </a:ext>
            </a:extLst>
          </p:cNvPr>
          <p:cNvSpPr txBox="1">
            <a:spLocks noChangeArrowheads="1"/>
          </p:cNvSpPr>
          <p:nvPr/>
        </p:nvSpPr>
        <p:spPr bwMode="auto">
          <a:xfrm>
            <a:off x="4806950" y="3492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cs typeface="Times New Roman" panose="02020603050405020304" pitchFamily="18" charset="0"/>
              </a:rPr>
              <a:t>D</a:t>
            </a:r>
          </a:p>
        </p:txBody>
      </p:sp>
      <p:sp>
        <p:nvSpPr>
          <p:cNvPr id="30" name="Line 10">
            <a:extLst>
              <a:ext uri="{FF2B5EF4-FFF2-40B4-BE49-F238E27FC236}">
                <a16:creationId xmlns="" xmlns:a16="http://schemas.microsoft.com/office/drawing/2014/main" id="{92EBD0C4-3EA6-4675-ADD1-8FC54BF1A884}"/>
              </a:ext>
            </a:extLst>
          </p:cNvPr>
          <p:cNvSpPr>
            <a:spLocks noChangeShapeType="1"/>
          </p:cNvSpPr>
          <p:nvPr/>
        </p:nvSpPr>
        <p:spPr bwMode="auto">
          <a:xfrm flipV="1">
            <a:off x="6629400" y="1608405"/>
            <a:ext cx="0" cy="18288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b="1">
              <a:latin typeface="Times New Roman" panose="02020603050405020304" pitchFamily="18" charset="0"/>
              <a:cs typeface="Times New Roman" panose="02020603050405020304" pitchFamily="18" charset="0"/>
            </a:endParaRPr>
          </a:p>
        </p:txBody>
      </p:sp>
      <p:sp>
        <p:nvSpPr>
          <p:cNvPr id="31" name="Rectangle 20">
            <a:extLst>
              <a:ext uri="{FF2B5EF4-FFF2-40B4-BE49-F238E27FC236}">
                <a16:creationId xmlns="" xmlns:a16="http://schemas.microsoft.com/office/drawing/2014/main" id="{4134F1C6-20F9-4D3D-9258-65FAD56AE1AE}"/>
              </a:ext>
            </a:extLst>
          </p:cNvPr>
          <p:cNvSpPr>
            <a:spLocks noChangeArrowheads="1"/>
          </p:cNvSpPr>
          <p:nvPr/>
        </p:nvSpPr>
        <p:spPr bwMode="auto">
          <a:xfrm>
            <a:off x="5655455" y="3014199"/>
            <a:ext cx="897744" cy="381000"/>
          </a:xfrm>
          <a:prstGeom prst="rect">
            <a:avLst/>
          </a:prstGeom>
          <a:noFill/>
          <a:ln w="317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n-US" b="1" dirty="0">
                <a:latin typeface="Times New Roman" panose="02020603050405020304" pitchFamily="18" charset="0"/>
                <a:cs typeface="Times New Roman" panose="02020603050405020304" pitchFamily="18" charset="0"/>
              </a:rPr>
              <a:t>6</a:t>
            </a:r>
          </a:p>
        </p:txBody>
      </p:sp>
      <p:sp>
        <p:nvSpPr>
          <p:cNvPr id="32" name="TextBox 31">
            <a:extLst>
              <a:ext uri="{FF2B5EF4-FFF2-40B4-BE49-F238E27FC236}">
                <a16:creationId xmlns="" xmlns:a16="http://schemas.microsoft.com/office/drawing/2014/main" id="{32D01D31-E531-469C-A21C-4413D76F67C4}"/>
              </a:ext>
            </a:extLst>
          </p:cNvPr>
          <p:cNvSpPr txBox="1">
            <a:spLocks noChangeArrowheads="1"/>
          </p:cNvSpPr>
          <p:nvPr/>
        </p:nvSpPr>
        <p:spPr bwMode="auto">
          <a:xfrm>
            <a:off x="5857860" y="3492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latin typeface="Times New Roman" panose="02020603050405020304" pitchFamily="18" charset="0"/>
                <a:cs typeface="Times New Roman" panose="02020603050405020304" pitchFamily="18" charset="0"/>
              </a:rPr>
              <a:t>E</a:t>
            </a:r>
          </a:p>
        </p:txBody>
      </p:sp>
    </p:spTree>
    <p:extLst>
      <p:ext uri="{BB962C8B-B14F-4D97-AF65-F5344CB8AC3E}">
        <p14:creationId xmlns:p14="http://schemas.microsoft.com/office/powerpoint/2010/main" val="1580913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BEST FIT(BF)</a:t>
            </a:r>
          </a:p>
        </p:txBody>
      </p:sp>
      <p:sp>
        <p:nvSpPr>
          <p:cNvPr id="4" name="Comment 2">
            <a:extLst>
              <a:ext uri="{FF2B5EF4-FFF2-40B4-BE49-F238E27FC236}">
                <a16:creationId xmlns="" xmlns:a16="http://schemas.microsoft.com/office/drawing/2014/main" id="{6EBE43F6-0E2A-4775-82AD-A026591A5A67}"/>
              </a:ext>
            </a:extLst>
          </p:cNvPr>
          <p:cNvSpPr>
            <a:spLocks noChangeArrowheads="1"/>
          </p:cNvSpPr>
          <p:nvPr/>
        </p:nvSpPr>
        <p:spPr bwMode="auto">
          <a:xfrm>
            <a:off x="0" y="4287837"/>
            <a:ext cx="9144000" cy="58477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3200" b="1" dirty="0">
                <a:solidFill>
                  <a:srgbClr val="000000"/>
                </a:solidFill>
                <a:latin typeface="Times New Roman" panose="02020603050405020304" pitchFamily="18" charset="0"/>
                <a:cs typeface="Times New Roman" panose="02020603050405020304" pitchFamily="18" charset="0"/>
              </a:rPr>
              <a:t>Same process allocation by Best fit </a:t>
            </a:r>
            <a:r>
              <a:rPr lang="en-GB" altLang="en-US" sz="3200" b="1" dirty="0" smtClean="0">
                <a:solidFill>
                  <a:srgbClr val="000000"/>
                </a:solidFill>
                <a:latin typeface="Times New Roman" panose="02020603050405020304" pitchFamily="18" charset="0"/>
                <a:cs typeface="Times New Roman" panose="02020603050405020304" pitchFamily="18" charset="0"/>
              </a:rPr>
              <a:t>Algorithm</a:t>
            </a:r>
            <a:endParaRPr lang="en-GB" altLang="en-US" sz="3200" dirty="0">
              <a:solidFill>
                <a:srgbClr val="000000"/>
              </a:solidFill>
              <a:latin typeface="Times New Roman" panose="02020603050405020304" pitchFamily="18" charset="0"/>
              <a:cs typeface="Times New Roman" panose="02020603050405020304" pitchFamily="18" charset="0"/>
            </a:endParaRPr>
          </a:p>
        </p:txBody>
      </p:sp>
      <p:sp>
        <p:nvSpPr>
          <p:cNvPr id="5" name="Line 4">
            <a:extLst>
              <a:ext uri="{FF2B5EF4-FFF2-40B4-BE49-F238E27FC236}">
                <a16:creationId xmlns="" xmlns:a16="http://schemas.microsoft.com/office/drawing/2014/main" id="{B5D73A92-7234-4C43-A622-BBD9295BD43C}"/>
              </a:ext>
            </a:extLst>
          </p:cNvPr>
          <p:cNvSpPr>
            <a:spLocks noChangeShapeType="1"/>
          </p:cNvSpPr>
          <p:nvPr/>
        </p:nvSpPr>
        <p:spPr bwMode="auto">
          <a:xfrm>
            <a:off x="1600200" y="34290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5">
            <a:extLst>
              <a:ext uri="{FF2B5EF4-FFF2-40B4-BE49-F238E27FC236}">
                <a16:creationId xmlns="" xmlns:a16="http://schemas.microsoft.com/office/drawing/2014/main" id="{1762B64D-8E43-4A28-AF5A-7707D519A094}"/>
              </a:ext>
            </a:extLst>
          </p:cNvPr>
          <p:cNvSpPr>
            <a:spLocks noChangeShapeType="1"/>
          </p:cNvSpPr>
          <p:nvPr/>
        </p:nvSpPr>
        <p:spPr bwMode="auto">
          <a:xfrm flipV="1">
            <a:off x="1600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6">
            <a:extLst>
              <a:ext uri="{FF2B5EF4-FFF2-40B4-BE49-F238E27FC236}">
                <a16:creationId xmlns="" xmlns:a16="http://schemas.microsoft.com/office/drawing/2014/main" id="{CED896E7-3C7D-47A4-9183-2233E0335F9E}"/>
              </a:ext>
            </a:extLst>
          </p:cNvPr>
          <p:cNvSpPr>
            <a:spLocks noChangeShapeType="1"/>
          </p:cNvSpPr>
          <p:nvPr/>
        </p:nvSpPr>
        <p:spPr bwMode="auto">
          <a:xfrm flipV="1">
            <a:off x="6553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7">
            <a:extLst>
              <a:ext uri="{FF2B5EF4-FFF2-40B4-BE49-F238E27FC236}">
                <a16:creationId xmlns="" xmlns:a16="http://schemas.microsoft.com/office/drawing/2014/main" id="{4FB632A7-92FE-4C03-BC04-7C6BEF59133A}"/>
              </a:ext>
            </a:extLst>
          </p:cNvPr>
          <p:cNvSpPr>
            <a:spLocks noChangeShapeType="1"/>
          </p:cNvSpPr>
          <p:nvPr/>
        </p:nvSpPr>
        <p:spPr bwMode="auto">
          <a:xfrm flipV="1">
            <a:off x="2590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8">
            <a:extLst>
              <a:ext uri="{FF2B5EF4-FFF2-40B4-BE49-F238E27FC236}">
                <a16:creationId xmlns="" xmlns:a16="http://schemas.microsoft.com/office/drawing/2014/main" id="{80EB1FF9-FBFC-4720-B477-52FC791D6428}"/>
              </a:ext>
            </a:extLst>
          </p:cNvPr>
          <p:cNvSpPr>
            <a:spLocks noChangeShapeType="1"/>
          </p:cNvSpPr>
          <p:nvPr/>
        </p:nvSpPr>
        <p:spPr bwMode="auto">
          <a:xfrm flipV="1">
            <a:off x="35814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9">
            <a:extLst>
              <a:ext uri="{FF2B5EF4-FFF2-40B4-BE49-F238E27FC236}">
                <a16:creationId xmlns="" xmlns:a16="http://schemas.microsoft.com/office/drawing/2014/main" id="{B416DCAD-B904-401B-8A7A-9395A4FD04BB}"/>
              </a:ext>
            </a:extLst>
          </p:cNvPr>
          <p:cNvSpPr>
            <a:spLocks noChangeShapeType="1"/>
          </p:cNvSpPr>
          <p:nvPr/>
        </p:nvSpPr>
        <p:spPr bwMode="auto">
          <a:xfrm flipV="1">
            <a:off x="45720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0">
            <a:extLst>
              <a:ext uri="{FF2B5EF4-FFF2-40B4-BE49-F238E27FC236}">
                <a16:creationId xmlns="" xmlns:a16="http://schemas.microsoft.com/office/drawing/2014/main" id="{C568DE44-FDC7-4117-BC78-33B05FC0D42C}"/>
              </a:ext>
            </a:extLst>
          </p:cNvPr>
          <p:cNvSpPr>
            <a:spLocks noChangeShapeType="1"/>
          </p:cNvSpPr>
          <p:nvPr/>
        </p:nvSpPr>
        <p:spPr bwMode="auto">
          <a:xfrm flipV="1">
            <a:off x="55626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12">
            <a:extLst>
              <a:ext uri="{FF2B5EF4-FFF2-40B4-BE49-F238E27FC236}">
                <a16:creationId xmlns="" xmlns:a16="http://schemas.microsoft.com/office/drawing/2014/main" id="{05D481C5-FA8B-4651-B1A1-28606C068A3D}"/>
              </a:ext>
            </a:extLst>
          </p:cNvPr>
          <p:cNvSpPr>
            <a:spLocks noChangeShapeType="1"/>
          </p:cNvSpPr>
          <p:nvPr/>
        </p:nvSpPr>
        <p:spPr bwMode="auto">
          <a:xfrm flipV="1">
            <a:off x="7543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Rectangle 13">
            <a:extLst>
              <a:ext uri="{FF2B5EF4-FFF2-40B4-BE49-F238E27FC236}">
                <a16:creationId xmlns="" xmlns:a16="http://schemas.microsoft.com/office/drawing/2014/main" id="{728D2485-7F6D-4AB2-9DD0-6CC5A45A03AD}"/>
              </a:ext>
            </a:extLst>
          </p:cNvPr>
          <p:cNvSpPr>
            <a:spLocks noChangeArrowheads="1"/>
          </p:cNvSpPr>
          <p:nvPr/>
        </p:nvSpPr>
        <p:spPr bwMode="auto">
          <a:xfrm>
            <a:off x="2667000" y="2178051"/>
            <a:ext cx="838200" cy="1219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4</a:t>
            </a:r>
          </a:p>
        </p:txBody>
      </p:sp>
      <p:sp>
        <p:nvSpPr>
          <p:cNvPr id="16" name="Rectangle 14">
            <a:extLst>
              <a:ext uri="{FF2B5EF4-FFF2-40B4-BE49-F238E27FC236}">
                <a16:creationId xmlns="" xmlns:a16="http://schemas.microsoft.com/office/drawing/2014/main" id="{68DE0A54-9104-4A92-8193-B42604DC3A57}"/>
              </a:ext>
            </a:extLst>
          </p:cNvPr>
          <p:cNvSpPr>
            <a:spLocks noChangeArrowheads="1"/>
          </p:cNvSpPr>
          <p:nvPr/>
        </p:nvSpPr>
        <p:spPr bwMode="auto">
          <a:xfrm>
            <a:off x="1676400" y="312420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17" name="Rectangle 17">
            <a:extLst>
              <a:ext uri="{FF2B5EF4-FFF2-40B4-BE49-F238E27FC236}">
                <a16:creationId xmlns="" xmlns:a16="http://schemas.microsoft.com/office/drawing/2014/main" id="{EBD0A3CA-B0F4-4589-BB6C-BFB0B8C65F4A}"/>
              </a:ext>
            </a:extLst>
          </p:cNvPr>
          <p:cNvSpPr>
            <a:spLocks noChangeArrowheads="1"/>
          </p:cNvSpPr>
          <p:nvPr/>
        </p:nvSpPr>
        <p:spPr bwMode="auto">
          <a:xfrm>
            <a:off x="1676400" y="2495196"/>
            <a:ext cx="838200" cy="609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18" name="Rectangle 18">
            <a:extLst>
              <a:ext uri="{FF2B5EF4-FFF2-40B4-BE49-F238E27FC236}">
                <a16:creationId xmlns="" xmlns:a16="http://schemas.microsoft.com/office/drawing/2014/main" id="{79B957B1-C0E1-4829-BC66-F3A7DCAC386A}"/>
              </a:ext>
            </a:extLst>
          </p:cNvPr>
          <p:cNvSpPr>
            <a:spLocks noChangeArrowheads="1"/>
          </p:cNvSpPr>
          <p:nvPr/>
        </p:nvSpPr>
        <p:spPr bwMode="auto">
          <a:xfrm>
            <a:off x="1676400" y="1600200"/>
            <a:ext cx="838200" cy="914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19" name="Rectangle 19">
            <a:extLst>
              <a:ext uri="{FF2B5EF4-FFF2-40B4-BE49-F238E27FC236}">
                <a16:creationId xmlns="" xmlns:a16="http://schemas.microsoft.com/office/drawing/2014/main" id="{006362C3-EDF7-4FF3-9F06-2898B33C8F6E}"/>
              </a:ext>
            </a:extLst>
          </p:cNvPr>
          <p:cNvSpPr>
            <a:spLocks noChangeArrowheads="1"/>
          </p:cNvSpPr>
          <p:nvPr/>
        </p:nvSpPr>
        <p:spPr bwMode="auto">
          <a:xfrm>
            <a:off x="3657600" y="190500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20" name="Rectangle 20">
            <a:extLst>
              <a:ext uri="{FF2B5EF4-FFF2-40B4-BE49-F238E27FC236}">
                <a16:creationId xmlns="" xmlns:a16="http://schemas.microsoft.com/office/drawing/2014/main" id="{3D048B3E-B82B-4F0D-ADE9-680403F85846}"/>
              </a:ext>
            </a:extLst>
          </p:cNvPr>
          <p:cNvSpPr>
            <a:spLocks noChangeArrowheads="1"/>
          </p:cNvSpPr>
          <p:nvPr/>
        </p:nvSpPr>
        <p:spPr bwMode="auto">
          <a:xfrm>
            <a:off x="2667000" y="1600199"/>
            <a:ext cx="838200" cy="577851"/>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21" name="Rectangle 21">
            <a:extLst>
              <a:ext uri="{FF2B5EF4-FFF2-40B4-BE49-F238E27FC236}">
                <a16:creationId xmlns="" xmlns:a16="http://schemas.microsoft.com/office/drawing/2014/main" id="{53C618DE-1CE3-4526-8A3F-BBE6E14ECB18}"/>
              </a:ext>
            </a:extLst>
          </p:cNvPr>
          <p:cNvSpPr>
            <a:spLocks noChangeArrowheads="1"/>
          </p:cNvSpPr>
          <p:nvPr/>
        </p:nvSpPr>
        <p:spPr bwMode="auto">
          <a:xfrm>
            <a:off x="4648200" y="2509814"/>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22" name="Rectangle 25">
            <a:extLst>
              <a:ext uri="{FF2B5EF4-FFF2-40B4-BE49-F238E27FC236}">
                <a16:creationId xmlns="" xmlns:a16="http://schemas.microsoft.com/office/drawing/2014/main" id="{C6256A1B-F894-4920-9B9D-786DFEE69D73}"/>
              </a:ext>
            </a:extLst>
          </p:cNvPr>
          <p:cNvSpPr>
            <a:spLocks noChangeArrowheads="1"/>
          </p:cNvSpPr>
          <p:nvPr/>
        </p:nvSpPr>
        <p:spPr bwMode="auto">
          <a:xfrm>
            <a:off x="5638800" y="16002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23" name="Rectangle 31">
            <a:extLst>
              <a:ext uri="{FF2B5EF4-FFF2-40B4-BE49-F238E27FC236}">
                <a16:creationId xmlns="" xmlns:a16="http://schemas.microsoft.com/office/drawing/2014/main" id="{B39AA6D8-139D-4A98-866A-C24A09386B92}"/>
              </a:ext>
            </a:extLst>
          </p:cNvPr>
          <p:cNvSpPr>
            <a:spLocks noChangeArrowheads="1"/>
          </p:cNvSpPr>
          <p:nvPr/>
        </p:nvSpPr>
        <p:spPr bwMode="auto">
          <a:xfrm>
            <a:off x="4645269" y="1600198"/>
            <a:ext cx="838200" cy="893741"/>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24" name="TextBox 28">
            <a:extLst>
              <a:ext uri="{FF2B5EF4-FFF2-40B4-BE49-F238E27FC236}">
                <a16:creationId xmlns="" xmlns:a16="http://schemas.microsoft.com/office/drawing/2014/main" id="{CE663876-2B79-471D-BE73-93B4452DF1A7}"/>
              </a:ext>
            </a:extLst>
          </p:cNvPr>
          <p:cNvSpPr txBox="1">
            <a:spLocks noChangeArrowheads="1"/>
          </p:cNvSpPr>
          <p:nvPr/>
        </p:nvSpPr>
        <p:spPr bwMode="auto">
          <a:xfrm>
            <a:off x="1782763"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25" name="TextBox 29">
            <a:extLst>
              <a:ext uri="{FF2B5EF4-FFF2-40B4-BE49-F238E27FC236}">
                <a16:creationId xmlns="" xmlns:a16="http://schemas.microsoft.com/office/drawing/2014/main" id="{ECEAA5CF-3872-46DF-8779-C77992843AEB}"/>
              </a:ext>
            </a:extLst>
          </p:cNvPr>
          <p:cNvSpPr txBox="1">
            <a:spLocks noChangeArrowheads="1"/>
          </p:cNvSpPr>
          <p:nvPr/>
        </p:nvSpPr>
        <p:spPr bwMode="auto">
          <a:xfrm>
            <a:off x="271938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26" name="TextBox 30">
            <a:extLst>
              <a:ext uri="{FF2B5EF4-FFF2-40B4-BE49-F238E27FC236}">
                <a16:creationId xmlns="" xmlns:a16="http://schemas.microsoft.com/office/drawing/2014/main" id="{2D5FA81D-35A6-48E3-BFA6-799EB0E48810}"/>
              </a:ext>
            </a:extLst>
          </p:cNvPr>
          <p:cNvSpPr txBox="1">
            <a:spLocks noChangeArrowheads="1"/>
          </p:cNvSpPr>
          <p:nvPr/>
        </p:nvSpPr>
        <p:spPr bwMode="auto">
          <a:xfrm>
            <a:off x="3727450"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27" name="TextBox 31">
            <a:extLst>
              <a:ext uri="{FF2B5EF4-FFF2-40B4-BE49-F238E27FC236}">
                <a16:creationId xmlns="" xmlns:a16="http://schemas.microsoft.com/office/drawing/2014/main" id="{776A0EF7-340B-4298-88A2-10F03E2ABD9C}"/>
              </a:ext>
            </a:extLst>
          </p:cNvPr>
          <p:cNvSpPr txBox="1">
            <a:spLocks noChangeArrowheads="1"/>
          </p:cNvSpPr>
          <p:nvPr/>
        </p:nvSpPr>
        <p:spPr bwMode="auto">
          <a:xfrm>
            <a:off x="4806950" y="3492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28" name="TextBox 32">
            <a:extLst>
              <a:ext uri="{FF2B5EF4-FFF2-40B4-BE49-F238E27FC236}">
                <a16:creationId xmlns="" xmlns:a16="http://schemas.microsoft.com/office/drawing/2014/main" id="{3BCAD369-A69D-4F77-8938-53AB251DEBCA}"/>
              </a:ext>
            </a:extLst>
          </p:cNvPr>
          <p:cNvSpPr txBox="1">
            <a:spLocks noChangeArrowheads="1"/>
          </p:cNvSpPr>
          <p:nvPr/>
        </p:nvSpPr>
        <p:spPr bwMode="auto">
          <a:xfrm>
            <a:off x="5743575"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29" name="TextBox 33">
            <a:extLst>
              <a:ext uri="{FF2B5EF4-FFF2-40B4-BE49-F238E27FC236}">
                <a16:creationId xmlns="" xmlns:a16="http://schemas.microsoft.com/office/drawing/2014/main" id="{108092DC-7A35-4D95-BD6A-0DBD0AEA2222}"/>
              </a:ext>
            </a:extLst>
          </p:cNvPr>
          <p:cNvSpPr txBox="1">
            <a:spLocks noChangeArrowheads="1"/>
          </p:cNvSpPr>
          <p:nvPr/>
        </p:nvSpPr>
        <p:spPr bwMode="auto">
          <a:xfrm>
            <a:off x="675163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3782416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2438400"/>
            <a:ext cx="9144000" cy="1143000"/>
          </a:xfrm>
        </p:spPr>
        <p:txBody>
          <a:bodyPr>
            <a:noAutofit/>
          </a:bodyPr>
          <a:lstStyle/>
          <a:p>
            <a:pPr>
              <a:spcBef>
                <a:spcPct val="50000"/>
              </a:spcBef>
              <a:defRPr/>
            </a:pPr>
            <a:r>
              <a:rPr lang="en-US" sz="4000" b="1" dirty="0">
                <a:solidFill>
                  <a:schemeClr val="accent3">
                    <a:lumMod val="75000"/>
                  </a:schemeClr>
                </a:solidFill>
                <a:latin typeface="Times New Roman" pitchFamily="18" charset="0"/>
              </a:rPr>
              <a:t>WORST FIT(WF) Algorithm</a:t>
            </a:r>
          </a:p>
        </p:txBody>
      </p:sp>
    </p:spTree>
    <p:extLst>
      <p:ext uri="{BB962C8B-B14F-4D97-AF65-F5344CB8AC3E}">
        <p14:creationId xmlns:p14="http://schemas.microsoft.com/office/powerpoint/2010/main" val="3367921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WORST FIT(WF)</a:t>
            </a:r>
          </a:p>
        </p:txBody>
      </p:sp>
      <p:sp>
        <p:nvSpPr>
          <p:cNvPr id="6" name="TextBox 6">
            <a:extLst>
              <a:ext uri="{FF2B5EF4-FFF2-40B4-BE49-F238E27FC236}">
                <a16:creationId xmlns="" xmlns:a16="http://schemas.microsoft.com/office/drawing/2014/main" id="{1915589A-54FF-452B-B71F-B502F3FE7DB3}"/>
              </a:ext>
            </a:extLst>
          </p:cNvPr>
          <p:cNvSpPr txBox="1">
            <a:spLocks noChangeArrowheads="1"/>
          </p:cNvSpPr>
          <p:nvPr/>
        </p:nvSpPr>
        <p:spPr bwMode="auto">
          <a:xfrm>
            <a:off x="0" y="762000"/>
            <a:ext cx="9144000" cy="492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457200" indent="-457200" algn="just" eaLnBrk="1" hangingPunct="1">
              <a:lnSpc>
                <a:spcPct val="20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The algorithm searches for free-space in memory in which it can store the desired information. </a:t>
            </a:r>
          </a:p>
          <a:p>
            <a:pPr marL="457200" indent="-457200" algn="just" eaLnBrk="1" hangingPunct="1">
              <a:lnSpc>
                <a:spcPct val="20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The algorithm selects the largest possible free space that the information can be stored on (i.e. that is bigger than the information needing to be stored) and stores it there. </a:t>
            </a:r>
          </a:p>
          <a:p>
            <a:pPr marL="457200" indent="-457200" algn="just" eaLnBrk="1" hangingPunct="1">
              <a:lnSpc>
                <a:spcPct val="200000"/>
              </a:lnSpc>
              <a:buFont typeface="Arial" panose="020B0604020202020204" pitchFamily="34" charset="0"/>
              <a:buChar char="•"/>
            </a:pPr>
            <a:r>
              <a:rPr lang="en-US" altLang="en-US" sz="2000" b="1" dirty="0">
                <a:solidFill>
                  <a:srgbClr val="FF0000"/>
                </a:solidFill>
                <a:latin typeface="Times New Roman" panose="02020603050405020304" pitchFamily="18" charset="0"/>
                <a:cs typeface="Times New Roman" panose="02020603050405020304" pitchFamily="18" charset="0"/>
              </a:rPr>
              <a:t>It happens in case where </a:t>
            </a:r>
            <a:r>
              <a:rPr lang="en-US" altLang="en-US" sz="2000" b="1" dirty="0" smtClean="0">
                <a:solidFill>
                  <a:srgbClr val="FF0000"/>
                </a:solidFill>
                <a:latin typeface="Times New Roman" panose="02020603050405020304" pitchFamily="18" charset="0"/>
                <a:cs typeface="Times New Roman" panose="02020603050405020304" pitchFamily="18" charset="0"/>
              </a:rPr>
              <a:t>processes </a:t>
            </a:r>
            <a:r>
              <a:rPr lang="en-US" altLang="en-US" sz="2000" b="1" dirty="0">
                <a:solidFill>
                  <a:srgbClr val="FF0000"/>
                </a:solidFill>
                <a:latin typeface="Times New Roman" panose="02020603050405020304" pitchFamily="18" charset="0"/>
                <a:cs typeface="Times New Roman" panose="02020603050405020304" pitchFamily="18" charset="0"/>
              </a:rPr>
              <a:t>are expected to grow in future.</a:t>
            </a:r>
          </a:p>
          <a:p>
            <a:pPr marL="457200" indent="-457200" algn="just" eaLnBrk="1" hangingPunct="1">
              <a:lnSpc>
                <a:spcPct val="20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This is directly opposed to the best fit algorithm which searches the memory in much the same way as before.</a:t>
            </a:r>
          </a:p>
        </p:txBody>
      </p:sp>
    </p:spTree>
    <p:extLst>
      <p:ext uri="{BB962C8B-B14F-4D97-AF65-F5344CB8AC3E}">
        <p14:creationId xmlns:p14="http://schemas.microsoft.com/office/powerpoint/2010/main" val="353144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Worst </a:t>
            </a:r>
            <a:r>
              <a:rPr lang="en-US" sz="3600" b="1">
                <a:solidFill>
                  <a:schemeClr val="accent3">
                    <a:lumMod val="75000"/>
                  </a:schemeClr>
                </a:solidFill>
                <a:latin typeface="Times New Roman" pitchFamily="18" charset="0"/>
              </a:rPr>
              <a:t>FIT(WF</a:t>
            </a:r>
            <a:r>
              <a:rPr lang="en-US" sz="3600" b="1" dirty="0">
                <a:solidFill>
                  <a:schemeClr val="accent3">
                    <a:lumMod val="75000"/>
                  </a:schemeClr>
                </a:solidFill>
                <a:latin typeface="Times New Roman" pitchFamily="18" charset="0"/>
              </a:rPr>
              <a:t>)</a:t>
            </a:r>
          </a:p>
        </p:txBody>
      </p:sp>
      <p:sp>
        <p:nvSpPr>
          <p:cNvPr id="4" name="Comment 2">
            <a:extLst>
              <a:ext uri="{FF2B5EF4-FFF2-40B4-BE49-F238E27FC236}">
                <a16:creationId xmlns="" xmlns:a16="http://schemas.microsoft.com/office/drawing/2014/main" id="{6EBE43F6-0E2A-4775-82AD-A026591A5A67}"/>
              </a:ext>
            </a:extLst>
          </p:cNvPr>
          <p:cNvSpPr>
            <a:spLocks noChangeArrowheads="1"/>
          </p:cNvSpPr>
          <p:nvPr/>
        </p:nvSpPr>
        <p:spPr bwMode="auto">
          <a:xfrm>
            <a:off x="0" y="4287837"/>
            <a:ext cx="9144000" cy="584775"/>
          </a:xfrm>
          <a:prstGeom prst="rect">
            <a:avLst/>
          </a:prstGeom>
          <a:solidFill>
            <a:srgbClr val="FCFF91"/>
          </a:solidFill>
          <a:ln w="9525">
            <a:solidFill>
              <a:srgbClr val="000000"/>
            </a:solidFill>
            <a:miter lim="800000"/>
            <a:headEnd/>
            <a:tailEnd/>
          </a:ln>
          <a:effectLst>
            <a:outerShdw dist="107763" dir="2700000" algn="ctr" rotWithShape="0">
              <a:srgbClr val="808080"/>
            </a:outerShdw>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sz="3200" b="1" dirty="0">
                <a:solidFill>
                  <a:srgbClr val="000000"/>
                </a:solidFill>
                <a:latin typeface="Times New Roman" panose="02020603050405020304" pitchFamily="18" charset="0"/>
                <a:cs typeface="Times New Roman" panose="02020603050405020304" pitchFamily="18" charset="0"/>
              </a:rPr>
              <a:t>Process allocation by Worst </a:t>
            </a:r>
            <a:r>
              <a:rPr lang="en-GB" altLang="en-US" sz="3200" b="1" dirty="0" smtClean="0">
                <a:solidFill>
                  <a:srgbClr val="000000"/>
                </a:solidFill>
                <a:latin typeface="Times New Roman" panose="02020603050405020304" pitchFamily="18" charset="0"/>
                <a:cs typeface="Times New Roman" panose="02020603050405020304" pitchFamily="18" charset="0"/>
              </a:rPr>
              <a:t>Fit </a:t>
            </a:r>
            <a:r>
              <a:rPr lang="en-GB" altLang="en-US" sz="3200" b="1" dirty="0">
                <a:solidFill>
                  <a:srgbClr val="000000"/>
                </a:solidFill>
                <a:latin typeface="Times New Roman" panose="02020603050405020304" pitchFamily="18" charset="0"/>
                <a:cs typeface="Times New Roman" panose="02020603050405020304" pitchFamily="18" charset="0"/>
              </a:rPr>
              <a:t>Algorithm</a:t>
            </a:r>
            <a:endParaRPr lang="en-GB" altLang="en-US" sz="3200" dirty="0">
              <a:solidFill>
                <a:srgbClr val="000000"/>
              </a:solidFill>
              <a:latin typeface="Times New Roman" panose="02020603050405020304" pitchFamily="18" charset="0"/>
              <a:cs typeface="Times New Roman" panose="02020603050405020304" pitchFamily="18" charset="0"/>
            </a:endParaRPr>
          </a:p>
        </p:txBody>
      </p:sp>
      <p:sp>
        <p:nvSpPr>
          <p:cNvPr id="5" name="Line 4">
            <a:extLst>
              <a:ext uri="{FF2B5EF4-FFF2-40B4-BE49-F238E27FC236}">
                <a16:creationId xmlns="" xmlns:a16="http://schemas.microsoft.com/office/drawing/2014/main" id="{B5D73A92-7234-4C43-A622-BBD9295BD43C}"/>
              </a:ext>
            </a:extLst>
          </p:cNvPr>
          <p:cNvSpPr>
            <a:spLocks noChangeShapeType="1"/>
          </p:cNvSpPr>
          <p:nvPr/>
        </p:nvSpPr>
        <p:spPr bwMode="auto">
          <a:xfrm>
            <a:off x="1600200" y="34290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5">
            <a:extLst>
              <a:ext uri="{FF2B5EF4-FFF2-40B4-BE49-F238E27FC236}">
                <a16:creationId xmlns="" xmlns:a16="http://schemas.microsoft.com/office/drawing/2014/main" id="{1762B64D-8E43-4A28-AF5A-7707D519A094}"/>
              </a:ext>
            </a:extLst>
          </p:cNvPr>
          <p:cNvSpPr>
            <a:spLocks noChangeShapeType="1"/>
          </p:cNvSpPr>
          <p:nvPr/>
        </p:nvSpPr>
        <p:spPr bwMode="auto">
          <a:xfrm flipV="1">
            <a:off x="1600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Line 6">
            <a:extLst>
              <a:ext uri="{FF2B5EF4-FFF2-40B4-BE49-F238E27FC236}">
                <a16:creationId xmlns="" xmlns:a16="http://schemas.microsoft.com/office/drawing/2014/main" id="{CED896E7-3C7D-47A4-9183-2233E0335F9E}"/>
              </a:ext>
            </a:extLst>
          </p:cNvPr>
          <p:cNvSpPr>
            <a:spLocks noChangeShapeType="1"/>
          </p:cNvSpPr>
          <p:nvPr/>
        </p:nvSpPr>
        <p:spPr bwMode="auto">
          <a:xfrm flipV="1">
            <a:off x="65532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7">
            <a:extLst>
              <a:ext uri="{FF2B5EF4-FFF2-40B4-BE49-F238E27FC236}">
                <a16:creationId xmlns="" xmlns:a16="http://schemas.microsoft.com/office/drawing/2014/main" id="{4FB632A7-92FE-4C03-BC04-7C6BEF59133A}"/>
              </a:ext>
            </a:extLst>
          </p:cNvPr>
          <p:cNvSpPr>
            <a:spLocks noChangeShapeType="1"/>
          </p:cNvSpPr>
          <p:nvPr/>
        </p:nvSpPr>
        <p:spPr bwMode="auto">
          <a:xfrm flipV="1">
            <a:off x="2590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8">
            <a:extLst>
              <a:ext uri="{FF2B5EF4-FFF2-40B4-BE49-F238E27FC236}">
                <a16:creationId xmlns="" xmlns:a16="http://schemas.microsoft.com/office/drawing/2014/main" id="{80EB1FF9-FBFC-4720-B477-52FC791D6428}"/>
              </a:ext>
            </a:extLst>
          </p:cNvPr>
          <p:cNvSpPr>
            <a:spLocks noChangeShapeType="1"/>
          </p:cNvSpPr>
          <p:nvPr/>
        </p:nvSpPr>
        <p:spPr bwMode="auto">
          <a:xfrm flipV="1">
            <a:off x="35814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9">
            <a:extLst>
              <a:ext uri="{FF2B5EF4-FFF2-40B4-BE49-F238E27FC236}">
                <a16:creationId xmlns="" xmlns:a16="http://schemas.microsoft.com/office/drawing/2014/main" id="{B416DCAD-B904-401B-8A7A-9395A4FD04BB}"/>
              </a:ext>
            </a:extLst>
          </p:cNvPr>
          <p:cNvSpPr>
            <a:spLocks noChangeShapeType="1"/>
          </p:cNvSpPr>
          <p:nvPr/>
        </p:nvSpPr>
        <p:spPr bwMode="auto">
          <a:xfrm flipV="1">
            <a:off x="45720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0">
            <a:extLst>
              <a:ext uri="{FF2B5EF4-FFF2-40B4-BE49-F238E27FC236}">
                <a16:creationId xmlns="" xmlns:a16="http://schemas.microsoft.com/office/drawing/2014/main" id="{C568DE44-FDC7-4117-BC78-33B05FC0D42C}"/>
              </a:ext>
            </a:extLst>
          </p:cNvPr>
          <p:cNvSpPr>
            <a:spLocks noChangeShapeType="1"/>
          </p:cNvSpPr>
          <p:nvPr/>
        </p:nvSpPr>
        <p:spPr bwMode="auto">
          <a:xfrm flipV="1">
            <a:off x="55626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12">
            <a:extLst>
              <a:ext uri="{FF2B5EF4-FFF2-40B4-BE49-F238E27FC236}">
                <a16:creationId xmlns="" xmlns:a16="http://schemas.microsoft.com/office/drawing/2014/main" id="{05D481C5-FA8B-4651-B1A1-28606C068A3D}"/>
              </a:ext>
            </a:extLst>
          </p:cNvPr>
          <p:cNvSpPr>
            <a:spLocks noChangeShapeType="1"/>
          </p:cNvSpPr>
          <p:nvPr/>
        </p:nvSpPr>
        <p:spPr bwMode="auto">
          <a:xfrm flipV="1">
            <a:off x="75438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14">
            <a:extLst>
              <a:ext uri="{FF2B5EF4-FFF2-40B4-BE49-F238E27FC236}">
                <a16:creationId xmlns="" xmlns:a16="http://schemas.microsoft.com/office/drawing/2014/main" id="{68DE0A54-9104-4A92-8193-B42604DC3A57}"/>
              </a:ext>
            </a:extLst>
          </p:cNvPr>
          <p:cNvSpPr>
            <a:spLocks noChangeArrowheads="1"/>
          </p:cNvSpPr>
          <p:nvPr/>
        </p:nvSpPr>
        <p:spPr bwMode="auto">
          <a:xfrm>
            <a:off x="1676400" y="3124200"/>
            <a:ext cx="838200" cy="3048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1</a:t>
            </a:r>
          </a:p>
        </p:txBody>
      </p:sp>
      <p:sp>
        <p:nvSpPr>
          <p:cNvPr id="19" name="Rectangle 19">
            <a:extLst>
              <a:ext uri="{FF2B5EF4-FFF2-40B4-BE49-F238E27FC236}">
                <a16:creationId xmlns="" xmlns:a16="http://schemas.microsoft.com/office/drawing/2014/main" id="{006362C3-EDF7-4FF3-9F06-2898B33C8F6E}"/>
              </a:ext>
            </a:extLst>
          </p:cNvPr>
          <p:cNvSpPr>
            <a:spLocks noChangeArrowheads="1"/>
          </p:cNvSpPr>
          <p:nvPr/>
        </p:nvSpPr>
        <p:spPr bwMode="auto">
          <a:xfrm>
            <a:off x="3657600" y="1905000"/>
            <a:ext cx="838200" cy="1524000"/>
          </a:xfrm>
          <a:prstGeom prst="rect">
            <a:avLst/>
          </a:prstGeom>
          <a:solidFill>
            <a:srgbClr val="FF99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5</a:t>
            </a:r>
          </a:p>
        </p:txBody>
      </p:sp>
      <p:sp>
        <p:nvSpPr>
          <p:cNvPr id="20" name="Rectangle 20">
            <a:extLst>
              <a:ext uri="{FF2B5EF4-FFF2-40B4-BE49-F238E27FC236}">
                <a16:creationId xmlns="" xmlns:a16="http://schemas.microsoft.com/office/drawing/2014/main" id="{3D048B3E-B82B-4F0D-ADE9-680403F85846}"/>
              </a:ext>
            </a:extLst>
          </p:cNvPr>
          <p:cNvSpPr>
            <a:spLocks noChangeArrowheads="1"/>
          </p:cNvSpPr>
          <p:nvPr/>
        </p:nvSpPr>
        <p:spPr bwMode="auto">
          <a:xfrm>
            <a:off x="2667000" y="2835274"/>
            <a:ext cx="838200" cy="577851"/>
          </a:xfrm>
          <a:prstGeom prst="rect">
            <a:avLst/>
          </a:prstGeom>
          <a:solidFill>
            <a:srgbClr val="9933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2</a:t>
            </a:r>
          </a:p>
        </p:txBody>
      </p:sp>
      <p:sp>
        <p:nvSpPr>
          <p:cNvPr id="21" name="Rectangle 21">
            <a:extLst>
              <a:ext uri="{FF2B5EF4-FFF2-40B4-BE49-F238E27FC236}">
                <a16:creationId xmlns="" xmlns:a16="http://schemas.microsoft.com/office/drawing/2014/main" id="{53C618DE-1CE3-4526-8A3F-BBE6E14ECB18}"/>
              </a:ext>
            </a:extLst>
          </p:cNvPr>
          <p:cNvSpPr>
            <a:spLocks noChangeArrowheads="1"/>
          </p:cNvSpPr>
          <p:nvPr/>
        </p:nvSpPr>
        <p:spPr bwMode="auto">
          <a:xfrm>
            <a:off x="6629399" y="2511499"/>
            <a:ext cx="838200" cy="914400"/>
          </a:xfrm>
          <a:prstGeom prst="rect">
            <a:avLst/>
          </a:prstGeom>
          <a:solidFill>
            <a:srgbClr val="008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22" name="Rectangle 25">
            <a:extLst>
              <a:ext uri="{FF2B5EF4-FFF2-40B4-BE49-F238E27FC236}">
                <a16:creationId xmlns="" xmlns:a16="http://schemas.microsoft.com/office/drawing/2014/main" id="{C6256A1B-F894-4920-9B9D-786DFEE69D73}"/>
              </a:ext>
            </a:extLst>
          </p:cNvPr>
          <p:cNvSpPr>
            <a:spLocks noChangeArrowheads="1"/>
          </p:cNvSpPr>
          <p:nvPr/>
        </p:nvSpPr>
        <p:spPr bwMode="auto">
          <a:xfrm>
            <a:off x="5638800" y="1600200"/>
            <a:ext cx="838200" cy="1828800"/>
          </a:xfrm>
          <a:prstGeom prst="rect">
            <a:avLst/>
          </a:prstGeom>
          <a:solidFill>
            <a:srgbClr val="FF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6</a:t>
            </a:r>
          </a:p>
        </p:txBody>
      </p:sp>
      <p:sp>
        <p:nvSpPr>
          <p:cNvPr id="23" name="Rectangle 31">
            <a:extLst>
              <a:ext uri="{FF2B5EF4-FFF2-40B4-BE49-F238E27FC236}">
                <a16:creationId xmlns="" xmlns:a16="http://schemas.microsoft.com/office/drawing/2014/main" id="{B39AA6D8-139D-4A98-866A-C24A09386B92}"/>
              </a:ext>
            </a:extLst>
          </p:cNvPr>
          <p:cNvSpPr>
            <a:spLocks noChangeArrowheads="1"/>
          </p:cNvSpPr>
          <p:nvPr/>
        </p:nvSpPr>
        <p:spPr bwMode="auto">
          <a:xfrm>
            <a:off x="4648199" y="2535283"/>
            <a:ext cx="838200" cy="893741"/>
          </a:xfrm>
          <a:prstGeom prst="rect">
            <a:avLst/>
          </a:prstGeom>
          <a:solidFill>
            <a:srgbClr val="00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a:t>3</a:t>
            </a:r>
          </a:p>
        </p:txBody>
      </p:sp>
      <p:sp>
        <p:nvSpPr>
          <p:cNvPr id="24" name="TextBox 28">
            <a:extLst>
              <a:ext uri="{FF2B5EF4-FFF2-40B4-BE49-F238E27FC236}">
                <a16:creationId xmlns="" xmlns:a16="http://schemas.microsoft.com/office/drawing/2014/main" id="{CE663876-2B79-471D-BE73-93B4452DF1A7}"/>
              </a:ext>
            </a:extLst>
          </p:cNvPr>
          <p:cNvSpPr txBox="1">
            <a:spLocks noChangeArrowheads="1"/>
          </p:cNvSpPr>
          <p:nvPr/>
        </p:nvSpPr>
        <p:spPr bwMode="auto">
          <a:xfrm>
            <a:off x="1782763"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p>
        </p:txBody>
      </p:sp>
      <p:sp>
        <p:nvSpPr>
          <p:cNvPr id="25" name="TextBox 29">
            <a:extLst>
              <a:ext uri="{FF2B5EF4-FFF2-40B4-BE49-F238E27FC236}">
                <a16:creationId xmlns="" xmlns:a16="http://schemas.microsoft.com/office/drawing/2014/main" id="{ECEAA5CF-3872-46DF-8779-C77992843AEB}"/>
              </a:ext>
            </a:extLst>
          </p:cNvPr>
          <p:cNvSpPr txBox="1">
            <a:spLocks noChangeArrowheads="1"/>
          </p:cNvSpPr>
          <p:nvPr/>
        </p:nvSpPr>
        <p:spPr bwMode="auto">
          <a:xfrm>
            <a:off x="271938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p>
        </p:txBody>
      </p:sp>
      <p:sp>
        <p:nvSpPr>
          <p:cNvPr id="26" name="TextBox 30">
            <a:extLst>
              <a:ext uri="{FF2B5EF4-FFF2-40B4-BE49-F238E27FC236}">
                <a16:creationId xmlns="" xmlns:a16="http://schemas.microsoft.com/office/drawing/2014/main" id="{2D5FA81D-35A6-48E3-BFA6-799EB0E48810}"/>
              </a:ext>
            </a:extLst>
          </p:cNvPr>
          <p:cNvSpPr txBox="1">
            <a:spLocks noChangeArrowheads="1"/>
          </p:cNvSpPr>
          <p:nvPr/>
        </p:nvSpPr>
        <p:spPr bwMode="auto">
          <a:xfrm>
            <a:off x="3727450"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p>
        </p:txBody>
      </p:sp>
      <p:sp>
        <p:nvSpPr>
          <p:cNvPr id="27" name="TextBox 31">
            <a:extLst>
              <a:ext uri="{FF2B5EF4-FFF2-40B4-BE49-F238E27FC236}">
                <a16:creationId xmlns="" xmlns:a16="http://schemas.microsoft.com/office/drawing/2014/main" id="{776A0EF7-340B-4298-88A2-10F03E2ABD9C}"/>
              </a:ext>
            </a:extLst>
          </p:cNvPr>
          <p:cNvSpPr txBox="1">
            <a:spLocks noChangeArrowheads="1"/>
          </p:cNvSpPr>
          <p:nvPr/>
        </p:nvSpPr>
        <p:spPr bwMode="auto">
          <a:xfrm>
            <a:off x="4806950" y="3492500"/>
            <a:ext cx="433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p>
        </p:txBody>
      </p:sp>
      <p:sp>
        <p:nvSpPr>
          <p:cNvPr id="28" name="TextBox 32">
            <a:extLst>
              <a:ext uri="{FF2B5EF4-FFF2-40B4-BE49-F238E27FC236}">
                <a16:creationId xmlns="" xmlns:a16="http://schemas.microsoft.com/office/drawing/2014/main" id="{3BCAD369-A69D-4F77-8938-53AB251DEBCA}"/>
              </a:ext>
            </a:extLst>
          </p:cNvPr>
          <p:cNvSpPr txBox="1">
            <a:spLocks noChangeArrowheads="1"/>
          </p:cNvSpPr>
          <p:nvPr/>
        </p:nvSpPr>
        <p:spPr bwMode="auto">
          <a:xfrm>
            <a:off x="5743575"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p>
        </p:txBody>
      </p:sp>
      <p:sp>
        <p:nvSpPr>
          <p:cNvPr id="29" name="TextBox 33">
            <a:extLst>
              <a:ext uri="{FF2B5EF4-FFF2-40B4-BE49-F238E27FC236}">
                <a16:creationId xmlns="" xmlns:a16="http://schemas.microsoft.com/office/drawing/2014/main" id="{108092DC-7A35-4D95-BD6A-0DBD0AEA2222}"/>
              </a:ext>
            </a:extLst>
          </p:cNvPr>
          <p:cNvSpPr txBox="1">
            <a:spLocks noChangeArrowheads="1"/>
          </p:cNvSpPr>
          <p:nvPr/>
        </p:nvSpPr>
        <p:spPr bwMode="auto">
          <a:xfrm>
            <a:off x="6751638" y="3492500"/>
            <a:ext cx="43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p>
        </p:txBody>
      </p:sp>
    </p:spTree>
    <p:extLst>
      <p:ext uri="{BB962C8B-B14F-4D97-AF65-F5344CB8AC3E}">
        <p14:creationId xmlns:p14="http://schemas.microsoft.com/office/powerpoint/2010/main" val="2063167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Muhammad Adnan Malik\Desktop\empty-fuel-gage.gif"/>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2790437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6353</TotalTime>
  <Words>1562</Words>
  <Application>Microsoft Office PowerPoint</Application>
  <PresentationFormat>On-screen Show (4:3)</PresentationFormat>
  <Paragraphs>395</Paragraphs>
  <Slides>55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新細明體</vt:lpstr>
      <vt:lpstr>Times New Roman</vt:lpstr>
      <vt:lpstr>Wingdings</vt:lpstr>
      <vt:lpstr>Office Theme</vt:lpstr>
      <vt:lpstr>PowerPoint Presentation</vt:lpstr>
      <vt:lpstr>Operating System Concepts</vt:lpstr>
      <vt:lpstr>CONCEPTS RELATED TO MEMORY MANAGEMENT  </vt:lpstr>
      <vt:lpstr>CONCEPTS RELATED TO MEMORY MANAGEMENT</vt:lpstr>
      <vt:lpstr>Memory management in Operating System</vt:lpstr>
      <vt:lpstr>Memory management in Operating System</vt:lpstr>
      <vt:lpstr>Jobs of Memory Manager</vt:lpstr>
      <vt:lpstr>Jobs of Memory Manager</vt:lpstr>
      <vt:lpstr>Jobs of Memory Manager</vt:lpstr>
      <vt:lpstr>Where is memory management needed</vt:lpstr>
      <vt:lpstr>Where is memory management needed</vt:lpstr>
      <vt:lpstr>Where is memory management information located?</vt:lpstr>
      <vt:lpstr>MEMORY MANAGEMENT INFORMATION FOR PROCESSES</vt:lpstr>
      <vt:lpstr>MEMORY MANAGEMENT INFORMATION FOR PROCESSES</vt:lpstr>
      <vt:lpstr>MEMORY MANAGEMENT INFORMATION FOR PROCESSES</vt:lpstr>
      <vt:lpstr>MEMORY MANAGEMENT INFORMATION FOR DISK MANAGMENT</vt:lpstr>
      <vt:lpstr>WHOLE STORAGE/DISK  INFORMATION</vt:lpstr>
      <vt:lpstr>DRIVE INFORMATION</vt:lpstr>
      <vt:lpstr>Memory Management Techniques for processes and Disks</vt:lpstr>
      <vt:lpstr>Memory Management Techniques for processes and Disks</vt:lpstr>
      <vt:lpstr>Memory Management Techniques for Processes</vt:lpstr>
      <vt:lpstr>Memory Management Techniques for Processes</vt:lpstr>
      <vt:lpstr>DATA COMPACTION METHOD DURING SWAPPING</vt:lpstr>
      <vt:lpstr>DATA COMPACTION: RECALL</vt:lpstr>
      <vt:lpstr>DATA COMPACTION</vt:lpstr>
      <vt:lpstr>DATA COMPACTION</vt:lpstr>
      <vt:lpstr>DATA COMPACTION</vt:lpstr>
      <vt:lpstr>Process Memory Allocation Algorithms</vt:lpstr>
      <vt:lpstr>Process Memory Allocation Algorithms</vt:lpstr>
      <vt:lpstr>Process Memory Allocation Algorithms</vt:lpstr>
      <vt:lpstr>Process Memory Allocation Algorithms</vt:lpstr>
      <vt:lpstr>First Fit(FF) Algorithm</vt:lpstr>
      <vt:lpstr>FIRST FIT(FF)</vt:lpstr>
      <vt:lpstr>FIRST FIT(FF)</vt:lpstr>
      <vt:lpstr>FIRST FIT(FF):EXAMPLE</vt:lpstr>
      <vt:lpstr>FIRST FIT(FF):EXAMPLE</vt:lpstr>
      <vt:lpstr>FIRST FIT(FF):EXAMPLE</vt:lpstr>
      <vt:lpstr>FIRST FIT(FF):EXAMPLE</vt:lpstr>
      <vt:lpstr>FIRST FIT(FF):EXAMPLE</vt:lpstr>
      <vt:lpstr>FIRST FIT(FF):EXAMPLE</vt:lpstr>
      <vt:lpstr>FIRST FIT(FF):EXAMPLE</vt:lpstr>
      <vt:lpstr>FIRST FIT(FF):EXAMPLE</vt:lpstr>
      <vt:lpstr>FIRST FIT(FF):EXAMPLE</vt:lpstr>
      <vt:lpstr>FIRST FIT(FF):EXAMPLE</vt:lpstr>
      <vt:lpstr>FIRST FIT(FF):EXAMPLE</vt:lpstr>
      <vt:lpstr>Next Fit(NF) Algorithm</vt:lpstr>
      <vt:lpstr>NEXT FIT(NF)</vt:lpstr>
      <vt:lpstr>BEST FIT(BF) Algorithm</vt:lpstr>
      <vt:lpstr>BEST FIT(BF)</vt:lpstr>
      <vt:lpstr>BEST FIT(BF)</vt:lpstr>
      <vt:lpstr>BEST FIT(BF)</vt:lpstr>
      <vt:lpstr>WORST FIT(WF) Algorithm</vt:lpstr>
      <vt:lpstr>WORST FIT(WF)</vt:lpstr>
      <vt:lpstr>Worst FIT(WF)</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ADDNAN</dc:creator>
  <cp:lastModifiedBy>Windows User</cp:lastModifiedBy>
  <cp:revision>230</cp:revision>
  <dcterms:created xsi:type="dcterms:W3CDTF">2006-08-16T00:00:00Z</dcterms:created>
  <dcterms:modified xsi:type="dcterms:W3CDTF">2019-08-09T06:11:28Z</dcterms:modified>
</cp:coreProperties>
</file>