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452" r:id="rId3"/>
    <p:sldId id="453" r:id="rId4"/>
    <p:sldId id="454" r:id="rId5"/>
    <p:sldId id="455" r:id="rId6"/>
    <p:sldId id="456" r:id="rId7"/>
    <p:sldId id="457" r:id="rId8"/>
    <p:sldId id="458" r:id="rId9"/>
    <p:sldId id="459" r:id="rId10"/>
    <p:sldId id="465" r:id="rId11"/>
    <p:sldId id="466" r:id="rId12"/>
    <p:sldId id="467" r:id="rId13"/>
    <p:sldId id="461" r:id="rId14"/>
    <p:sldId id="460" r:id="rId15"/>
    <p:sldId id="468" r:id="rId16"/>
    <p:sldId id="469" r:id="rId17"/>
    <p:sldId id="471" r:id="rId18"/>
    <p:sldId id="476" r:id="rId19"/>
    <p:sldId id="477" r:id="rId20"/>
    <p:sldId id="478" r:id="rId21"/>
    <p:sldId id="479" r:id="rId22"/>
    <p:sldId id="480" r:id="rId23"/>
    <p:sldId id="481" r:id="rId24"/>
    <p:sldId id="482" r:id="rId25"/>
    <p:sldId id="484" r:id="rId26"/>
    <p:sldId id="483" r:id="rId27"/>
    <p:sldId id="485" r:id="rId28"/>
    <p:sldId id="486" r:id="rId29"/>
    <p:sldId id="48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18" autoAdjust="0"/>
    <p:restoredTop sz="94660"/>
  </p:normalViewPr>
  <p:slideViewPr>
    <p:cSldViewPr>
      <p:cViewPr varScale="1">
        <p:scale>
          <a:sx n="70" d="100"/>
          <a:sy n="70" d="100"/>
        </p:scale>
        <p:origin x="103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5BB1CA-D4D1-4052-BB55-2B7D3E8029F1}" type="datetimeFigureOut">
              <a:rPr lang="en-US" smtClean="0"/>
              <a:pPr/>
              <a:t>7/14/2019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5A5784-93A2-494A-AA95-91D34290EABC}" type="slidenum">
              <a:rPr lang="en-US" smtClean="0"/>
              <a:pPr/>
              <a:t>‹#›</a:t>
            </a:fld>
            <a:endParaRPr lang="en-US"/>
          </a:p>
        </p:txBody>
      </p:sp>
    </p:spTree>
    <p:extLst>
      <p:ext uri="{BB962C8B-B14F-4D97-AF65-F5344CB8AC3E}">
        <p14:creationId xmlns:p14="http://schemas.microsoft.com/office/powerpoint/2010/main" val="9580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838200"/>
          </a:xfrm>
        </p:spPr>
        <p:txBody>
          <a:bodyPr/>
          <a:lstStyle/>
          <a:p>
            <a:r>
              <a:rPr lang="en-US"/>
              <a:t>Click to edit Master title style</a:t>
            </a:r>
          </a:p>
        </p:txBody>
      </p:sp>
      <p:sp>
        <p:nvSpPr>
          <p:cNvPr id="3" name="Text Placeholder 2"/>
          <p:cNvSpPr>
            <a:spLocks noGrp="1"/>
          </p:cNvSpPr>
          <p:nvPr>
            <p:ph type="body" sz="half" idx="1"/>
          </p:nvPr>
        </p:nvSpPr>
        <p:spPr>
          <a:xfrm>
            <a:off x="457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72D039A8-6B2D-46B2-9F06-B3F4BB0F3307}" type="slidenum">
              <a:rPr lang="en-US"/>
              <a:pPr/>
              <a:t>‹#›</a:t>
            </a:fld>
            <a:endParaRPr lang="en-US"/>
          </a:p>
        </p:txBody>
      </p:sp>
    </p:spTree>
    <p:extLst>
      <p:ext uri="{BB962C8B-B14F-4D97-AF65-F5344CB8AC3E}">
        <p14:creationId xmlns:p14="http://schemas.microsoft.com/office/powerpoint/2010/main" val="785877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863" y="42863"/>
            <a:ext cx="9066212" cy="6773862"/>
          </a:xfrm>
          <a:prstGeom prst="rect">
            <a:avLst/>
          </a:prstGeom>
          <a:solidFill>
            <a:srgbClr val="CC9900"/>
          </a:solidFill>
          <a:ln w="76200">
            <a:solidFill>
              <a:srgbClr val="006600"/>
            </a:solidFill>
            <a:miter lim="800000"/>
            <a:headEnd/>
            <a:tailEnd/>
          </a:ln>
        </p:spPr>
        <p:txBody>
          <a:bodyPr wrap="none" anchor="ctr"/>
          <a:lstStyle/>
          <a:p>
            <a:pPr algn="ctr"/>
            <a:endParaRPr lang="en-US" sz="2400"/>
          </a:p>
        </p:txBody>
      </p:sp>
      <p:pic>
        <p:nvPicPr>
          <p:cNvPr id="3075" name="Picture 3" descr="C:\My Pictures\surveyart.bmp"/>
          <p:cNvPicPr>
            <a:picLocks noChangeAspect="1" noChangeArrowheads="1"/>
          </p:cNvPicPr>
          <p:nvPr/>
        </p:nvPicPr>
        <p:blipFill>
          <a:blip r:embed="rId2"/>
          <a:srcRect/>
          <a:stretch>
            <a:fillRect/>
          </a:stretch>
        </p:blipFill>
        <p:spPr bwMode="auto">
          <a:xfrm>
            <a:off x="381000" y="304800"/>
            <a:ext cx="8382000" cy="6286500"/>
          </a:xfrm>
          <a:prstGeom prst="rect">
            <a:avLst/>
          </a:prstGeom>
          <a:noFill/>
          <a:ln w="9525">
            <a:noFill/>
            <a:miter lim="800000"/>
            <a:headEnd/>
            <a:tailEnd/>
          </a:ln>
        </p:spPr>
      </p:pic>
      <p:sp>
        <p:nvSpPr>
          <p:cNvPr id="24580" name="Text Box 4"/>
          <p:cNvSpPr txBox="1">
            <a:spLocks noChangeArrowheads="1"/>
          </p:cNvSpPr>
          <p:nvPr/>
        </p:nvSpPr>
        <p:spPr bwMode="auto">
          <a:xfrm>
            <a:off x="42863" y="920679"/>
            <a:ext cx="9058274" cy="1200329"/>
          </a:xfrm>
          <a:prstGeom prst="rect">
            <a:avLst/>
          </a:prstGeom>
          <a:noFill/>
          <a:ln w="9525">
            <a:noFill/>
            <a:miter lim="800000"/>
            <a:headEnd/>
            <a:tailEnd/>
          </a:ln>
          <a:effectLst>
            <a:outerShdw dist="63500" dir="2212194" algn="ctr" rotWithShape="0">
              <a:srgbClr val="663300"/>
            </a:outerShdw>
          </a:effectLst>
        </p:spPr>
        <p:txBody>
          <a:bodyPr wrap="square">
            <a:spAutoFit/>
          </a:bodyPr>
          <a:lstStyle/>
          <a:p>
            <a:pPr algn="ctr">
              <a:defRPr/>
            </a:pPr>
            <a:r>
              <a:rPr lang="en-US" sz="7200" b="1" dirty="0">
                <a:solidFill>
                  <a:schemeClr val="bg1"/>
                </a:solidFill>
              </a:rPr>
              <a:t>Operating Systems</a:t>
            </a:r>
          </a:p>
        </p:txBody>
      </p:sp>
      <p:sp>
        <p:nvSpPr>
          <p:cNvPr id="24582" name="AutoShape 6"/>
          <p:cNvSpPr>
            <a:spLocks noChangeArrowheads="1"/>
          </p:cNvSpPr>
          <p:nvPr/>
        </p:nvSpPr>
        <p:spPr bwMode="auto">
          <a:xfrm>
            <a:off x="1409700" y="2098699"/>
            <a:ext cx="6324600" cy="3456682"/>
          </a:xfrm>
          <a:prstGeom prst="flowChartDecision">
            <a:avLst/>
          </a:prstGeom>
          <a:solidFill>
            <a:schemeClr val="bg1"/>
          </a:solidFill>
          <a:ln w="76200">
            <a:solidFill>
              <a:srgbClr val="CC9900"/>
            </a:solidFill>
            <a:miter lim="800000"/>
            <a:headEnd/>
            <a:tailEnd/>
          </a:ln>
          <a:effectLst>
            <a:prstShdw prst="shdw17" dist="17961" dir="13500000">
              <a:schemeClr val="tx1"/>
            </a:prstShdw>
          </a:effectLst>
        </p:spPr>
        <p:txBody>
          <a:bodyPr wrap="none" anchor="ctr"/>
          <a:lstStyle/>
          <a:p>
            <a:pPr algn="ctr">
              <a:defRPr/>
            </a:pPr>
            <a:r>
              <a:rPr lang="en-US" sz="2400" b="1" i="1" dirty="0">
                <a:solidFill>
                  <a:srgbClr val="7030A0"/>
                </a:solidFill>
              </a:rPr>
              <a:t>Lecture#6</a:t>
            </a:r>
          </a:p>
          <a:p>
            <a:pPr algn="ctr">
              <a:defRPr/>
            </a:pPr>
            <a:r>
              <a:rPr lang="en-US" sz="2400" b="1" dirty="0">
                <a:solidFill>
                  <a:srgbClr val="7030A0"/>
                </a:solidFill>
              </a:rPr>
              <a:t>Banker’s Algorithm,</a:t>
            </a:r>
          </a:p>
          <a:p>
            <a:pPr algn="ctr">
              <a:defRPr/>
            </a:pPr>
            <a:r>
              <a:rPr lang="en-US" sz="2400" b="1" dirty="0">
                <a:solidFill>
                  <a:srgbClr val="7030A0"/>
                </a:solidFill>
              </a:rPr>
              <a:t>Memory Management in O.S</a:t>
            </a:r>
          </a:p>
          <a:p>
            <a:pPr algn="ctr">
              <a:defRPr/>
            </a:pPr>
            <a:endParaRPr lang="en-US" sz="2400" b="1" dirty="0">
              <a:solidFill>
                <a:srgbClr val="7030A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Safe and Unsafe State in Deadlock</a:t>
            </a:r>
          </a:p>
        </p:txBody>
      </p:sp>
    </p:spTree>
    <p:extLst>
      <p:ext uri="{BB962C8B-B14F-4D97-AF65-F5344CB8AC3E}">
        <p14:creationId xmlns:p14="http://schemas.microsoft.com/office/powerpoint/2010/main" val="36750981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Safe Condition: </a:t>
            </a:r>
            <a:r>
              <a:rPr lang="en-US" dirty="0">
                <a:latin typeface="Times New Roman" panose="02020603050405020304" pitchFamily="18" charset="0"/>
                <a:cs typeface="Times New Roman" panose="02020603050405020304" pitchFamily="18" charset="0"/>
              </a:rPr>
              <a:t>A state of a process </a:t>
            </a:r>
            <a:r>
              <a:rPr lang="en-US" b="1" dirty="0">
                <a:latin typeface="Times New Roman" panose="02020603050405020304" pitchFamily="18" charset="0"/>
                <a:cs typeface="Times New Roman" panose="02020603050405020304" pitchFamily="18" charset="0"/>
              </a:rPr>
              <a:t>or</a:t>
            </a:r>
            <a:r>
              <a:rPr lang="en-US" dirty="0">
                <a:latin typeface="Times New Roman" panose="02020603050405020304" pitchFamily="18" charset="0"/>
                <a:cs typeface="Times New Roman" panose="02020603050405020304" pitchFamily="18" charset="0"/>
              </a:rPr>
              <a:t> system of process is said to be </a:t>
            </a:r>
            <a:r>
              <a:rPr lang="en-US" b="1" dirty="0">
                <a:solidFill>
                  <a:srgbClr val="FF0000"/>
                </a:solidFill>
                <a:latin typeface="Times New Roman" panose="02020603050405020304" pitchFamily="18" charset="0"/>
                <a:cs typeface="Times New Roman" panose="02020603050405020304" pitchFamily="18" charset="0"/>
              </a:rPr>
              <a:t>safe</a:t>
            </a:r>
            <a:r>
              <a:rPr lang="en-US" dirty="0">
                <a:latin typeface="Times New Roman" panose="02020603050405020304" pitchFamily="18" charset="0"/>
                <a:cs typeface="Times New Roman" panose="02020603050405020304" pitchFamily="18" charset="0"/>
              </a:rPr>
              <a:t> if it is not deadlocked and there is some scheduling order in which every process can run to completion.</a:t>
            </a:r>
          </a:p>
          <a:p>
            <a:pPr algn="just">
              <a:lnSpc>
                <a:spcPct val="150000"/>
              </a:lnSpc>
              <a:defRPr/>
            </a:pPr>
            <a:r>
              <a:rPr lang="en-US" dirty="0">
                <a:latin typeface="Times New Roman" panose="02020603050405020304" pitchFamily="18" charset="0"/>
                <a:cs typeface="Times New Roman" panose="02020603050405020304" pitchFamily="18" charset="0"/>
              </a:rPr>
              <a:t>Safe state is that in which system can guarantee that all processes will finish.</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Safe and Unsafe State in Deadlock</a:t>
            </a:r>
          </a:p>
        </p:txBody>
      </p:sp>
    </p:spTree>
    <p:extLst>
      <p:ext uri="{BB962C8B-B14F-4D97-AF65-F5344CB8AC3E}">
        <p14:creationId xmlns:p14="http://schemas.microsoft.com/office/powerpoint/2010/main" val="329915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Unsafe Condition</a:t>
            </a:r>
            <a:r>
              <a:rPr lang="en-US" dirty="0">
                <a:latin typeface="Times New Roman" panose="02020603050405020304" pitchFamily="18" charset="0"/>
                <a:cs typeface="Times New Roman" panose="02020603050405020304" pitchFamily="18" charset="0"/>
              </a:rPr>
              <a:t> A state of a process </a:t>
            </a:r>
            <a:r>
              <a:rPr lang="en-US" b="1" dirty="0">
                <a:latin typeface="Times New Roman" panose="02020603050405020304" pitchFamily="18" charset="0"/>
                <a:cs typeface="Times New Roman" panose="02020603050405020304" pitchFamily="18" charset="0"/>
              </a:rPr>
              <a:t>or </a:t>
            </a:r>
            <a:r>
              <a:rPr lang="en-US" dirty="0">
                <a:latin typeface="Times New Roman" panose="02020603050405020304" pitchFamily="18" charset="0"/>
                <a:cs typeface="Times New Roman" panose="02020603050405020304" pitchFamily="18" charset="0"/>
              </a:rPr>
              <a:t>system of processes said to be </a:t>
            </a:r>
            <a:r>
              <a:rPr lang="en-US" b="1" dirty="0">
                <a:solidFill>
                  <a:srgbClr val="FF0000"/>
                </a:solidFill>
                <a:latin typeface="Times New Roman" panose="02020603050405020304" pitchFamily="18" charset="0"/>
                <a:cs typeface="Times New Roman" panose="02020603050405020304" pitchFamily="18" charset="0"/>
              </a:rPr>
              <a:t>Un-safe</a:t>
            </a:r>
            <a:r>
              <a:rPr lang="en-US" dirty="0">
                <a:latin typeface="Times New Roman" panose="02020603050405020304" pitchFamily="18" charset="0"/>
                <a:cs typeface="Times New Roman" panose="02020603050405020304" pitchFamily="18" charset="0"/>
              </a:rPr>
              <a:t> if it is deadlocked and there is some scheduling order in which every process cannot run to completion. </a:t>
            </a:r>
          </a:p>
          <a:p>
            <a:pPr algn="just">
              <a:lnSpc>
                <a:spcPct val="150000"/>
              </a:lnSpc>
              <a:defRPr/>
            </a:pPr>
            <a:r>
              <a:rPr lang="en-US" dirty="0">
                <a:latin typeface="Times New Roman" panose="02020603050405020304" pitchFamily="18" charset="0"/>
                <a:cs typeface="Times New Roman" panose="02020603050405020304" pitchFamily="18" charset="0"/>
              </a:rPr>
              <a:t>Un-safe state is that in which system cannot guarantee that all processes will finish.</a:t>
            </a:r>
          </a:p>
          <a:p>
            <a:pPr marL="514350" indent="-514350" algn="just">
              <a:lnSpc>
                <a:spcPct val="150000"/>
              </a:lnSpc>
              <a:buFont typeface="+mj-lt"/>
              <a:buAutoNum type="arabicPeriod"/>
              <a:defRPr/>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Safe and Unsafe State in Deadlock</a:t>
            </a:r>
          </a:p>
        </p:txBody>
      </p:sp>
    </p:spTree>
    <p:extLst>
      <p:ext uri="{BB962C8B-B14F-4D97-AF65-F5344CB8AC3E}">
        <p14:creationId xmlns:p14="http://schemas.microsoft.com/office/powerpoint/2010/main" val="56022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Deadlock Avoidance Algorithm:</a:t>
            </a:r>
          </a:p>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Banker’s Algorithm</a:t>
            </a:r>
          </a:p>
        </p:txBody>
      </p:sp>
    </p:spTree>
    <p:extLst>
      <p:ext uri="{BB962C8B-B14F-4D97-AF65-F5344CB8AC3E}">
        <p14:creationId xmlns:p14="http://schemas.microsoft.com/office/powerpoint/2010/main" val="13930527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514350" indent="-514350" algn="just">
              <a:lnSpc>
                <a:spcPct val="200000"/>
              </a:lnSpc>
              <a:buFont typeface="+mj-lt"/>
              <a:buAutoNum type="arabicPeriod"/>
              <a:defRPr/>
            </a:pPr>
            <a:r>
              <a:rPr lang="en-US" sz="2800" dirty="0">
                <a:latin typeface="Times New Roman" panose="02020603050405020304" pitchFamily="18" charset="0"/>
                <a:cs typeface="Times New Roman" panose="02020603050405020304" pitchFamily="18" charset="0"/>
              </a:rPr>
              <a:t>The </a:t>
            </a:r>
            <a:r>
              <a:rPr lang="en-US" sz="2800" b="1" dirty="0">
                <a:solidFill>
                  <a:srgbClr val="FF0000"/>
                </a:solidFill>
                <a:latin typeface="Times New Roman" panose="02020603050405020304" pitchFamily="18" charset="0"/>
                <a:cs typeface="Times New Roman" panose="02020603050405020304" pitchFamily="18" charset="0"/>
              </a:rPr>
              <a:t>Banker's algorithm</a:t>
            </a:r>
            <a:r>
              <a:rPr lang="en-US" sz="2800" dirty="0">
                <a:latin typeface="Times New Roman" panose="02020603050405020304" pitchFamily="18" charset="0"/>
                <a:cs typeface="Times New Roman" panose="02020603050405020304" pitchFamily="18" charset="0"/>
              </a:rPr>
              <a:t>, sometimes referred to as the detection algorithm, is a resource allocation and deadlock avoidance that tests for safety of a process and then declares system as </a:t>
            </a:r>
            <a:r>
              <a:rPr lang="en-US" sz="2800" b="1" dirty="0">
                <a:solidFill>
                  <a:srgbClr val="FF0000"/>
                </a:solidFill>
                <a:latin typeface="Times New Roman" panose="02020603050405020304" pitchFamily="18" charset="0"/>
                <a:cs typeface="Times New Roman" panose="02020603050405020304" pitchFamily="18" charset="0"/>
              </a:rPr>
              <a:t>safe </a:t>
            </a:r>
            <a:r>
              <a:rPr lang="en-US" sz="2800" dirty="0">
                <a:latin typeface="Times New Roman" panose="02020603050405020304" pitchFamily="18" charset="0"/>
                <a:cs typeface="Times New Roman" panose="02020603050405020304" pitchFamily="18" charset="0"/>
              </a:rPr>
              <a:t>or </a:t>
            </a:r>
            <a:r>
              <a:rPr lang="en-US" sz="2800" b="1" dirty="0">
                <a:solidFill>
                  <a:srgbClr val="FF0000"/>
                </a:solidFill>
                <a:latin typeface="Times New Roman" panose="02020603050405020304" pitchFamily="18" charset="0"/>
                <a:cs typeface="Times New Roman" panose="02020603050405020304" pitchFamily="18" charset="0"/>
              </a:rPr>
              <a:t>un-safe</a:t>
            </a:r>
            <a:r>
              <a:rPr lang="en-US" sz="2800" dirty="0">
                <a:latin typeface="Times New Roman" panose="02020603050405020304" pitchFamily="18" charset="0"/>
                <a:cs typeface="Times New Roman" panose="02020603050405020304" pitchFamily="18" charset="0"/>
              </a:rPr>
              <a:t>.</a:t>
            </a:r>
          </a:p>
          <a:p>
            <a:pPr marL="514350" indent="-514350" algn="just">
              <a:lnSpc>
                <a:spcPct val="200000"/>
              </a:lnSpc>
              <a:buFont typeface="+mj-lt"/>
              <a:buAutoNum type="arabicPeriod"/>
              <a:defRPr/>
            </a:pPr>
            <a:r>
              <a:rPr lang="en-US" sz="2800" b="1" dirty="0">
                <a:solidFill>
                  <a:srgbClr val="FF0000"/>
                </a:solidFill>
                <a:latin typeface="Times New Roman" panose="02020603050405020304" pitchFamily="18" charset="0"/>
                <a:cs typeface="Times New Roman" panose="02020603050405020304" pitchFamily="18" charset="0"/>
              </a:rPr>
              <a:t>This algorithm is used where multiple instances of a same resource type is used.</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Banker’s Algorithm</a:t>
            </a:r>
          </a:p>
        </p:txBody>
      </p:sp>
    </p:spTree>
    <p:extLst>
      <p:ext uri="{BB962C8B-B14F-4D97-AF65-F5344CB8AC3E}">
        <p14:creationId xmlns:p14="http://schemas.microsoft.com/office/powerpoint/2010/main" val="186816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Multiple instances of same resource:</a:t>
            </a:r>
          </a:p>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For example multiple printers connected to same computer is the multiple instances of same resource(i.e. printer.)</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Banker’s Algorithm</a:t>
            </a:r>
          </a:p>
        </p:txBody>
      </p:sp>
    </p:spTree>
    <p:extLst>
      <p:ext uri="{BB962C8B-B14F-4D97-AF65-F5344CB8AC3E}">
        <p14:creationId xmlns:p14="http://schemas.microsoft.com/office/powerpoint/2010/main" val="364432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Consider following example:</a:t>
            </a:r>
          </a:p>
          <a:p>
            <a:pPr>
              <a:lnSpc>
                <a:spcPct val="200000"/>
              </a:lnSpc>
            </a:pPr>
            <a:r>
              <a:rPr lang="en-US" altLang="en-US" sz="2400" b="1" dirty="0">
                <a:latin typeface="Times New Roman" panose="02020603050405020304" pitchFamily="18" charset="0"/>
                <a:cs typeface="Times New Roman" panose="02020603050405020304" pitchFamily="18" charset="0"/>
              </a:rPr>
              <a:t>There are 5 processes </a:t>
            </a:r>
            <a:r>
              <a:rPr lang="en-US" altLang="en-US" sz="2400" b="1" i="1" dirty="0">
                <a:latin typeface="Times New Roman" panose="02020603050405020304" pitchFamily="18" charset="0"/>
                <a:cs typeface="Times New Roman" panose="02020603050405020304" pitchFamily="18" charset="0"/>
              </a:rPr>
              <a:t>P</a:t>
            </a:r>
            <a:r>
              <a:rPr lang="en-US" altLang="en-US" sz="2400" b="1" baseline="-25000" dirty="0">
                <a:latin typeface="Times New Roman" panose="02020603050405020304" pitchFamily="18" charset="0"/>
                <a:cs typeface="Times New Roman" panose="02020603050405020304" pitchFamily="18" charset="0"/>
              </a:rPr>
              <a:t>0 </a:t>
            </a:r>
            <a:r>
              <a:rPr lang="en-US" altLang="en-US" sz="2400" b="1" dirty="0">
                <a:latin typeface="Times New Roman" panose="02020603050405020304" pitchFamily="18" charset="0"/>
                <a:cs typeface="Times New Roman" panose="02020603050405020304" pitchFamily="18" charset="0"/>
              </a:rPr>
              <a:t>through </a:t>
            </a:r>
            <a:r>
              <a:rPr lang="en-US" altLang="en-US" sz="2400" b="1" i="1" dirty="0">
                <a:latin typeface="Times New Roman" panose="02020603050405020304" pitchFamily="18" charset="0"/>
                <a:cs typeface="Times New Roman" panose="02020603050405020304" pitchFamily="18" charset="0"/>
              </a:rPr>
              <a:t>P</a:t>
            </a:r>
            <a:r>
              <a:rPr lang="en-US" altLang="en-US" sz="2400" b="1" baseline="-25000" dirty="0">
                <a:latin typeface="Times New Roman" panose="02020603050405020304" pitchFamily="18" charset="0"/>
                <a:cs typeface="Times New Roman" panose="02020603050405020304" pitchFamily="18" charset="0"/>
              </a:rPr>
              <a:t>4</a:t>
            </a:r>
            <a:r>
              <a:rPr lang="en-US" altLang="en-US" sz="2400" b="1" dirty="0">
                <a:latin typeface="Times New Roman" panose="02020603050405020304" pitchFamily="18" charset="0"/>
                <a:cs typeface="Times New Roman" panose="02020603050405020304" pitchFamily="18" charset="0"/>
              </a:rPr>
              <a:t> </a:t>
            </a:r>
          </a:p>
          <a:p>
            <a:pPr>
              <a:lnSpc>
                <a:spcPct val="200000"/>
              </a:lnSpc>
            </a:pPr>
            <a:r>
              <a:rPr lang="en-US" altLang="en-US" sz="2400" b="1" dirty="0">
                <a:latin typeface="Times New Roman" panose="02020603050405020304" pitchFamily="18" charset="0"/>
                <a:cs typeface="Times New Roman" panose="02020603050405020304" pitchFamily="18" charset="0"/>
              </a:rPr>
              <a:t>There are 3 resource types: </a:t>
            </a:r>
            <a:r>
              <a:rPr lang="en-US" altLang="en-US" sz="2400" b="1" i="1" dirty="0">
                <a:latin typeface="Times New Roman" panose="02020603050405020304" pitchFamily="18" charset="0"/>
                <a:cs typeface="Times New Roman" panose="02020603050405020304" pitchFamily="18" charset="0"/>
              </a:rPr>
              <a:t>A,</a:t>
            </a:r>
            <a:r>
              <a:rPr lang="en-US" altLang="en-US" sz="2400" b="1" dirty="0">
                <a:latin typeface="Times New Roman" panose="02020603050405020304" pitchFamily="18" charset="0"/>
                <a:cs typeface="Times New Roman" panose="02020603050405020304" pitchFamily="18" charset="0"/>
              </a:rPr>
              <a:t> B, C</a:t>
            </a:r>
          </a:p>
          <a:p>
            <a:pPr>
              <a:lnSpc>
                <a:spcPct val="200000"/>
              </a:lnSpc>
            </a:pPr>
            <a:r>
              <a:rPr lang="en-US" altLang="en-US" sz="2400" b="1" dirty="0">
                <a:latin typeface="Times New Roman" panose="02020603050405020304" pitchFamily="18" charset="0"/>
                <a:cs typeface="Times New Roman" panose="02020603050405020304" pitchFamily="18" charset="0"/>
              </a:rPr>
              <a:t>Instances</a:t>
            </a:r>
            <a:r>
              <a:rPr lang="en-US" altLang="en-US" sz="2400" b="1" i="1" dirty="0">
                <a:latin typeface="Times New Roman" panose="02020603050405020304" pitchFamily="18" charset="0"/>
                <a:cs typeface="Times New Roman" panose="02020603050405020304" pitchFamily="18" charset="0"/>
              </a:rPr>
              <a:t>: A</a:t>
            </a:r>
            <a:r>
              <a:rPr lang="en-US" altLang="en-US" sz="2400" b="1" dirty="0">
                <a:latin typeface="Times New Roman" panose="02020603050405020304" pitchFamily="18" charset="0"/>
                <a:cs typeface="Times New Roman" panose="02020603050405020304" pitchFamily="18" charset="0"/>
              </a:rPr>
              <a:t> (10 units), </a:t>
            </a:r>
            <a:r>
              <a:rPr lang="en-US" altLang="en-US" sz="2400" b="1" i="1" dirty="0">
                <a:latin typeface="Times New Roman" panose="02020603050405020304" pitchFamily="18" charset="0"/>
                <a:cs typeface="Times New Roman" panose="02020603050405020304" pitchFamily="18" charset="0"/>
              </a:rPr>
              <a:t>B</a:t>
            </a:r>
            <a:r>
              <a:rPr lang="en-US" altLang="en-US" sz="2400" b="1" dirty="0">
                <a:latin typeface="Times New Roman" panose="02020603050405020304" pitchFamily="18" charset="0"/>
                <a:cs typeface="Times New Roman" panose="02020603050405020304" pitchFamily="18" charset="0"/>
              </a:rPr>
              <a:t> (5 units), and </a:t>
            </a:r>
            <a:r>
              <a:rPr lang="en-US" altLang="en-US" sz="2400" b="1" i="1" dirty="0">
                <a:latin typeface="Times New Roman" panose="02020603050405020304" pitchFamily="18" charset="0"/>
                <a:cs typeface="Times New Roman" panose="02020603050405020304" pitchFamily="18" charset="0"/>
              </a:rPr>
              <a:t>C</a:t>
            </a:r>
            <a:r>
              <a:rPr lang="en-US" altLang="en-US" sz="2400" b="1" dirty="0">
                <a:latin typeface="Times New Roman" panose="02020603050405020304" pitchFamily="18" charset="0"/>
                <a:cs typeface="Times New Roman" panose="02020603050405020304" pitchFamily="18" charset="0"/>
              </a:rPr>
              <a:t> (7 units).</a:t>
            </a:r>
          </a:p>
          <a:p>
            <a:pPr>
              <a:lnSpc>
                <a:spcPct val="200000"/>
              </a:lnSpc>
            </a:pPr>
            <a:r>
              <a:rPr lang="en-US" altLang="en-US" sz="2400" b="1" dirty="0">
                <a:latin typeface="Times New Roman" panose="02020603050405020304" pitchFamily="18" charset="0"/>
                <a:cs typeface="Times New Roman" panose="02020603050405020304" pitchFamily="18" charset="0"/>
              </a:rPr>
              <a:t>Find “Need” and determine which processes are safe and which are not. </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spTree>
    <p:extLst>
      <p:ext uri="{BB962C8B-B14F-4D97-AF65-F5344CB8AC3E}">
        <p14:creationId xmlns:p14="http://schemas.microsoft.com/office/powerpoint/2010/main" val="423868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Given following Table:</a:t>
            </a:r>
          </a:p>
          <a:p>
            <a:pPr marL="400050" lvl="1" indent="0" algn="just">
              <a:lnSpc>
                <a:spcPct val="200000"/>
              </a:lnSpc>
              <a:buNone/>
              <a:defRPr/>
            </a:pPr>
            <a:endParaRPr lang="en-US"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2979686471"/>
              </p:ext>
            </p:extLst>
          </p:nvPr>
        </p:nvGraphicFramePr>
        <p:xfrm>
          <a:off x="990600" y="2438400"/>
          <a:ext cx="7467600" cy="3581403"/>
        </p:xfrm>
        <a:graphic>
          <a:graphicData uri="http://schemas.openxmlformats.org/drawingml/2006/table">
            <a:tbl>
              <a:tblPr firstRow="1" bandRow="1">
                <a:tableStyleId>{5940675A-B579-460E-94D1-54222C63F5DA}</a:tableStyleId>
              </a:tblPr>
              <a:tblGrid>
                <a:gridCol w="1295400">
                  <a:extLst>
                    <a:ext uri="{9D8B030D-6E8A-4147-A177-3AD203B41FA5}">
                      <a16:colId xmlns="" xmlns:a16="http://schemas.microsoft.com/office/drawing/2014/main" val="2908865961"/>
                    </a:ext>
                  </a:extLst>
                </a:gridCol>
                <a:gridCol w="1691640">
                  <a:extLst>
                    <a:ext uri="{9D8B030D-6E8A-4147-A177-3AD203B41FA5}">
                      <a16:colId xmlns="" xmlns:a16="http://schemas.microsoft.com/office/drawing/2014/main" val="1617579748"/>
                    </a:ext>
                  </a:extLst>
                </a:gridCol>
                <a:gridCol w="1493520">
                  <a:extLst>
                    <a:ext uri="{9D8B030D-6E8A-4147-A177-3AD203B41FA5}">
                      <a16:colId xmlns="" xmlns:a16="http://schemas.microsoft.com/office/drawing/2014/main" val="4235394219"/>
                    </a:ext>
                  </a:extLst>
                </a:gridCol>
                <a:gridCol w="1493520">
                  <a:extLst>
                    <a:ext uri="{9D8B030D-6E8A-4147-A177-3AD203B41FA5}">
                      <a16:colId xmlns="" xmlns:a16="http://schemas.microsoft.com/office/drawing/2014/main" val="1099261521"/>
                    </a:ext>
                  </a:extLst>
                </a:gridCol>
                <a:gridCol w="1493520">
                  <a:extLst>
                    <a:ext uri="{9D8B030D-6E8A-4147-A177-3AD203B41FA5}">
                      <a16:colId xmlns=""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dirty="0">
                          <a:latin typeface="Times New Roman" panose="02020603050405020304" pitchFamily="18" charset="0"/>
                          <a:cs typeface="Times New Roman" panose="02020603050405020304" pitchFamily="18" charset="0"/>
                        </a:rPr>
                        <a:t>7    5    3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299476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150000"/>
              </a:lnSpc>
              <a:buNone/>
              <a:defRPr/>
            </a:pPr>
            <a:r>
              <a:rPr lang="en-US" b="1" dirty="0">
                <a:solidFill>
                  <a:srgbClr val="FF0000"/>
                </a:solidFill>
                <a:latin typeface="Times New Roman" panose="02020603050405020304" pitchFamily="18" charset="0"/>
                <a:cs typeface="Times New Roman" panose="02020603050405020304" pitchFamily="18" charset="0"/>
              </a:rPr>
              <a:t>Allocation</a:t>
            </a:r>
            <a:r>
              <a:rPr lang="en-US" b="1" dirty="0">
                <a:latin typeface="Times New Roman" panose="02020603050405020304" pitchFamily="18" charset="0"/>
                <a:cs typeface="Times New Roman" panose="02020603050405020304" pitchFamily="18" charset="0"/>
              </a:rPr>
              <a:t>: Currently allocated units of a resources to processes.</a:t>
            </a:r>
          </a:p>
          <a:p>
            <a:pPr marL="400050" lvl="1" indent="0" algn="just">
              <a:lnSpc>
                <a:spcPct val="200000"/>
              </a:lnSpc>
              <a:buNone/>
              <a:defRPr/>
            </a:pPr>
            <a:endParaRPr lang="en-US"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4180189164"/>
              </p:ext>
            </p:extLst>
          </p:nvPr>
        </p:nvGraphicFramePr>
        <p:xfrm>
          <a:off x="3078480" y="2590800"/>
          <a:ext cx="2987040" cy="3581403"/>
        </p:xfrm>
        <a:graphic>
          <a:graphicData uri="http://schemas.openxmlformats.org/drawingml/2006/table">
            <a:tbl>
              <a:tblPr firstRow="1" bandRow="1">
                <a:tableStyleId>{5940675A-B579-460E-94D1-54222C63F5DA}</a:tableStyleId>
              </a:tblPr>
              <a:tblGrid>
                <a:gridCol w="1295400">
                  <a:extLst>
                    <a:ext uri="{9D8B030D-6E8A-4147-A177-3AD203B41FA5}">
                      <a16:colId xmlns="" xmlns:a16="http://schemas.microsoft.com/office/drawing/2014/main" val="2908865961"/>
                    </a:ext>
                  </a:extLst>
                </a:gridCol>
                <a:gridCol w="1691640">
                  <a:extLst>
                    <a:ext uri="{9D8B030D-6E8A-4147-A177-3AD203B41FA5}">
                      <a16:colId xmlns="" xmlns:a16="http://schemas.microsoft.com/office/drawing/2014/main" val="1617579748"/>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206302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150000"/>
              </a:lnSpc>
              <a:buNone/>
              <a:defRPr/>
            </a:pPr>
            <a:r>
              <a:rPr lang="en-US" b="1" dirty="0">
                <a:solidFill>
                  <a:srgbClr val="FF0000"/>
                </a:solidFill>
                <a:latin typeface="Times New Roman" panose="02020603050405020304" pitchFamily="18" charset="0"/>
                <a:cs typeface="Times New Roman" panose="02020603050405020304" pitchFamily="18" charset="0"/>
              </a:rPr>
              <a:t>Max(Maximum)</a:t>
            </a:r>
            <a:r>
              <a:rPr lang="en-US" b="1" dirty="0">
                <a:latin typeface="Times New Roman" panose="02020603050405020304" pitchFamily="18" charset="0"/>
                <a:cs typeface="Times New Roman" panose="02020603050405020304" pitchFamily="18" charset="0"/>
              </a:rPr>
              <a:t>: Maximum number of units that can be assigned to any process.</a:t>
            </a:r>
          </a:p>
          <a:p>
            <a:pPr marL="400050" lvl="1" indent="0" algn="just">
              <a:lnSpc>
                <a:spcPct val="200000"/>
              </a:lnSpc>
              <a:buNone/>
              <a:defRPr/>
            </a:pPr>
            <a:endParaRPr lang="en-US"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755176320"/>
              </p:ext>
            </p:extLst>
          </p:nvPr>
        </p:nvGraphicFramePr>
        <p:xfrm>
          <a:off x="3177540" y="2667000"/>
          <a:ext cx="2788920" cy="3581403"/>
        </p:xfrm>
        <a:graphic>
          <a:graphicData uri="http://schemas.openxmlformats.org/drawingml/2006/table">
            <a:tbl>
              <a:tblPr firstRow="1" bandRow="1">
                <a:tableStyleId>{5940675A-B579-460E-94D1-54222C63F5DA}</a:tableStyleId>
              </a:tblPr>
              <a:tblGrid>
                <a:gridCol w="1295400">
                  <a:extLst>
                    <a:ext uri="{9D8B030D-6E8A-4147-A177-3AD203B41FA5}">
                      <a16:colId xmlns="" xmlns:a16="http://schemas.microsoft.com/office/drawing/2014/main" val="2908865961"/>
                    </a:ext>
                  </a:extLst>
                </a:gridCol>
                <a:gridCol w="1493520">
                  <a:extLst>
                    <a:ext uri="{9D8B030D-6E8A-4147-A177-3AD203B41FA5}">
                      <a16:colId xmlns="" xmlns:a16="http://schemas.microsoft.com/office/drawing/2014/main" val="4235394219"/>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7    5    3</a:t>
                      </a: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374445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solidFill>
                  <a:srgbClr val="FF0000"/>
                </a:solidFill>
                <a:latin typeface="Times New Roman" panose="02020603050405020304" pitchFamily="18" charset="0"/>
                <a:cs typeface="Times New Roman" panose="02020603050405020304" pitchFamily="18" charset="0"/>
              </a:rPr>
              <a:t>Available:</a:t>
            </a:r>
            <a:r>
              <a:rPr lang="en-US" b="1" dirty="0">
                <a:latin typeface="Times New Roman" panose="02020603050405020304" pitchFamily="18" charset="0"/>
                <a:cs typeface="Times New Roman" panose="02020603050405020304" pitchFamily="18" charset="0"/>
              </a:rPr>
              <a:t> Total available units of any resource.</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nvGraphicFramePr>
        <p:xfrm>
          <a:off x="990600" y="2438400"/>
          <a:ext cx="7467600" cy="3581403"/>
        </p:xfrm>
        <a:graphic>
          <a:graphicData uri="http://schemas.openxmlformats.org/drawingml/2006/table">
            <a:tbl>
              <a:tblPr firstRow="1" bandRow="1">
                <a:tableStyleId>{5940675A-B579-460E-94D1-54222C63F5DA}</a:tableStyleId>
              </a:tblPr>
              <a:tblGrid>
                <a:gridCol w="1295400">
                  <a:extLst>
                    <a:ext uri="{9D8B030D-6E8A-4147-A177-3AD203B41FA5}">
                      <a16:colId xmlns="" xmlns:a16="http://schemas.microsoft.com/office/drawing/2014/main" val="2908865961"/>
                    </a:ext>
                  </a:extLst>
                </a:gridCol>
                <a:gridCol w="1691640">
                  <a:extLst>
                    <a:ext uri="{9D8B030D-6E8A-4147-A177-3AD203B41FA5}">
                      <a16:colId xmlns="" xmlns:a16="http://schemas.microsoft.com/office/drawing/2014/main" val="1617579748"/>
                    </a:ext>
                  </a:extLst>
                </a:gridCol>
                <a:gridCol w="1493520">
                  <a:extLst>
                    <a:ext uri="{9D8B030D-6E8A-4147-A177-3AD203B41FA5}">
                      <a16:colId xmlns="" xmlns:a16="http://schemas.microsoft.com/office/drawing/2014/main" val="4235394219"/>
                    </a:ext>
                  </a:extLst>
                </a:gridCol>
                <a:gridCol w="1493520">
                  <a:extLst>
                    <a:ext uri="{9D8B030D-6E8A-4147-A177-3AD203B41FA5}">
                      <a16:colId xmlns="" xmlns:a16="http://schemas.microsoft.com/office/drawing/2014/main" val="1099261521"/>
                    </a:ext>
                  </a:extLst>
                </a:gridCol>
                <a:gridCol w="1493520">
                  <a:extLst>
                    <a:ext uri="{9D8B030D-6E8A-4147-A177-3AD203B41FA5}">
                      <a16:colId xmlns=""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dirty="0">
                          <a:latin typeface="Times New Roman" panose="02020603050405020304" pitchFamily="18" charset="0"/>
                          <a:cs typeface="Times New Roman" panose="02020603050405020304" pitchFamily="18" charset="0"/>
                        </a:rPr>
                        <a:t>7    </a:t>
                      </a:r>
                      <a:r>
                        <a:rPr lang="en-US" sz="2400" b="1" dirty="0" smtClean="0">
                          <a:latin typeface="Times New Roman" panose="02020603050405020304" pitchFamily="18" charset="0"/>
                          <a:cs typeface="Times New Roman" panose="02020603050405020304" pitchFamily="18" charset="0"/>
                        </a:rPr>
                        <a:t>5    </a:t>
                      </a:r>
                      <a:r>
                        <a:rPr lang="en-US" sz="2400" b="1" dirty="0">
                          <a:latin typeface="Times New Roman" panose="02020603050405020304" pitchFamily="18" charset="0"/>
                          <a:cs typeface="Times New Roman" panose="02020603050405020304" pitchFamily="18" charset="0"/>
                        </a:rPr>
                        <a:t>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19367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buNone/>
              <a:defRPr/>
            </a:pPr>
            <a:r>
              <a:rPr lang="en-US" b="1" dirty="0">
                <a:latin typeface="Times New Roman" panose="02020603050405020304" pitchFamily="18" charset="0"/>
                <a:cs typeface="Times New Roman" panose="02020603050405020304" pitchFamily="18" charset="0"/>
              </a:rPr>
              <a:t>First Find Need:</a:t>
            </a:r>
          </a:p>
          <a:p>
            <a:pPr marL="400050" lvl="1" indent="0" algn="just">
              <a:buNone/>
              <a:defRPr/>
            </a:pPr>
            <a:r>
              <a:rPr lang="en-US" b="1" dirty="0">
                <a:latin typeface="Times New Roman" panose="02020603050405020304" pitchFamily="18" charset="0"/>
                <a:cs typeface="Times New Roman" panose="02020603050405020304" pitchFamily="18" charset="0"/>
              </a:rPr>
              <a:t>Need=Maximum-Allocation</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nvGraphicFramePr>
        <p:xfrm>
          <a:off x="381000" y="2057400"/>
          <a:ext cx="8382000" cy="3892734"/>
        </p:xfrm>
        <a:graphic>
          <a:graphicData uri="http://schemas.openxmlformats.org/drawingml/2006/table">
            <a:tbl>
              <a:tblPr firstRow="1" bandRow="1">
                <a:tableStyleId>{5940675A-B579-460E-94D1-54222C63F5DA}</a:tableStyleId>
              </a:tblPr>
              <a:tblGrid>
                <a:gridCol w="1219200">
                  <a:extLst>
                    <a:ext uri="{9D8B030D-6E8A-4147-A177-3AD203B41FA5}">
                      <a16:colId xmlns="" xmlns:a16="http://schemas.microsoft.com/office/drawing/2014/main" val="2908865961"/>
                    </a:ext>
                  </a:extLst>
                </a:gridCol>
                <a:gridCol w="1600200">
                  <a:extLst>
                    <a:ext uri="{9D8B030D-6E8A-4147-A177-3AD203B41FA5}">
                      <a16:colId xmlns="" xmlns:a16="http://schemas.microsoft.com/office/drawing/2014/main" val="1617579748"/>
                    </a:ext>
                  </a:extLst>
                </a:gridCol>
                <a:gridCol w="1600200">
                  <a:extLst>
                    <a:ext uri="{9D8B030D-6E8A-4147-A177-3AD203B41FA5}">
                      <a16:colId xmlns="" xmlns:a16="http://schemas.microsoft.com/office/drawing/2014/main" val="4235394219"/>
                    </a:ext>
                  </a:extLst>
                </a:gridCol>
                <a:gridCol w="1524000">
                  <a:extLst>
                    <a:ext uri="{9D8B030D-6E8A-4147-A177-3AD203B41FA5}">
                      <a16:colId xmlns="" xmlns:a16="http://schemas.microsoft.com/office/drawing/2014/main" val="1099261521"/>
                    </a:ext>
                  </a:extLst>
                </a:gridCol>
                <a:gridCol w="2438400">
                  <a:extLst>
                    <a:ext uri="{9D8B030D-6E8A-4147-A177-3AD203B41FA5}">
                      <a16:colId xmlns=""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p>
                      <a:pPr algn="ctr"/>
                      <a:r>
                        <a:rPr lang="en-US" sz="2400" b="1" dirty="0">
                          <a:latin typeface="Times New Roman" panose="02020603050405020304" pitchFamily="18" charset="0"/>
                          <a:cs typeface="Times New Roman" panose="02020603050405020304" pitchFamily="18" charset="0"/>
                        </a:rPr>
                        <a:t>Max-Allocation</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a:latin typeface="Times New Roman" panose="02020603050405020304" pitchFamily="18" charset="0"/>
                          <a:cs typeface="Times New Roman" panose="02020603050405020304" pitchFamily="18" charset="0"/>
                        </a:rPr>
                        <a:t>7    </a:t>
                      </a:r>
                      <a:r>
                        <a:rPr lang="en-US" sz="2400" b="1" smtClean="0">
                          <a:latin typeface="Times New Roman" panose="02020603050405020304" pitchFamily="18" charset="0"/>
                          <a:cs typeface="Times New Roman" panose="02020603050405020304" pitchFamily="18" charset="0"/>
                        </a:rPr>
                        <a:t>5    </a:t>
                      </a:r>
                      <a:r>
                        <a:rPr lang="en-US" sz="2400" b="1" dirty="0">
                          <a:latin typeface="Times New Roman" panose="02020603050405020304" pitchFamily="18" charset="0"/>
                          <a:cs typeface="Times New Roman" panose="02020603050405020304" pitchFamily="18" charset="0"/>
                        </a:rPr>
                        <a:t>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7    4    3</a:t>
                      </a: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1    2    2</a:t>
                      </a: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6    0    0</a:t>
                      </a: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0    1    1</a:t>
                      </a: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4    3    1</a:t>
                      </a: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289442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buNone/>
              <a:defRPr/>
            </a:pPr>
            <a:r>
              <a:rPr lang="en-US" b="1" dirty="0">
                <a:latin typeface="Times New Roman" panose="02020603050405020304" pitchFamily="18" charset="0"/>
                <a:cs typeface="Times New Roman" panose="02020603050405020304" pitchFamily="18" charset="0"/>
              </a:rPr>
              <a:t>If Need&lt;=Available then process is </a:t>
            </a:r>
            <a:r>
              <a:rPr lang="en-US" b="1" dirty="0">
                <a:solidFill>
                  <a:srgbClr val="FF0000"/>
                </a:solidFill>
                <a:latin typeface="Times New Roman" panose="02020603050405020304" pitchFamily="18" charset="0"/>
                <a:cs typeface="Times New Roman" panose="02020603050405020304" pitchFamily="18" charset="0"/>
              </a:rPr>
              <a:t>safe</a:t>
            </a:r>
            <a:r>
              <a:rPr lang="en-US" b="1" dirty="0">
                <a:latin typeface="Times New Roman" panose="02020603050405020304" pitchFamily="18" charset="0"/>
                <a:cs typeface="Times New Roman" panose="02020603050405020304" pitchFamily="18" charset="0"/>
              </a:rPr>
              <a:t>, otherwise it is </a:t>
            </a:r>
            <a:r>
              <a:rPr lang="en-US" b="1" dirty="0">
                <a:solidFill>
                  <a:srgbClr val="FF0000"/>
                </a:solidFill>
                <a:latin typeface="Times New Roman" panose="02020603050405020304" pitchFamily="18" charset="0"/>
                <a:cs typeface="Times New Roman" panose="02020603050405020304" pitchFamily="18" charset="0"/>
              </a:rPr>
              <a:t>unsafe</a:t>
            </a:r>
            <a:r>
              <a:rPr lang="en-US" b="1" dirty="0">
                <a:latin typeface="Times New Roman" panose="02020603050405020304" pitchFamily="18" charset="0"/>
                <a:cs typeface="Times New Roman" panose="02020603050405020304" pitchFamily="18" charset="0"/>
              </a:rPr>
              <a:t>.</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1622798407"/>
              </p:ext>
            </p:extLst>
          </p:nvPr>
        </p:nvGraphicFramePr>
        <p:xfrm>
          <a:off x="1181100" y="2209800"/>
          <a:ext cx="6781800" cy="3892734"/>
        </p:xfrm>
        <a:graphic>
          <a:graphicData uri="http://schemas.openxmlformats.org/drawingml/2006/table">
            <a:tbl>
              <a:tblPr firstRow="1" bandRow="1">
                <a:tableStyleId>{5940675A-B579-460E-94D1-54222C63F5DA}</a:tableStyleId>
              </a:tblPr>
              <a:tblGrid>
                <a:gridCol w="1219200">
                  <a:extLst>
                    <a:ext uri="{9D8B030D-6E8A-4147-A177-3AD203B41FA5}">
                      <a16:colId xmlns="" xmlns:a16="http://schemas.microsoft.com/office/drawing/2014/main" val="2908865961"/>
                    </a:ext>
                  </a:extLst>
                </a:gridCol>
                <a:gridCol w="2286000">
                  <a:extLst>
                    <a:ext uri="{9D8B030D-6E8A-4147-A177-3AD203B41FA5}">
                      <a16:colId xmlns="" xmlns:a16="http://schemas.microsoft.com/office/drawing/2014/main" val="4235394219"/>
                    </a:ext>
                  </a:extLst>
                </a:gridCol>
                <a:gridCol w="1676400">
                  <a:extLst>
                    <a:ext uri="{9D8B030D-6E8A-4147-A177-3AD203B41FA5}">
                      <a16:colId xmlns="" xmlns:a16="http://schemas.microsoft.com/office/drawing/2014/main" val="1099261521"/>
                    </a:ext>
                  </a:extLst>
                </a:gridCol>
                <a:gridCol w="1600200">
                  <a:extLst>
                    <a:ext uri="{9D8B030D-6E8A-4147-A177-3AD203B41FA5}">
                      <a16:colId xmlns=""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p>
                      <a:pPr algn="ctr"/>
                      <a:r>
                        <a:rPr lang="en-US" sz="2400" b="1" dirty="0">
                          <a:latin typeface="Times New Roman" panose="02020603050405020304" pitchFamily="18" charset="0"/>
                          <a:cs typeface="Times New Roman" panose="02020603050405020304" pitchFamily="18" charset="0"/>
                        </a:rPr>
                        <a:t>Max-Allocation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State</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7    4    3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1    2    2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Safe</a:t>
                      </a: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6    0    0</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0    1    1</a:t>
                      </a: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Safe</a:t>
                      </a: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4    3    1</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385778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sz="3600" b="1" dirty="0">
                <a:solidFill>
                  <a:srgbClr val="FF0000"/>
                </a:solidFill>
                <a:latin typeface="Times New Roman" panose="02020603050405020304" pitchFamily="18" charset="0"/>
                <a:cs typeface="Times New Roman" panose="02020603050405020304" pitchFamily="18" charset="0"/>
              </a:rPr>
              <a:t>But how to make all process </a:t>
            </a:r>
            <a:r>
              <a:rPr lang="en-US" sz="3600" b="1" dirty="0" smtClean="0">
                <a:solidFill>
                  <a:srgbClr val="FF0000"/>
                </a:solidFill>
                <a:latin typeface="Times New Roman" panose="02020603050405020304" pitchFamily="18" charset="0"/>
                <a:cs typeface="Times New Roman" panose="02020603050405020304" pitchFamily="18" charset="0"/>
              </a:rPr>
              <a:t>safe</a:t>
            </a:r>
            <a:r>
              <a:rPr lang="en-US" sz="3600" b="1" dirty="0">
                <a:solidFill>
                  <a:srgbClr val="FF0000"/>
                </a:solidFill>
                <a:latin typeface="Times New Roman" panose="02020603050405020304" pitchFamily="18" charset="0"/>
                <a:cs typeface="Times New Roman" panose="02020603050405020304" pitchFamily="18" charset="0"/>
              </a:rPr>
              <a:t>?</a:t>
            </a:r>
          </a:p>
          <a:p>
            <a:pPr marL="971550" lvl="1" indent="-571500" algn="just">
              <a:lnSpc>
                <a:spcPct val="200000"/>
              </a:lnSpc>
              <a:defRPr/>
            </a:pPr>
            <a:r>
              <a:rPr lang="en-US" altLang="en-US" sz="3600" b="1" dirty="0" smtClean="0">
                <a:solidFill>
                  <a:srgbClr val="FF0000"/>
                </a:solidFill>
                <a:latin typeface="Times New Roman" panose="02020603050405020304" pitchFamily="18" charset="0"/>
                <a:cs typeface="Times New Roman" panose="02020603050405020304" pitchFamily="18" charset="0"/>
              </a:rPr>
              <a:t>We </a:t>
            </a:r>
            <a:r>
              <a:rPr lang="en-US" altLang="en-US" sz="3600" b="1" dirty="0">
                <a:solidFill>
                  <a:srgbClr val="FF0000"/>
                </a:solidFill>
                <a:latin typeface="Times New Roman" panose="02020603050405020304" pitchFamily="18" charset="0"/>
                <a:cs typeface="Times New Roman" panose="02020603050405020304" pitchFamily="18" charset="0"/>
              </a:rPr>
              <a:t>need to update the available resources every time so that it is never less </a:t>
            </a:r>
            <a:r>
              <a:rPr lang="en-US" altLang="en-US" sz="3600" b="1" dirty="0" smtClean="0">
                <a:solidFill>
                  <a:srgbClr val="FF0000"/>
                </a:solidFill>
                <a:latin typeface="Times New Roman" panose="02020603050405020304" pitchFamily="18" charset="0"/>
                <a:cs typeface="Times New Roman" panose="02020603050405020304" pitchFamily="18" charset="0"/>
              </a:rPr>
              <a:t>than </a:t>
            </a:r>
            <a:r>
              <a:rPr lang="en-US" altLang="en-US" sz="3600" b="1" dirty="0">
                <a:solidFill>
                  <a:srgbClr val="FF0000"/>
                </a:solidFill>
                <a:latin typeface="Times New Roman" panose="02020603050405020304" pitchFamily="18" charset="0"/>
                <a:cs typeface="Times New Roman" panose="02020603050405020304" pitchFamily="18" charset="0"/>
              </a:rPr>
              <a:t>need.</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spTree>
    <p:extLst>
      <p:ext uri="{BB962C8B-B14F-4D97-AF65-F5344CB8AC3E}">
        <p14:creationId xmlns:p14="http://schemas.microsoft.com/office/powerpoint/2010/main" val="11222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buNone/>
              <a:defRPr/>
            </a:pPr>
            <a:r>
              <a:rPr lang="en-US" b="1" dirty="0">
                <a:latin typeface="Times New Roman" panose="02020603050405020304" pitchFamily="18" charset="0"/>
                <a:cs typeface="Times New Roman" panose="02020603050405020304" pitchFamily="18" charset="0"/>
              </a:rPr>
              <a:t>Consider following example:</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extLst/>
          </p:nvPr>
        </p:nvGraphicFramePr>
        <p:xfrm>
          <a:off x="1181100" y="2209800"/>
          <a:ext cx="6781800" cy="3892734"/>
        </p:xfrm>
        <a:graphic>
          <a:graphicData uri="http://schemas.openxmlformats.org/drawingml/2006/table">
            <a:tbl>
              <a:tblPr firstRow="1" bandRow="1">
                <a:tableStyleId>{5940675A-B579-460E-94D1-54222C63F5DA}</a:tableStyleId>
              </a:tblPr>
              <a:tblGrid>
                <a:gridCol w="1219200">
                  <a:extLst>
                    <a:ext uri="{9D8B030D-6E8A-4147-A177-3AD203B41FA5}">
                      <a16:colId xmlns="" xmlns:a16="http://schemas.microsoft.com/office/drawing/2014/main" val="2908865961"/>
                    </a:ext>
                  </a:extLst>
                </a:gridCol>
                <a:gridCol w="2286000">
                  <a:extLst>
                    <a:ext uri="{9D8B030D-6E8A-4147-A177-3AD203B41FA5}">
                      <a16:colId xmlns="" xmlns:a16="http://schemas.microsoft.com/office/drawing/2014/main" val="4235394219"/>
                    </a:ext>
                  </a:extLst>
                </a:gridCol>
                <a:gridCol w="1676400">
                  <a:extLst>
                    <a:ext uri="{9D8B030D-6E8A-4147-A177-3AD203B41FA5}">
                      <a16:colId xmlns="" xmlns:a16="http://schemas.microsoft.com/office/drawing/2014/main" val="1099261521"/>
                    </a:ext>
                  </a:extLst>
                </a:gridCol>
                <a:gridCol w="1600200">
                  <a:extLst>
                    <a:ext uri="{9D8B030D-6E8A-4147-A177-3AD203B41FA5}">
                      <a16:colId xmlns=""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p>
                      <a:pPr algn="ctr"/>
                      <a:r>
                        <a:rPr lang="en-US" sz="2400" b="1" dirty="0">
                          <a:latin typeface="Times New Roman" panose="02020603050405020304" pitchFamily="18" charset="0"/>
                          <a:cs typeface="Times New Roman" panose="02020603050405020304" pitchFamily="18" charset="0"/>
                        </a:rPr>
                        <a:t>Max-Allocation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State</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7    4    3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1    2    2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Safe</a:t>
                      </a: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6    0    0</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0    1    1</a:t>
                      </a: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Safe</a:t>
                      </a: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4    3    1</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165002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buNone/>
              <a:defRPr/>
            </a:pPr>
            <a:r>
              <a:rPr lang="en-US" b="1" dirty="0">
                <a:latin typeface="Times New Roman" panose="02020603050405020304" pitchFamily="18" charset="0"/>
                <a:cs typeface="Times New Roman" panose="02020603050405020304" pitchFamily="18" charset="0"/>
              </a:rPr>
              <a:t>We need to update the table</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730698382"/>
              </p:ext>
            </p:extLst>
          </p:nvPr>
        </p:nvGraphicFramePr>
        <p:xfrm>
          <a:off x="533400" y="2016033"/>
          <a:ext cx="7239000" cy="3892734"/>
        </p:xfrm>
        <a:graphic>
          <a:graphicData uri="http://schemas.openxmlformats.org/drawingml/2006/table">
            <a:tbl>
              <a:tblPr firstRow="1" bandRow="1">
                <a:tableStyleId>{5940675A-B579-460E-94D1-54222C63F5DA}</a:tableStyleId>
              </a:tblPr>
              <a:tblGrid>
                <a:gridCol w="1220056">
                  <a:extLst>
                    <a:ext uri="{9D8B030D-6E8A-4147-A177-3AD203B41FA5}">
                      <a16:colId xmlns="" xmlns:a16="http://schemas.microsoft.com/office/drawing/2014/main" val="2908865961"/>
                    </a:ext>
                  </a:extLst>
                </a:gridCol>
                <a:gridCol w="1789416">
                  <a:extLst>
                    <a:ext uri="{9D8B030D-6E8A-4147-A177-3AD203B41FA5}">
                      <a16:colId xmlns="" xmlns:a16="http://schemas.microsoft.com/office/drawing/2014/main" val="1617579748"/>
                    </a:ext>
                  </a:extLst>
                </a:gridCol>
                <a:gridCol w="1791128">
                  <a:extLst>
                    <a:ext uri="{9D8B030D-6E8A-4147-A177-3AD203B41FA5}">
                      <a16:colId xmlns="" xmlns:a16="http://schemas.microsoft.com/office/drawing/2014/main" val="1099261521"/>
                    </a:ext>
                  </a:extLst>
                </a:gridCol>
                <a:gridCol w="2438400">
                  <a:extLst>
                    <a:ext uri="{9D8B030D-6E8A-4147-A177-3AD203B41FA5}">
                      <a16:colId xmlns=""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p>
                      <a:pPr algn="ctr"/>
                      <a:r>
                        <a:rPr lang="en-US" sz="2400" b="1" dirty="0">
                          <a:latin typeface="Times New Roman" panose="02020603050405020304" pitchFamily="18" charset="0"/>
                          <a:cs typeface="Times New Roman" panose="02020603050405020304" pitchFamily="18" charset="0"/>
                        </a:rPr>
                        <a:t>(Update It)</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p>
                      <a:pPr algn="ctr"/>
                      <a:r>
                        <a:rPr lang="en-US" sz="2400" b="1" dirty="0">
                          <a:latin typeface="Times New Roman" panose="02020603050405020304" pitchFamily="18" charset="0"/>
                          <a:cs typeface="Times New Roman" panose="02020603050405020304" pitchFamily="18" charset="0"/>
                        </a:rPr>
                        <a:t>Max-Allocation</a:t>
                      </a:r>
                    </a:p>
                  </a:txBody>
                  <a:tcPr/>
                </a:tc>
                <a:extLst>
                  <a:ext uri="{0D108BD9-81ED-4DB2-BD59-A6C34878D82A}">
                    <a16:rowId xmlns=""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7    4    3</a:t>
                      </a:r>
                    </a:p>
                  </a:txBody>
                  <a:tcPr/>
                </a:tc>
                <a:extLst>
                  <a:ext uri="{0D108BD9-81ED-4DB2-BD59-A6C34878D82A}">
                    <a16:rowId xmlns=""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1    2    2</a:t>
                      </a:r>
                    </a:p>
                  </a:txBody>
                  <a:tcPr/>
                </a:tc>
                <a:extLst>
                  <a:ext uri="{0D108BD9-81ED-4DB2-BD59-A6C34878D82A}">
                    <a16:rowId xmlns=""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6    0    0</a:t>
                      </a:r>
                    </a:p>
                  </a:txBody>
                  <a:tcPr/>
                </a:tc>
                <a:extLst>
                  <a:ext uri="{0D108BD9-81ED-4DB2-BD59-A6C34878D82A}">
                    <a16:rowId xmlns=""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0    1    1</a:t>
                      </a:r>
                    </a:p>
                  </a:txBody>
                  <a:tcPr/>
                </a:tc>
                <a:extLst>
                  <a:ext uri="{0D108BD9-81ED-4DB2-BD59-A6C34878D82A}">
                    <a16:rowId xmlns=""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4    3    1</a:t>
                      </a:r>
                    </a:p>
                  </a:txBody>
                  <a:tcPr/>
                </a:tc>
                <a:extLst>
                  <a:ext uri="{0D108BD9-81ED-4DB2-BD59-A6C34878D82A}">
                    <a16:rowId xmlns="" xmlns:a16="http://schemas.microsoft.com/office/drawing/2014/main" val="1891198167"/>
                  </a:ext>
                </a:extLst>
              </a:tr>
            </a:tbl>
          </a:graphicData>
        </a:graphic>
      </p:graphicFrame>
    </p:spTree>
    <p:extLst>
      <p:ext uri="{BB962C8B-B14F-4D97-AF65-F5344CB8AC3E}">
        <p14:creationId xmlns:p14="http://schemas.microsoft.com/office/powerpoint/2010/main" val="233618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Memory management in Operating System</a:t>
            </a:r>
          </a:p>
        </p:txBody>
      </p:sp>
    </p:spTree>
    <p:extLst>
      <p:ext uri="{BB962C8B-B14F-4D97-AF65-F5344CB8AC3E}">
        <p14:creationId xmlns:p14="http://schemas.microsoft.com/office/powerpoint/2010/main" val="925414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0" indent="0" algn="just" eaLnBrk="0" hangingPunct="0">
              <a:lnSpc>
                <a:spcPct val="150000"/>
              </a:lnSpc>
              <a:buNone/>
            </a:pPr>
            <a:r>
              <a:rPr lang="en-US" b="1" u="sng"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Memory management</a:t>
            </a:r>
            <a:r>
              <a:rPr lang="en-US" dirty="0">
                <a:latin typeface="Times New Roman" panose="02020603050405020304" pitchFamily="18" charset="0"/>
                <a:cs typeface="Times New Roman" panose="02020603050405020304" pitchFamily="18" charset="0"/>
              </a:rPr>
              <a:t> is the functionality of an </a:t>
            </a: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which handles or manages </a:t>
            </a:r>
            <a:r>
              <a:rPr lang="en-US" b="1" dirty="0">
                <a:solidFill>
                  <a:srgbClr val="FF0000"/>
                </a:solidFill>
                <a:latin typeface="Times New Roman" panose="02020603050405020304" pitchFamily="18" charset="0"/>
                <a:cs typeface="Times New Roman" panose="02020603050405020304" pitchFamily="18" charset="0"/>
              </a:rPr>
              <a:t>primary memory</a:t>
            </a:r>
            <a:r>
              <a:rPr lang="en-US" dirty="0">
                <a:latin typeface="Times New Roman" panose="02020603050405020304" pitchFamily="18" charset="0"/>
                <a:cs typeface="Times New Roman" panose="02020603050405020304" pitchFamily="18" charset="0"/>
              </a:rPr>
              <a:t> during execution.</a:t>
            </a:r>
          </a:p>
          <a:p>
            <a:pPr algn="just" eaLnBrk="0" hangingPunct="0">
              <a:lnSpc>
                <a:spcPct val="150000"/>
              </a:lnSpc>
            </a:pPr>
            <a:r>
              <a:rPr lang="en-US" b="1" dirty="0">
                <a:latin typeface="Times New Roman" panose="02020603050405020304" pitchFamily="18" charset="0"/>
                <a:cs typeface="Times New Roman" panose="02020603050405020304" pitchFamily="18" charset="0"/>
              </a:rPr>
              <a:t>Memory management in OS</a:t>
            </a:r>
            <a:r>
              <a:rPr lang="en-US" dirty="0">
                <a:latin typeface="Times New Roman" panose="02020603050405020304" pitchFamily="18" charset="0"/>
                <a:cs typeface="Times New Roman" panose="02020603050405020304" pitchFamily="18" charset="0"/>
              </a:rPr>
              <a:t> keeps track of each and every </a:t>
            </a:r>
            <a:r>
              <a:rPr lang="en-US" b="1" dirty="0">
                <a:latin typeface="Times New Roman" panose="02020603050405020304" pitchFamily="18" charset="0"/>
                <a:cs typeface="Times New Roman" panose="02020603050405020304" pitchFamily="18" charset="0"/>
              </a:rPr>
              <a:t>memory</a:t>
            </a:r>
            <a:r>
              <a:rPr lang="en-US" dirty="0">
                <a:latin typeface="Times New Roman" panose="02020603050405020304" pitchFamily="18" charset="0"/>
                <a:cs typeface="Times New Roman" panose="02020603050405020304" pitchFamily="18" charset="0"/>
              </a:rPr>
              <a:t> location, regardless of either it is allocated to some process or it is free.</a:t>
            </a:r>
            <a:endPar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Memory management in Operating System</a:t>
            </a:r>
          </a:p>
        </p:txBody>
      </p:sp>
    </p:spTree>
    <p:extLst>
      <p:ext uri="{BB962C8B-B14F-4D97-AF65-F5344CB8AC3E}">
        <p14:creationId xmlns:p14="http://schemas.microsoft.com/office/powerpoint/2010/main" val="257665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410200"/>
          </a:xfrm>
        </p:spPr>
        <p:txBody>
          <a:bodyPr>
            <a:noAutofit/>
          </a:bodyPr>
          <a:lstStyle/>
          <a:p>
            <a:pPr algn="just" eaLnBrk="0" hangingPunct="0">
              <a:lnSpc>
                <a:spcPct val="150000"/>
              </a:lnSpc>
            </a:pPr>
            <a:r>
              <a:rPr lang="en-US" sz="2400" dirty="0">
                <a:latin typeface="Times New Roman" panose="02020603050405020304" pitchFamily="18" charset="0"/>
                <a:cs typeface="Times New Roman" panose="02020603050405020304" pitchFamily="18" charset="0"/>
              </a:rPr>
              <a:t>Main Memory refers to a physical memory that is the internal memory to the computer. Main memory is also known as RAM. </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Main memory holds the programs and instructions which are currently being executed by the CPU.</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It is the fast access storage device.</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It is read and write memory.</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It is a volatile memory.</a:t>
            </a:r>
          </a:p>
          <a:p>
            <a:pPr algn="just" eaLnBrk="0" hangingPunct="0">
              <a:lnSpc>
                <a:spcPct val="150000"/>
              </a:lnSpc>
            </a:pPr>
            <a:endParaRPr lang="en-US" altLang="zh-TW" sz="2400" b="1" dirty="0">
              <a:solidFill>
                <a:srgbClr val="FF0000"/>
              </a:solidFill>
              <a:latin typeface="Times New Roman" panose="02020603050405020304" pitchFamily="18" charset="0"/>
              <a:ea typeface="新細明體" charset="-12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Main Memory</a:t>
            </a:r>
          </a:p>
        </p:txBody>
      </p:sp>
    </p:spTree>
    <p:extLst>
      <p:ext uri="{BB962C8B-B14F-4D97-AF65-F5344CB8AC3E}">
        <p14:creationId xmlns:p14="http://schemas.microsoft.com/office/powerpoint/2010/main" val="263006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410200"/>
          </a:xfrm>
        </p:spPr>
        <p:txBody>
          <a:bodyPr>
            <a:noAutofit/>
          </a:bodyPr>
          <a:lstStyle/>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In a simple OS, only one program at a time is in the memory. To run a second program, the first one has to be removed and the second program placed in the memory.</a:t>
            </a:r>
          </a:p>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Sophisticated OS allow multiple programs to </a:t>
            </a:r>
            <a:r>
              <a:rPr lang="en-US" sz="2400" dirty="0" smtClean="0">
                <a:latin typeface="Times New Roman" panose="02020603050405020304" pitchFamily="18" charset="0"/>
                <a:cs typeface="Times New Roman" panose="02020603050405020304" pitchFamily="18" charset="0"/>
              </a:rPr>
              <a:t>be stored </a:t>
            </a:r>
            <a:r>
              <a:rPr lang="en-US" sz="2400" dirty="0">
                <a:latin typeface="Times New Roman" panose="02020603050405020304" pitchFamily="18" charset="0"/>
                <a:cs typeface="Times New Roman" panose="02020603050405020304" pitchFamily="18" charset="0"/>
              </a:rPr>
              <a:t>in the main memory at the same time.</a:t>
            </a:r>
          </a:p>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To keep </a:t>
            </a:r>
            <a:r>
              <a:rPr lang="en-US" sz="2400" dirty="0" smtClean="0">
                <a:latin typeface="Times New Roman" panose="02020603050405020304" pitchFamily="18" charset="0"/>
                <a:cs typeface="Times New Roman" panose="02020603050405020304" pitchFamily="18" charset="0"/>
              </a:rPr>
              <a:t>them away from </a:t>
            </a:r>
            <a:r>
              <a:rPr lang="en-US" sz="2400" dirty="0">
                <a:latin typeface="Times New Roman" panose="02020603050405020304" pitchFamily="18" charset="0"/>
                <a:cs typeface="Times New Roman" panose="02020603050405020304" pitchFamily="18" charset="0"/>
              </a:rPr>
              <a:t>interfering with one another, some kind of protection mechanism is needed.</a:t>
            </a:r>
          </a:p>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Important memory related issue is managing the </a:t>
            </a:r>
            <a:r>
              <a:rPr lang="en-US" sz="2400" b="1" dirty="0">
                <a:solidFill>
                  <a:srgbClr val="FF0000"/>
                </a:solidFill>
                <a:latin typeface="Times New Roman" panose="02020603050405020304" pitchFamily="18" charset="0"/>
                <a:cs typeface="Times New Roman" panose="02020603050405020304" pitchFamily="18" charset="0"/>
              </a:rPr>
              <a:t>address space of the processes.</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How it is managed</a:t>
            </a:r>
          </a:p>
        </p:txBody>
      </p:sp>
    </p:spTree>
    <p:extLst>
      <p:ext uri="{BB962C8B-B14F-4D97-AF65-F5344CB8AC3E}">
        <p14:creationId xmlns:p14="http://schemas.microsoft.com/office/powerpoint/2010/main" val="232408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marL="0" indent="0" algn="just">
              <a:lnSpc>
                <a:spcPct val="200000"/>
              </a:lnSpc>
              <a:spcBef>
                <a:spcPct val="50000"/>
              </a:spcBef>
              <a:buNone/>
            </a:pPr>
            <a:r>
              <a:rPr lang="en-US" sz="2000" b="1" u="sng" dirty="0">
                <a:latin typeface="Times New Roman" pitchFamily="18" charset="0"/>
              </a:rPr>
              <a:t>Address Space:</a:t>
            </a:r>
            <a:r>
              <a:rPr lang="en-US" sz="2000" dirty="0">
                <a:latin typeface="Times New Roman" pitchFamily="18" charset="0"/>
              </a:rPr>
              <a:t> Contains data, </a:t>
            </a:r>
            <a:r>
              <a:rPr lang="en-US" sz="2000" dirty="0" smtClean="0">
                <a:latin typeface="Times New Roman" pitchFamily="18" charset="0"/>
              </a:rPr>
              <a:t>including </a:t>
            </a:r>
            <a:r>
              <a:rPr lang="en-US" sz="2000" dirty="0">
                <a:latin typeface="Times New Roman" pitchFamily="18" charset="0"/>
              </a:rPr>
              <a:t>program counter, stack pointer and all other information </a:t>
            </a:r>
            <a:r>
              <a:rPr lang="en-US" sz="2000" dirty="0" smtClean="0">
                <a:latin typeface="Times New Roman" pitchFamily="18" charset="0"/>
              </a:rPr>
              <a:t>needed </a:t>
            </a:r>
            <a:r>
              <a:rPr lang="en-US" sz="2000" dirty="0">
                <a:latin typeface="Times New Roman" pitchFamily="18" charset="0"/>
              </a:rPr>
              <a:t>to run the program of the process</a:t>
            </a:r>
            <a:r>
              <a:rPr lang="en-US" sz="2000" dirty="0" smtClean="0">
                <a:latin typeface="Times New Roman" pitchFamily="18" charset="0"/>
              </a:rPr>
              <a:t>.</a:t>
            </a:r>
          </a:p>
          <a:p>
            <a:pPr marL="0" indent="0" algn="just">
              <a:lnSpc>
                <a:spcPct val="200000"/>
              </a:lnSpc>
              <a:spcBef>
                <a:spcPct val="50000"/>
              </a:spcBef>
              <a:buNone/>
            </a:pPr>
            <a:r>
              <a:rPr lang="en-US" sz="2000" dirty="0" smtClean="0">
                <a:latin typeface="Times New Roman" pitchFamily="18" charset="0"/>
              </a:rPr>
              <a:t>Stack </a:t>
            </a:r>
            <a:r>
              <a:rPr lang="en-US" sz="2000" dirty="0">
                <a:latin typeface="Times New Roman" pitchFamily="18" charset="0"/>
              </a:rPr>
              <a:t>pointer is a register that stores the address of the last program request in a stack while the program counter is a register that stores the address of the next instruction to be executed from the memory.</a:t>
            </a:r>
          </a:p>
          <a:p>
            <a:pPr algn="just">
              <a:lnSpc>
                <a:spcPct val="200000"/>
              </a:lnSpc>
              <a:spcBef>
                <a:spcPct val="50000"/>
              </a:spcBef>
            </a:pPr>
            <a:r>
              <a:rPr lang="en-US" sz="2000" b="1" dirty="0">
                <a:solidFill>
                  <a:srgbClr val="FF0000"/>
                </a:solidFill>
                <a:latin typeface="Times New Roman" panose="02020603050405020304" pitchFamily="18" charset="0"/>
                <a:cs typeface="Times New Roman" panose="02020603050405020304" pitchFamily="18" charset="0"/>
              </a:rPr>
              <a:t>What if a process need more address space than the computer has main memory and the process wants to use it all?</a:t>
            </a:r>
          </a:p>
          <a:p>
            <a:pPr algn="just">
              <a:lnSpc>
                <a:spcPct val="200000"/>
              </a:lnSpc>
              <a:spcBef>
                <a:spcPct val="50000"/>
              </a:spcBef>
              <a:buFontTx/>
              <a:buAutoNum type="arabicPeriod"/>
            </a:pP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Address space</a:t>
            </a:r>
          </a:p>
        </p:txBody>
      </p:sp>
    </p:spTree>
    <p:extLst>
      <p:ext uri="{BB962C8B-B14F-4D97-AF65-F5344CB8AC3E}">
        <p14:creationId xmlns:p14="http://schemas.microsoft.com/office/powerpoint/2010/main" val="233675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200000"/>
              </a:lnSpc>
              <a:spcBef>
                <a:spcPct val="50000"/>
              </a:spcBef>
            </a:pPr>
            <a:r>
              <a:rPr lang="en-US" sz="2800" dirty="0">
                <a:latin typeface="Times New Roman" panose="02020603050405020304" pitchFamily="18" charset="0"/>
                <a:cs typeface="Times New Roman" panose="02020603050405020304" pitchFamily="18" charset="0"/>
              </a:rPr>
              <a:t>Technique called </a:t>
            </a:r>
            <a:r>
              <a:rPr lang="en-US" sz="2800" b="1" dirty="0">
                <a:solidFill>
                  <a:srgbClr val="FF0000"/>
                </a:solidFill>
                <a:latin typeface="Times New Roman" panose="02020603050405020304" pitchFamily="18" charset="0"/>
                <a:cs typeface="Times New Roman" panose="02020603050405020304" pitchFamily="18" charset="0"/>
              </a:rPr>
              <a:t>virtual memory </a:t>
            </a:r>
            <a:r>
              <a:rPr lang="en-US" sz="2800" dirty="0">
                <a:latin typeface="Times New Roman" panose="02020603050405020304" pitchFamily="18" charset="0"/>
                <a:cs typeface="Times New Roman" panose="02020603050405020304" pitchFamily="18" charset="0"/>
              </a:rPr>
              <a:t>exists, in which the OS keeps part of the address space in the main memory(RAM) and its some part on the disk(Hard disk) and moves pieces back and forth between them as needed.</a:t>
            </a:r>
          </a:p>
          <a:p>
            <a:pPr algn="just">
              <a:lnSpc>
                <a:spcPct val="200000"/>
              </a:lnSpc>
              <a:spcBef>
                <a:spcPct val="50000"/>
              </a:spcBef>
              <a:buFontTx/>
              <a:buAutoNum type="arabicPeriod"/>
            </a:pP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Virtual Memory</a:t>
            </a:r>
          </a:p>
        </p:txBody>
      </p:sp>
    </p:spTree>
    <p:extLst>
      <p:ext uri="{BB962C8B-B14F-4D97-AF65-F5344CB8AC3E}">
        <p14:creationId xmlns:p14="http://schemas.microsoft.com/office/powerpoint/2010/main" val="11293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DATA COMPACTION</a:t>
            </a:r>
          </a:p>
        </p:txBody>
      </p:sp>
    </p:spTree>
    <p:extLst>
      <p:ext uri="{BB962C8B-B14F-4D97-AF65-F5344CB8AC3E}">
        <p14:creationId xmlns:p14="http://schemas.microsoft.com/office/powerpoint/2010/main" val="924655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Definition: </a:t>
            </a:r>
            <a:r>
              <a:rPr lang="en-US" b="1" dirty="0">
                <a:solidFill>
                  <a:srgbClr val="FF0000"/>
                </a:solidFill>
                <a:latin typeface="Times New Roman" panose="02020603050405020304" pitchFamily="18" charset="0"/>
                <a:cs typeface="Times New Roman" panose="02020603050405020304" pitchFamily="18" charset="0"/>
              </a:rPr>
              <a:t>Swapping</a:t>
            </a:r>
            <a:r>
              <a:rPr lang="en-US" dirty="0">
                <a:latin typeface="Times New Roman" panose="02020603050405020304" pitchFamily="18" charset="0"/>
                <a:cs typeface="Times New Roman" panose="02020603050405020304" pitchFamily="18" charset="0"/>
              </a:rPr>
              <a:t> consists of bringing each process in the memory, running it for a while and then putting it back on the disk.</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DATA COMPACTION: </a:t>
            </a:r>
            <a:r>
              <a:rPr lang="en-US" sz="3600" b="1" dirty="0">
                <a:solidFill>
                  <a:srgbClr val="FF0000"/>
                </a:solidFill>
                <a:latin typeface="Times New Roman" pitchFamily="18" charset="0"/>
              </a:rPr>
              <a:t>RECALL</a:t>
            </a:r>
          </a:p>
        </p:txBody>
      </p:sp>
      <p:pic>
        <p:nvPicPr>
          <p:cNvPr id="4" name="Picture 3">
            <a:extLst>
              <a:ext uri="{FF2B5EF4-FFF2-40B4-BE49-F238E27FC236}">
                <a16:creationId xmlns="" xmlns:a16="http://schemas.microsoft.com/office/drawing/2014/main" id="{208992A6-0590-464A-B6C9-854F2B722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494" y="3256958"/>
            <a:ext cx="5815012" cy="3412402"/>
          </a:xfrm>
          <a:prstGeom prst="rect">
            <a:avLst/>
          </a:prstGeom>
        </p:spPr>
      </p:pic>
    </p:spTree>
    <p:extLst>
      <p:ext uri="{BB962C8B-B14F-4D97-AF65-F5344CB8AC3E}">
        <p14:creationId xmlns:p14="http://schemas.microsoft.com/office/powerpoint/2010/main" val="101657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150000"/>
              </a:lnSpc>
            </a:pPr>
            <a:r>
              <a:rPr lang="en-US" altLang="en-US" sz="2800" b="1" dirty="0">
                <a:solidFill>
                  <a:srgbClr val="FF0000"/>
                </a:solidFill>
                <a:latin typeface="Times New Roman" panose="02020603050405020304" pitchFamily="18" charset="0"/>
                <a:cs typeface="Times New Roman" panose="02020603050405020304" pitchFamily="18" charset="0"/>
              </a:rPr>
              <a:t>Definition:</a:t>
            </a:r>
            <a:r>
              <a:rPr lang="en-US" altLang="en-US" sz="2800" b="1"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When swapping creates multiple holes in memory, it is possible to </a:t>
            </a:r>
            <a:r>
              <a:rPr lang="en-US" altLang="en-US" sz="2800">
                <a:latin typeface="Times New Roman" panose="02020603050405020304" pitchFamily="18" charset="0"/>
                <a:cs typeface="Times New Roman" panose="02020603050405020304" pitchFamily="18" charset="0"/>
              </a:rPr>
              <a:t>combine </a:t>
            </a:r>
            <a:r>
              <a:rPr lang="en-US" altLang="en-US" sz="2800" smtClean="0">
                <a:latin typeface="Times New Roman" panose="02020603050405020304" pitchFamily="18" charset="0"/>
                <a:cs typeface="Times New Roman" panose="02020603050405020304" pitchFamily="18" charset="0"/>
              </a:rPr>
              <a:t>them </a:t>
            </a:r>
            <a:r>
              <a:rPr lang="en-US" altLang="en-US" sz="2800" dirty="0">
                <a:latin typeface="Times New Roman" panose="02020603050405020304" pitchFamily="18" charset="0"/>
                <a:cs typeface="Times New Roman" panose="02020603050405020304" pitchFamily="18" charset="0"/>
              </a:rPr>
              <a:t>into one big hole and then moving all the processes one by one downwards. This technique is called data compaction.</a:t>
            </a: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DATA COMPACTION</a:t>
            </a:r>
          </a:p>
        </p:txBody>
      </p:sp>
      <p:pic>
        <p:nvPicPr>
          <p:cNvPr id="4" name="Picture 3">
            <a:extLst>
              <a:ext uri="{FF2B5EF4-FFF2-40B4-BE49-F238E27FC236}">
                <a16:creationId xmlns="" xmlns:a16="http://schemas.microsoft.com/office/drawing/2014/main" id="{558F5321-8A3C-4306-BEDE-919A24585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733800"/>
            <a:ext cx="104775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5" name="Table 4">
            <a:extLst>
              <a:ext uri="{FF2B5EF4-FFF2-40B4-BE49-F238E27FC236}">
                <a16:creationId xmlns="" xmlns:a16="http://schemas.microsoft.com/office/drawing/2014/main" id="{A4A62EC6-EFA2-4954-A6B3-4C38CB6A374A}"/>
              </a:ext>
            </a:extLst>
          </p:cNvPr>
          <p:cNvGraphicFramePr>
            <a:graphicFrameLocks noGrp="1"/>
          </p:cNvGraphicFramePr>
          <p:nvPr>
            <p:extLst>
              <p:ext uri="{D42A27DB-BD31-4B8C-83A1-F6EECF244321}">
                <p14:modId xmlns:p14="http://schemas.microsoft.com/office/powerpoint/2010/main" val="624233277"/>
              </p:ext>
            </p:extLst>
          </p:nvPr>
        </p:nvGraphicFramePr>
        <p:xfrm>
          <a:off x="5381625" y="3848100"/>
          <a:ext cx="1071562" cy="2671763"/>
        </p:xfrm>
        <a:graphic>
          <a:graphicData uri="http://schemas.openxmlformats.org/drawingml/2006/table">
            <a:tbl>
              <a:tblPr firstRow="1" bandRow="1">
                <a:tableStyleId>{C4B1156A-380E-4F78-BDF5-A606A8083BF9}</a:tableStyleId>
              </a:tblPr>
              <a:tblGrid>
                <a:gridCol w="1071562">
                  <a:extLst>
                    <a:ext uri="{9D8B030D-6E8A-4147-A177-3AD203B41FA5}">
                      <a16:colId xmlns="" xmlns:a16="http://schemas.microsoft.com/office/drawing/2014/main" val="20000"/>
                    </a:ext>
                  </a:extLst>
                </a:gridCol>
              </a:tblGrid>
              <a:tr h="878173">
                <a:tc>
                  <a:txBody>
                    <a:bodyPr/>
                    <a:lstStyle/>
                    <a:p>
                      <a:pPr algn="ctr"/>
                      <a:endParaRPr lang="en-US" sz="1400" dirty="0"/>
                    </a:p>
                  </a:txBody>
                  <a:tcPr marL="91439" marR="91439" marT="45714" marB="45714">
                    <a:noFill/>
                  </a:tcPr>
                </a:tc>
                <a:extLst>
                  <a:ext uri="{0D108BD9-81ED-4DB2-BD59-A6C34878D82A}">
                    <a16:rowId xmlns="" xmlns:a16="http://schemas.microsoft.com/office/drawing/2014/main" val="10000"/>
                  </a:ext>
                </a:extLst>
              </a:tr>
              <a:tr h="548680">
                <a:tc>
                  <a:txBody>
                    <a:bodyPr/>
                    <a:lstStyle/>
                    <a:p>
                      <a:pPr algn="ctr"/>
                      <a:endParaRPr lang="en-US" sz="700" dirty="0"/>
                    </a:p>
                    <a:p>
                      <a:pPr algn="ctr"/>
                      <a:r>
                        <a:rPr lang="en-US" sz="1400" dirty="0"/>
                        <a:t>C</a:t>
                      </a:r>
                    </a:p>
                  </a:txBody>
                  <a:tcPr marL="91439" marR="91439" marT="45714" marB="45714">
                    <a:noFill/>
                  </a:tcPr>
                </a:tc>
                <a:extLst>
                  <a:ext uri="{0D108BD9-81ED-4DB2-BD59-A6C34878D82A}">
                    <a16:rowId xmlns="" xmlns:a16="http://schemas.microsoft.com/office/drawing/2014/main" val="10001"/>
                  </a:ext>
                </a:extLst>
              </a:tr>
              <a:tr h="384491">
                <a:tc>
                  <a:txBody>
                    <a:bodyPr/>
                    <a:lstStyle/>
                    <a:p>
                      <a:pPr algn="ctr"/>
                      <a:r>
                        <a:rPr lang="en-US" sz="1400" dirty="0"/>
                        <a:t>B</a:t>
                      </a:r>
                    </a:p>
                  </a:txBody>
                  <a:tcPr marL="91439" marR="91439" marT="45714" marB="45714">
                    <a:noFill/>
                  </a:tcPr>
                </a:tc>
                <a:extLst>
                  <a:ext uri="{0D108BD9-81ED-4DB2-BD59-A6C34878D82A}">
                    <a16:rowId xmlns="" xmlns:a16="http://schemas.microsoft.com/office/drawing/2014/main" val="10002"/>
                  </a:ext>
                </a:extLst>
              </a:tr>
              <a:tr h="318674">
                <a:tc>
                  <a:txBody>
                    <a:bodyPr/>
                    <a:lstStyle/>
                    <a:p>
                      <a:pPr algn="ctr"/>
                      <a:r>
                        <a:rPr lang="en-US" sz="1400" dirty="0"/>
                        <a:t>D</a:t>
                      </a:r>
                    </a:p>
                  </a:txBody>
                  <a:tcPr marL="91439" marR="91439" marT="45714" marB="45714">
                    <a:noFill/>
                  </a:tcPr>
                </a:tc>
                <a:extLst>
                  <a:ext uri="{0D108BD9-81ED-4DB2-BD59-A6C34878D82A}">
                    <a16:rowId xmlns="" xmlns:a16="http://schemas.microsoft.com/office/drawing/2014/main" val="10003"/>
                  </a:ext>
                </a:extLst>
              </a:tr>
              <a:tr h="541745">
                <a:tc>
                  <a:txBody>
                    <a:bodyPr/>
                    <a:lstStyle/>
                    <a:p>
                      <a:pPr algn="ctr"/>
                      <a:r>
                        <a:rPr lang="en-US" sz="1400" dirty="0"/>
                        <a:t>Operating system</a:t>
                      </a:r>
                    </a:p>
                  </a:txBody>
                  <a:tcPr marL="91439" marR="91439" marT="45714" marB="45714">
                    <a:noFill/>
                  </a:tcPr>
                </a:tc>
                <a:extLst>
                  <a:ext uri="{0D108BD9-81ED-4DB2-BD59-A6C34878D82A}">
                    <a16:rowId xmlns="" xmlns:a16="http://schemas.microsoft.com/office/drawing/2014/main" val="10004"/>
                  </a:ext>
                </a:extLst>
              </a:tr>
            </a:tbl>
          </a:graphicData>
        </a:graphic>
      </p:graphicFrame>
      <p:cxnSp>
        <p:nvCxnSpPr>
          <p:cNvPr id="6" name="Straight Arrow Connector 9">
            <a:extLst>
              <a:ext uri="{FF2B5EF4-FFF2-40B4-BE49-F238E27FC236}">
                <a16:creationId xmlns="" xmlns:a16="http://schemas.microsoft.com/office/drawing/2014/main" id="{286FA37F-50CA-4BE7-B1CA-6D80C1423E65}"/>
              </a:ext>
            </a:extLst>
          </p:cNvPr>
          <p:cNvCxnSpPr>
            <a:cxnSpLocks noChangeShapeType="1"/>
          </p:cNvCxnSpPr>
          <p:nvPr/>
        </p:nvCxnSpPr>
        <p:spPr bwMode="auto">
          <a:xfrm>
            <a:off x="3714750" y="5148263"/>
            <a:ext cx="1666875" cy="142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 name="TextBox 10">
            <a:extLst>
              <a:ext uri="{FF2B5EF4-FFF2-40B4-BE49-F238E27FC236}">
                <a16:creationId xmlns="" xmlns:a16="http://schemas.microsoft.com/office/drawing/2014/main" id="{A1BC3430-42EC-467A-899A-37AA93B1A8FF}"/>
              </a:ext>
            </a:extLst>
          </p:cNvPr>
          <p:cNvSpPr txBox="1">
            <a:spLocks noChangeArrowheads="1"/>
          </p:cNvSpPr>
          <p:nvPr/>
        </p:nvSpPr>
        <p:spPr bwMode="auto">
          <a:xfrm>
            <a:off x="3810000" y="4886325"/>
            <a:ext cx="13573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t>Data Compaction</a:t>
            </a:r>
          </a:p>
        </p:txBody>
      </p:sp>
    </p:spTree>
    <p:extLst>
      <p:ext uri="{BB962C8B-B14F-4D97-AF65-F5344CB8AC3E}">
        <p14:creationId xmlns:p14="http://schemas.microsoft.com/office/powerpoint/2010/main" val="269127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defRPr/>
            </a:pPr>
            <a:r>
              <a:rPr lang="en-US" sz="2800" b="1" dirty="0">
                <a:solidFill>
                  <a:srgbClr val="FF0000"/>
                </a:solidFill>
                <a:latin typeface="Times New Roman" panose="02020603050405020304" pitchFamily="18" charset="0"/>
                <a:cs typeface="Times New Roman" panose="02020603050405020304" pitchFamily="18" charset="0"/>
              </a:rPr>
              <a:t>How much memory should be allocated for a process when it is swapped in?</a:t>
            </a:r>
          </a:p>
          <a:p>
            <a:pPr algn="just">
              <a:defRPr/>
            </a:pPr>
            <a:endParaRPr lang="en-US" sz="28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US" sz="2800" dirty="0">
                <a:latin typeface="Times New Roman" panose="02020603050405020304" pitchFamily="18" charset="0"/>
                <a:cs typeface="Times New Roman" panose="02020603050405020304" pitchFamily="18" charset="0"/>
              </a:rPr>
              <a:t>OS allocates exactly what is needed if process is of fixed size.</a:t>
            </a:r>
          </a:p>
          <a:p>
            <a:pPr algn="just">
              <a:defRPr/>
            </a:pPr>
            <a:endParaRPr lang="en-US" sz="2800" dirty="0">
              <a:latin typeface="Times New Roman" panose="02020603050405020304" pitchFamily="18" charset="0"/>
              <a:cs typeface="Times New Roman" panose="02020603050405020304" pitchFamily="18" charset="0"/>
            </a:endParaRPr>
          </a:p>
          <a:p>
            <a:pPr marL="168275" indent="-168275" algn="just">
              <a:buFont typeface="Wingdings" pitchFamily="2" charset="2"/>
              <a:buChar char="§"/>
              <a:defRPr/>
            </a:pPr>
            <a:r>
              <a:rPr lang="en-US" sz="2800" dirty="0">
                <a:latin typeface="Times New Roman" panose="02020603050405020304" pitchFamily="18" charset="0"/>
                <a:cs typeface="Times New Roman" panose="02020603050405020304" pitchFamily="18" charset="0"/>
              </a:rPr>
              <a:t>If a hole is adjacent to the process, it can be allocated and the process allowed to grow into the hole.</a:t>
            </a: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DATA COMPACTION</a:t>
            </a:r>
          </a:p>
        </p:txBody>
      </p:sp>
    </p:spTree>
    <p:extLst>
      <p:ext uri="{BB962C8B-B14F-4D97-AF65-F5344CB8AC3E}">
        <p14:creationId xmlns:p14="http://schemas.microsoft.com/office/powerpoint/2010/main" val="293343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nSpc>
                <a:spcPct val="150000"/>
              </a:lnSpc>
              <a:defRPr/>
            </a:pPr>
            <a:r>
              <a:rPr lang="en-US" sz="2400" b="1" dirty="0">
                <a:latin typeface="Times New Roman" panose="02020603050405020304" pitchFamily="18" charset="0"/>
                <a:cs typeface="Times New Roman" panose="02020603050405020304" pitchFamily="18" charset="0"/>
              </a:rPr>
              <a:t>What if the process is adjacent to another process ?</a:t>
            </a:r>
            <a:endParaRPr lang="en-US" sz="2400" dirty="0">
              <a:latin typeface="Times New Roman" panose="02020603050405020304" pitchFamily="18" charset="0"/>
              <a:cs typeface="Times New Roman" panose="02020603050405020304" pitchFamily="18" charset="0"/>
            </a:endParaRPr>
          </a:p>
          <a:p>
            <a:pPr marL="349250" indent="-349250" algn="just">
              <a:lnSpc>
                <a:spcPct val="150000"/>
              </a:lnSpc>
              <a:defRPr/>
            </a:pPr>
            <a:r>
              <a:rPr lang="en-US" sz="2400" dirty="0">
                <a:latin typeface="Times New Roman" panose="02020603050405020304" pitchFamily="18" charset="0"/>
                <a:cs typeface="Times New Roman" panose="02020603050405020304" pitchFamily="18" charset="0"/>
              </a:rPr>
              <a:t>The growing process will have to be moved to another  available hole large enough for it.</a:t>
            </a:r>
          </a:p>
          <a:p>
            <a:pPr marL="396875" indent="-396875" algn="just">
              <a:lnSpc>
                <a:spcPct val="150000"/>
              </a:lnSpc>
              <a:defRPr/>
            </a:pPr>
            <a:r>
              <a:rPr lang="en-US" sz="2400" dirty="0">
                <a:latin typeface="Times New Roman" panose="02020603050405020304" pitchFamily="18" charset="0"/>
                <a:cs typeface="Times New Roman" panose="02020603050405020304" pitchFamily="18" charset="0"/>
              </a:rPr>
              <a:t>One or more processes will have to be swapped out to create large enough hole.</a:t>
            </a:r>
          </a:p>
          <a:p>
            <a:pPr>
              <a:lnSpc>
                <a:spcPct val="150000"/>
              </a:lnSpc>
              <a:defRPr/>
            </a:pPr>
            <a:r>
              <a:rPr lang="en-US" sz="2400" b="1" dirty="0">
                <a:latin typeface="Times New Roman" panose="02020603050405020304" pitchFamily="18" charset="0"/>
                <a:cs typeface="Times New Roman" panose="02020603050405020304" pitchFamily="18" charset="0"/>
              </a:rPr>
              <a:t>What if a process cannot grow in memory and the swap area on the disk is full?</a:t>
            </a:r>
            <a:endParaRPr lang="en-US" sz="2400" dirty="0">
              <a:latin typeface="Times New Roman" panose="02020603050405020304" pitchFamily="18" charset="0"/>
              <a:cs typeface="Times New Roman" panose="02020603050405020304" pitchFamily="18" charset="0"/>
            </a:endParaRPr>
          </a:p>
          <a:p>
            <a:pPr>
              <a:lnSpc>
                <a:spcPct val="150000"/>
              </a:lnSpc>
              <a:defRPr/>
            </a:pPr>
            <a:r>
              <a:rPr lang="en-US" sz="2400" dirty="0">
                <a:latin typeface="Times New Roman" panose="02020603050405020304" pitchFamily="18" charset="0"/>
                <a:cs typeface="Times New Roman" panose="02020603050405020304" pitchFamily="18" charset="0"/>
              </a:rPr>
              <a:t>Process will have to wait.</a:t>
            </a:r>
          </a:p>
          <a:p>
            <a:pPr>
              <a:lnSpc>
                <a:spcPct val="150000"/>
              </a:lnSpc>
              <a:defRPr/>
            </a:pPr>
            <a:r>
              <a:rPr lang="en-US" sz="2400" dirty="0">
                <a:latin typeface="Times New Roman" panose="02020603050405020304" pitchFamily="18" charset="0"/>
                <a:cs typeface="Times New Roman" panose="02020603050405020304" pitchFamily="18" charset="0"/>
              </a:rPr>
              <a:t>killed</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DATA COMPACTION</a:t>
            </a:r>
          </a:p>
        </p:txBody>
      </p:sp>
    </p:spTree>
    <p:extLst>
      <p:ext uri="{BB962C8B-B14F-4D97-AF65-F5344CB8AC3E}">
        <p14:creationId xmlns:p14="http://schemas.microsoft.com/office/powerpoint/2010/main" val="77677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Muhammad Adnan Malik\Desktop\empty-fuel-gage.gif"/>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2790437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4121</TotalTime>
  <Words>1217</Words>
  <Application>Microsoft Office PowerPoint</Application>
  <PresentationFormat>On-screen Show (4:3)</PresentationFormat>
  <Paragraphs>270</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新細明體</vt:lpstr>
      <vt:lpstr>Times New Roman</vt:lpstr>
      <vt:lpstr>Wingdings</vt:lpstr>
      <vt:lpstr>Office Theme</vt:lpstr>
      <vt:lpstr>PowerPoint Presentation</vt:lpstr>
      <vt:lpstr>PowerPoint Presentation</vt:lpstr>
      <vt:lpstr>Safe and Unsafe State in Deadlock</vt:lpstr>
      <vt:lpstr>Safe and Unsafe State in Deadlock</vt:lpstr>
      <vt:lpstr>PowerPoint Presentation</vt:lpstr>
      <vt:lpstr>Banker’s Algorithm</vt:lpstr>
      <vt:lpstr>Banker’s Algorithm</vt:lpstr>
      <vt:lpstr>Banker’s Algorithm: Example</vt:lpstr>
      <vt:lpstr>Banker’s Algorithm: Example</vt:lpstr>
      <vt:lpstr>Banker’s Algorithm: Example</vt:lpstr>
      <vt:lpstr>Banker’s Algorithm: Example</vt:lpstr>
      <vt:lpstr>Banker’s Algorithm: Example</vt:lpstr>
      <vt:lpstr>Banker’s Algorithm: Example</vt:lpstr>
      <vt:lpstr>Banker’s Algorithm: Example</vt:lpstr>
      <vt:lpstr>Banker’s Algorithm: Example</vt:lpstr>
      <vt:lpstr>Banker’s Algorithm: Example</vt:lpstr>
      <vt:lpstr>Banker’s Algorithm: Example</vt:lpstr>
      <vt:lpstr>Memory management in Operating System</vt:lpstr>
      <vt:lpstr>Memory management in Operating System</vt:lpstr>
      <vt:lpstr>Memory management in Operating System: Main Memory</vt:lpstr>
      <vt:lpstr>Memory management in Operating System: How it is managed</vt:lpstr>
      <vt:lpstr>Memory management in Operating System: Address space</vt:lpstr>
      <vt:lpstr>Memory management in Operating System: Virtual Memory</vt:lpstr>
      <vt:lpstr>DATA COMPACTION</vt:lpstr>
      <vt:lpstr>DATA COMPACTION: RECALL</vt:lpstr>
      <vt:lpstr>DATA COMPACTION</vt:lpstr>
      <vt:lpstr>DATA COMPACTION</vt:lpstr>
      <vt:lpstr>DATA COMPACTION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ADDNAN</dc:creator>
  <cp:lastModifiedBy>Windows User</cp:lastModifiedBy>
  <cp:revision>199</cp:revision>
  <dcterms:created xsi:type="dcterms:W3CDTF">2006-08-16T00:00:00Z</dcterms:created>
  <dcterms:modified xsi:type="dcterms:W3CDTF">2019-07-14T17:35:44Z</dcterms:modified>
</cp:coreProperties>
</file>