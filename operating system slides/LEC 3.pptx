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371" r:id="rId3"/>
    <p:sldId id="372" r:id="rId4"/>
    <p:sldId id="373" r:id="rId5"/>
    <p:sldId id="374" r:id="rId6"/>
    <p:sldId id="375" r:id="rId7"/>
    <p:sldId id="384" r:id="rId8"/>
    <p:sldId id="382" r:id="rId9"/>
    <p:sldId id="387" r:id="rId10"/>
    <p:sldId id="383" r:id="rId11"/>
    <p:sldId id="381" r:id="rId12"/>
    <p:sldId id="376" r:id="rId13"/>
    <p:sldId id="377" r:id="rId14"/>
    <p:sldId id="378" r:id="rId15"/>
    <p:sldId id="403" r:id="rId16"/>
    <p:sldId id="405" r:id="rId17"/>
    <p:sldId id="385" r:id="rId18"/>
    <p:sldId id="386" r:id="rId19"/>
    <p:sldId id="388" r:id="rId20"/>
    <p:sldId id="389" r:id="rId21"/>
    <p:sldId id="390" r:id="rId22"/>
    <p:sldId id="391" r:id="rId23"/>
    <p:sldId id="392" r:id="rId24"/>
    <p:sldId id="393" r:id="rId25"/>
    <p:sldId id="406" r:id="rId26"/>
    <p:sldId id="407" r:id="rId27"/>
    <p:sldId id="408" r:id="rId28"/>
    <p:sldId id="410" r:id="rId29"/>
    <p:sldId id="394" r:id="rId30"/>
    <p:sldId id="395" r:id="rId31"/>
    <p:sldId id="398" r:id="rId32"/>
    <p:sldId id="409" r:id="rId33"/>
    <p:sldId id="397" r:id="rId34"/>
    <p:sldId id="399" r:id="rId35"/>
    <p:sldId id="400" r:id="rId36"/>
    <p:sldId id="401" r:id="rId37"/>
    <p:sldId id="402" r:id="rId38"/>
    <p:sldId id="35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660"/>
  </p:normalViewPr>
  <p:slideViewPr>
    <p:cSldViewPr>
      <p:cViewPr varScale="1">
        <p:scale>
          <a:sx n="48" d="100"/>
          <a:sy n="48" d="100"/>
        </p:scale>
        <p:origin x="546"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5BB1CA-D4D1-4052-BB55-2B7D3E8029F1}" type="datetimeFigureOut">
              <a:rPr lang="en-US" smtClean="0"/>
              <a:pPr/>
              <a:t>4/8/2019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5A5784-93A2-494A-AA95-91D34290EABC}" type="slidenum">
              <a:rPr lang="en-US" smtClean="0"/>
              <a:pPr/>
              <a:t>‹#›</a:t>
            </a:fld>
            <a:endParaRPr lang="en-US"/>
          </a:p>
        </p:txBody>
      </p:sp>
    </p:spTree>
    <p:extLst>
      <p:ext uri="{BB962C8B-B14F-4D97-AF65-F5344CB8AC3E}">
        <p14:creationId xmlns:p14="http://schemas.microsoft.com/office/powerpoint/2010/main" val="223650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838200"/>
          </a:xfrm>
        </p:spPr>
        <p:txBody>
          <a:bodyPr/>
          <a:lstStyle/>
          <a:p>
            <a:r>
              <a:rPr lang="en-US"/>
              <a:t>Click to edit Master title style</a:t>
            </a:r>
          </a:p>
        </p:txBody>
      </p:sp>
      <p:sp>
        <p:nvSpPr>
          <p:cNvPr id="3" name="Text Placeholder 2"/>
          <p:cNvSpPr>
            <a:spLocks noGrp="1"/>
          </p:cNvSpPr>
          <p:nvPr>
            <p:ph type="body" sz="half" idx="1"/>
          </p:nvPr>
        </p:nvSpPr>
        <p:spPr>
          <a:xfrm>
            <a:off x="457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057400"/>
            <a:ext cx="4038600" cy="4068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72D039A8-6B2D-46B2-9F06-B3F4BB0F330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863" y="42863"/>
            <a:ext cx="9066212" cy="6773862"/>
          </a:xfrm>
          <a:prstGeom prst="rect">
            <a:avLst/>
          </a:prstGeom>
          <a:solidFill>
            <a:srgbClr val="CC9900"/>
          </a:solidFill>
          <a:ln w="76200">
            <a:solidFill>
              <a:srgbClr val="006600"/>
            </a:solidFill>
            <a:miter lim="800000"/>
            <a:headEnd/>
            <a:tailEnd/>
          </a:ln>
        </p:spPr>
        <p:txBody>
          <a:bodyPr wrap="none" anchor="ctr"/>
          <a:lstStyle/>
          <a:p>
            <a:pPr algn="ctr"/>
            <a:endParaRPr lang="en-US" sz="2400"/>
          </a:p>
        </p:txBody>
      </p:sp>
      <p:pic>
        <p:nvPicPr>
          <p:cNvPr id="3075" name="Picture 3" descr="C:\My Pictures\surveyart.bmp"/>
          <p:cNvPicPr>
            <a:picLocks noChangeAspect="1" noChangeArrowheads="1"/>
          </p:cNvPicPr>
          <p:nvPr/>
        </p:nvPicPr>
        <p:blipFill>
          <a:blip r:embed="rId2"/>
          <a:srcRect/>
          <a:stretch>
            <a:fillRect/>
          </a:stretch>
        </p:blipFill>
        <p:spPr bwMode="auto">
          <a:xfrm>
            <a:off x="381000" y="304800"/>
            <a:ext cx="8382000" cy="6286500"/>
          </a:xfrm>
          <a:prstGeom prst="rect">
            <a:avLst/>
          </a:prstGeom>
          <a:noFill/>
          <a:ln w="9525">
            <a:noFill/>
            <a:miter lim="800000"/>
            <a:headEnd/>
            <a:tailEnd/>
          </a:ln>
        </p:spPr>
      </p:pic>
      <p:sp>
        <p:nvSpPr>
          <p:cNvPr id="24580" name="Text Box 4"/>
          <p:cNvSpPr txBox="1">
            <a:spLocks noChangeArrowheads="1"/>
          </p:cNvSpPr>
          <p:nvPr/>
        </p:nvSpPr>
        <p:spPr bwMode="auto">
          <a:xfrm>
            <a:off x="42863" y="920679"/>
            <a:ext cx="9058274" cy="1200329"/>
          </a:xfrm>
          <a:prstGeom prst="rect">
            <a:avLst/>
          </a:prstGeom>
          <a:noFill/>
          <a:ln w="9525">
            <a:noFill/>
            <a:miter lim="800000"/>
            <a:headEnd/>
            <a:tailEnd/>
          </a:ln>
          <a:effectLst>
            <a:outerShdw dist="63500" dir="2212194" algn="ctr" rotWithShape="0">
              <a:srgbClr val="663300"/>
            </a:outerShdw>
          </a:effectLst>
        </p:spPr>
        <p:txBody>
          <a:bodyPr wrap="square">
            <a:spAutoFit/>
          </a:bodyPr>
          <a:lstStyle/>
          <a:p>
            <a:pPr algn="ctr">
              <a:defRPr/>
            </a:pPr>
            <a:r>
              <a:rPr lang="en-US" sz="7200" b="1" dirty="0">
                <a:solidFill>
                  <a:schemeClr val="bg1"/>
                </a:solidFill>
              </a:rPr>
              <a:t>Operating Systems</a:t>
            </a:r>
          </a:p>
        </p:txBody>
      </p:sp>
      <p:sp>
        <p:nvSpPr>
          <p:cNvPr id="24582" name="AutoShape 6"/>
          <p:cNvSpPr>
            <a:spLocks noChangeArrowheads="1"/>
          </p:cNvSpPr>
          <p:nvPr/>
        </p:nvSpPr>
        <p:spPr bwMode="auto">
          <a:xfrm>
            <a:off x="1409700" y="2098699"/>
            <a:ext cx="6324600" cy="3456682"/>
          </a:xfrm>
          <a:prstGeom prst="flowChartDecision">
            <a:avLst/>
          </a:prstGeom>
          <a:solidFill>
            <a:schemeClr val="bg1"/>
          </a:solidFill>
          <a:ln w="76200">
            <a:solidFill>
              <a:srgbClr val="CC9900"/>
            </a:solidFill>
            <a:miter lim="800000"/>
            <a:headEnd/>
            <a:tailEnd/>
          </a:ln>
          <a:effectLst>
            <a:prstShdw prst="shdw17" dist="17961" dir="13500000">
              <a:schemeClr val="tx1"/>
            </a:prstShdw>
          </a:effectLst>
        </p:spPr>
        <p:txBody>
          <a:bodyPr wrap="none" anchor="ctr"/>
          <a:lstStyle/>
          <a:p>
            <a:pPr algn="ctr">
              <a:defRPr/>
            </a:pPr>
            <a:r>
              <a:rPr lang="en-US" sz="2400" b="1" i="1" dirty="0">
                <a:solidFill>
                  <a:srgbClr val="7030A0"/>
                </a:solidFill>
              </a:rPr>
              <a:t>Lecture#3</a:t>
            </a:r>
          </a:p>
          <a:p>
            <a:pPr algn="ctr">
              <a:defRPr/>
            </a:pPr>
            <a:r>
              <a:rPr lang="en-US" sz="2400" b="1" dirty="0">
                <a:solidFill>
                  <a:srgbClr val="7030A0"/>
                </a:solidFill>
              </a:rPr>
              <a:t>Types of processes,</a:t>
            </a:r>
          </a:p>
          <a:p>
            <a:pPr algn="ctr">
              <a:defRPr/>
            </a:pPr>
            <a:r>
              <a:rPr lang="en-US" sz="2400" b="1" dirty="0">
                <a:solidFill>
                  <a:srgbClr val="7030A0"/>
                </a:solidFill>
              </a:rPr>
              <a:t> System Calls,</a:t>
            </a:r>
          </a:p>
          <a:p>
            <a:pPr algn="ctr">
              <a:defRPr/>
            </a:pPr>
            <a:r>
              <a:rPr lang="en-US" sz="2400" b="1" dirty="0">
                <a:solidFill>
                  <a:srgbClr val="7030A0"/>
                </a:solidFill>
              </a:rPr>
              <a:t>Threads, Swapping, </a:t>
            </a:r>
          </a:p>
          <a:p>
            <a:pPr algn="ctr">
              <a:defRPr/>
            </a:pPr>
            <a:r>
              <a:rPr lang="en-US" sz="2400" b="1" dirty="0">
                <a:solidFill>
                  <a:srgbClr val="7030A0"/>
                </a:solidFill>
              </a:rPr>
              <a:t>Scheduling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4400" b="1" dirty="0">
                <a:solidFill>
                  <a:schemeClr val="accent3">
                    <a:lumMod val="75000"/>
                  </a:schemeClr>
                </a:solidFill>
                <a:latin typeface="Times New Roman" pitchFamily="18" charset="0"/>
              </a:rPr>
              <a:t>Types of Processes/Process Initialization</a:t>
            </a:r>
          </a:p>
        </p:txBody>
      </p:sp>
    </p:spTree>
    <p:extLst>
      <p:ext uri="{BB962C8B-B14F-4D97-AF65-F5344CB8AC3E}">
        <p14:creationId xmlns:p14="http://schemas.microsoft.com/office/powerpoint/2010/main" val="525997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marL="0" indent="0" algn="just">
              <a:lnSpc>
                <a:spcPct val="150000"/>
              </a:lnSpc>
              <a:buNone/>
            </a:pPr>
            <a:r>
              <a:rPr lang="en-US" b="1" dirty="0">
                <a:latin typeface="Times New Roman" pitchFamily="18" charset="0"/>
              </a:rPr>
              <a:t>Foreground processes</a:t>
            </a:r>
          </a:p>
          <a:p>
            <a:pPr algn="just">
              <a:lnSpc>
                <a:spcPct val="150000"/>
              </a:lnSpc>
            </a:pPr>
            <a:r>
              <a:rPr lang="en-US" sz="2800" b="1" dirty="0">
                <a:solidFill>
                  <a:srgbClr val="FF0000"/>
                </a:solidFill>
                <a:latin typeface="Times New Roman" pitchFamily="18" charset="0"/>
              </a:rPr>
              <a:t>Interact with users and perform work for them</a:t>
            </a:r>
          </a:p>
          <a:p>
            <a:pPr algn="just">
              <a:lnSpc>
                <a:spcPct val="150000"/>
              </a:lnSpc>
            </a:pPr>
            <a:r>
              <a:rPr lang="en-US" sz="2800" b="1" dirty="0">
                <a:solidFill>
                  <a:srgbClr val="FF0000"/>
                </a:solidFill>
                <a:latin typeface="Times New Roman" pitchFamily="18" charset="0"/>
              </a:rPr>
              <a:t>Application software have mostly foreground processes.</a:t>
            </a:r>
            <a:endParaRPr lang="en-US" b="1" dirty="0">
              <a:solidFill>
                <a:srgbClr val="FF0000"/>
              </a:solidFill>
              <a:latin typeface="Times New Roman" pitchFamily="18" charset="0"/>
            </a:endParaRPr>
          </a:p>
          <a:p>
            <a:pPr marL="0" indent="0" algn="just">
              <a:lnSpc>
                <a:spcPct val="150000"/>
              </a:lnSpc>
              <a:buNone/>
            </a:pPr>
            <a:r>
              <a:rPr lang="en-US" b="1" dirty="0">
                <a:latin typeface="Times New Roman" pitchFamily="18" charset="0"/>
              </a:rPr>
              <a:t>Background processes</a:t>
            </a:r>
          </a:p>
          <a:p>
            <a:pPr algn="just">
              <a:lnSpc>
                <a:spcPct val="150000"/>
              </a:lnSpc>
            </a:pPr>
            <a:r>
              <a:rPr lang="en-US" sz="2800" b="1" dirty="0">
                <a:solidFill>
                  <a:srgbClr val="FF0000"/>
                </a:solidFill>
                <a:latin typeface="Times New Roman" pitchFamily="18" charset="0"/>
              </a:rPr>
              <a:t>Don't directly interact with users but have some specific functions.</a:t>
            </a:r>
          </a:p>
          <a:p>
            <a:pPr algn="just">
              <a:lnSpc>
                <a:spcPct val="150000"/>
              </a:lnSpc>
            </a:pPr>
            <a:r>
              <a:rPr lang="en-US" sz="2800" b="1" dirty="0">
                <a:solidFill>
                  <a:srgbClr val="FF0000"/>
                </a:solidFill>
                <a:latin typeface="Times New Roman" pitchFamily="18" charset="0"/>
              </a:rPr>
              <a:t>Windows process are mostly background</a:t>
            </a:r>
            <a:endParaRPr lang="en-US" b="1" dirty="0">
              <a:solidFill>
                <a:srgbClr val="FF0000"/>
              </a:solidFill>
              <a:latin typeface="Times New Roman"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Types of Processes/Process Initialization</a:t>
            </a:r>
          </a:p>
        </p:txBody>
      </p:sp>
    </p:spTree>
    <p:extLst>
      <p:ext uri="{BB962C8B-B14F-4D97-AF65-F5344CB8AC3E}">
        <p14:creationId xmlns:p14="http://schemas.microsoft.com/office/powerpoint/2010/main" val="189844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858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Background Processes</a:t>
            </a:r>
          </a:p>
        </p:txBody>
      </p:sp>
      <p:pic>
        <p:nvPicPr>
          <p:cNvPr id="9" name="Content Placeholder 8">
            <a:extLst>
              <a:ext uri="{FF2B5EF4-FFF2-40B4-BE49-F238E27FC236}">
                <a16:creationId xmlns:a16="http://schemas.microsoft.com/office/drawing/2014/main" xmlns="" id="{6919666F-378D-4C39-87F5-DBE561786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0005" y="914400"/>
            <a:ext cx="6363990" cy="5867459"/>
          </a:xfrm>
        </p:spPr>
      </p:pic>
    </p:spTree>
    <p:extLst>
      <p:ext uri="{BB962C8B-B14F-4D97-AF65-F5344CB8AC3E}">
        <p14:creationId xmlns:p14="http://schemas.microsoft.com/office/powerpoint/2010/main" val="15207251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Foreground Processes</a:t>
            </a:r>
          </a:p>
        </p:txBody>
      </p:sp>
      <p:pic>
        <p:nvPicPr>
          <p:cNvPr id="5" name="Content Placeholder 4">
            <a:extLst>
              <a:ext uri="{FF2B5EF4-FFF2-40B4-BE49-F238E27FC236}">
                <a16:creationId xmlns:a16="http://schemas.microsoft.com/office/drawing/2014/main" xmlns="" id="{58DAD6D9-3329-48C3-9CFC-7431F9EA5C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0" y="762000"/>
            <a:ext cx="3569123" cy="6103034"/>
          </a:xfrm>
        </p:spPr>
      </p:pic>
    </p:spTree>
    <p:extLst>
      <p:ext uri="{BB962C8B-B14F-4D97-AF65-F5344CB8AC3E}">
        <p14:creationId xmlns:p14="http://schemas.microsoft.com/office/powerpoint/2010/main" val="2341481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marL="0" indent="0">
              <a:lnSpc>
                <a:spcPct val="150000"/>
              </a:lnSpc>
              <a:buNone/>
            </a:pPr>
            <a:r>
              <a:rPr lang="en-US" sz="2800" b="1" dirty="0">
                <a:latin typeface="Times New Roman" pitchFamily="18" charset="0"/>
                <a:cs typeface="Times New Roman" pitchFamily="18" charset="0"/>
              </a:rPr>
              <a:t>Program</a:t>
            </a:r>
          </a:p>
          <a:p>
            <a:pPr marL="0" indent="0">
              <a:lnSpc>
                <a:spcPct val="150000"/>
              </a:lnSpc>
              <a:buNone/>
            </a:pPr>
            <a:r>
              <a:rPr lang="en-US" sz="2800" b="1" dirty="0">
                <a:solidFill>
                  <a:srgbClr val="FF0000"/>
                </a:solidFill>
                <a:latin typeface="Times New Roman" pitchFamily="18" charset="0"/>
                <a:cs typeface="Times New Roman" pitchFamily="18" charset="0"/>
              </a:rPr>
              <a:t>A set of instruction to solve the problem.</a:t>
            </a:r>
          </a:p>
          <a:p>
            <a:pPr marL="0" indent="0">
              <a:lnSpc>
                <a:spcPct val="150000"/>
              </a:lnSpc>
              <a:buNone/>
            </a:pPr>
            <a:r>
              <a:rPr lang="en-US" sz="2800" b="1" dirty="0">
                <a:latin typeface="Times New Roman" pitchFamily="18" charset="0"/>
                <a:cs typeface="Times New Roman" pitchFamily="18" charset="0"/>
              </a:rPr>
              <a:t>Process</a:t>
            </a:r>
          </a:p>
          <a:p>
            <a:pPr marL="0" indent="0">
              <a:lnSpc>
                <a:spcPct val="150000"/>
              </a:lnSpc>
              <a:buNone/>
            </a:pPr>
            <a:r>
              <a:rPr lang="en-US" sz="2800" b="1" dirty="0">
                <a:solidFill>
                  <a:srgbClr val="FF0000"/>
                </a:solidFill>
                <a:latin typeface="Times New Roman" pitchFamily="18" charset="0"/>
                <a:cs typeface="Times New Roman" pitchFamily="18" charset="0"/>
              </a:rPr>
              <a:t>A program in execution.</a:t>
            </a:r>
          </a:p>
          <a:p>
            <a:pPr marL="0" indent="0">
              <a:lnSpc>
                <a:spcPct val="150000"/>
              </a:lnSpc>
              <a:buNone/>
            </a:pPr>
            <a:endParaRPr lang="en-US" sz="2800" b="1" dirty="0">
              <a:latin typeface="Times New Roman" pitchFamily="18" charset="0"/>
              <a:cs typeface="Times New Roman" pitchFamily="18" charset="0"/>
            </a:endParaRPr>
          </a:p>
          <a:p>
            <a:pPr marL="0" indent="0">
              <a:lnSpc>
                <a:spcPct val="150000"/>
              </a:lnSpc>
              <a:buNone/>
            </a:pPr>
            <a:r>
              <a:rPr lang="en-US" sz="2800" b="1" dirty="0">
                <a:latin typeface="Times New Roman" pitchFamily="18" charset="0"/>
                <a:cs typeface="Times New Roman" pitchFamily="18" charset="0"/>
              </a:rPr>
              <a:t>Examples?</a:t>
            </a:r>
          </a:p>
          <a:p>
            <a:pPr>
              <a:lnSpc>
                <a:spcPct val="150000"/>
              </a:lnSpc>
            </a:pPr>
            <a:r>
              <a:rPr lang="en-US" sz="2800" b="1" dirty="0">
                <a:latin typeface="Times New Roman" pitchFamily="18" charset="0"/>
                <a:cs typeface="Times New Roman" pitchFamily="18" charset="0"/>
              </a:rPr>
              <a:t>Food recipe is a program and making it is a process.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Difference between program and a Process</a:t>
            </a:r>
          </a:p>
        </p:txBody>
      </p:sp>
    </p:spTree>
    <p:extLst>
      <p:ext uri="{BB962C8B-B14F-4D97-AF65-F5344CB8AC3E}">
        <p14:creationId xmlns:p14="http://schemas.microsoft.com/office/powerpoint/2010/main" val="29437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5400" b="1" dirty="0">
                <a:solidFill>
                  <a:schemeClr val="accent3">
                    <a:lumMod val="75000"/>
                  </a:schemeClr>
                </a:solidFill>
                <a:latin typeface="Times New Roman" pitchFamily="18" charset="0"/>
              </a:rPr>
              <a:t>Kernel</a:t>
            </a:r>
          </a:p>
        </p:txBody>
      </p:sp>
    </p:spTree>
    <p:extLst>
      <p:ext uri="{BB962C8B-B14F-4D97-AF65-F5344CB8AC3E}">
        <p14:creationId xmlns:p14="http://schemas.microsoft.com/office/powerpoint/2010/main" val="37039873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algn="just">
              <a:lnSpc>
                <a:spcPct val="200000"/>
              </a:lnSpc>
            </a:pPr>
            <a:r>
              <a:rPr lang="en-US" sz="2800" b="1" u="sng" dirty="0">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The “kernel” is a computer program that is the core of a computer's operating system, with complete control over everything in the system.</a:t>
            </a:r>
            <a:endParaRPr lang="en-US" sz="2800" b="1" baseline="30000"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Kernel</a:t>
            </a:r>
          </a:p>
        </p:txBody>
      </p:sp>
    </p:spTree>
    <p:extLst>
      <p:ext uri="{BB962C8B-B14F-4D97-AF65-F5344CB8AC3E}">
        <p14:creationId xmlns:p14="http://schemas.microsoft.com/office/powerpoint/2010/main" val="124026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algn="just">
              <a:lnSpc>
                <a:spcPct val="150000"/>
              </a:lnSpc>
            </a:pPr>
            <a:r>
              <a:rPr lang="en-US" sz="2800" dirty="0">
                <a:latin typeface="Times New Roman" panose="02020603050405020304" pitchFamily="18" charset="0"/>
                <a:cs typeface="Times New Roman" panose="02020603050405020304" pitchFamily="18" charset="0"/>
              </a:rPr>
              <a:t> It is The portion of the operating system that includes the important system functions.</a:t>
            </a:r>
          </a:p>
          <a:p>
            <a:pPr algn="just">
              <a:lnSpc>
                <a:spcPct val="150000"/>
              </a:lnSpc>
            </a:pPr>
            <a:r>
              <a:rPr lang="en-US" sz="2800" dirty="0">
                <a:latin typeface="Times New Roman" panose="02020603050405020304" pitchFamily="18" charset="0"/>
                <a:cs typeface="Times New Roman" panose="02020603050405020304" pitchFamily="18" charset="0"/>
              </a:rPr>
              <a:t>It is the first program loaded on start-up. It handles the rest of start-up as well as input/output requests from software, translating them into data-processing instructions for the central processing unit.</a:t>
            </a:r>
          </a:p>
          <a:p>
            <a:pPr algn="just">
              <a:lnSpc>
                <a:spcPct val="150000"/>
              </a:lnSpc>
            </a:pPr>
            <a:r>
              <a:rPr lang="en-US" sz="2800" dirty="0">
                <a:latin typeface="Times New Roman" panose="02020603050405020304" pitchFamily="18" charset="0"/>
                <a:cs typeface="Times New Roman" panose="02020603050405020304" pitchFamily="18" charset="0"/>
              </a:rPr>
              <a:t>It handles memory and peripherals like keyboards, monitors, printers, and speakers.</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Kernel</a:t>
            </a:r>
          </a:p>
        </p:txBody>
      </p:sp>
    </p:spTree>
    <p:extLst>
      <p:ext uri="{BB962C8B-B14F-4D97-AF65-F5344CB8AC3E}">
        <p14:creationId xmlns:p14="http://schemas.microsoft.com/office/powerpoint/2010/main" val="3706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When a process makes requests of the kernel, it is called a system call.</a:t>
            </a:r>
          </a:p>
          <a:p>
            <a:pPr algn="just">
              <a:lnSpc>
                <a:spcPct val="150000"/>
              </a:lnSpc>
            </a:pPr>
            <a:r>
              <a:rPr lang="en-US" b="1" dirty="0">
                <a:latin typeface="Times New Roman" panose="02020603050405020304" pitchFamily="18" charset="0"/>
                <a:cs typeface="Times New Roman" panose="02020603050405020304" pitchFamily="18" charset="0"/>
              </a:rPr>
              <a:t>Kernel manages following main operations in an O.S:</a:t>
            </a:r>
          </a:p>
          <a:p>
            <a:pPr lvl="1">
              <a:lnSpc>
                <a:spcPct val="150000"/>
              </a:lnSpc>
            </a:pPr>
            <a:r>
              <a:rPr lang="en-US" b="1" dirty="0">
                <a:solidFill>
                  <a:srgbClr val="FF0000"/>
                </a:solidFill>
                <a:latin typeface="Times New Roman" panose="02020603050405020304" pitchFamily="18" charset="0"/>
                <a:cs typeface="Times New Roman" panose="02020603050405020304" pitchFamily="18" charset="0"/>
              </a:rPr>
              <a:t>Memory management</a:t>
            </a:r>
          </a:p>
          <a:p>
            <a:pPr lvl="1">
              <a:lnSpc>
                <a:spcPct val="150000"/>
              </a:lnSpc>
            </a:pPr>
            <a:r>
              <a:rPr lang="en-US" b="1" dirty="0">
                <a:solidFill>
                  <a:srgbClr val="FF0000"/>
                </a:solidFill>
                <a:latin typeface="Times New Roman" panose="02020603050405020304" pitchFamily="18" charset="0"/>
                <a:cs typeface="Times New Roman" panose="02020603050405020304" pitchFamily="18" charset="0"/>
              </a:rPr>
              <a:t>Device management </a:t>
            </a:r>
          </a:p>
          <a:p>
            <a:pPr lvl="1">
              <a:lnSpc>
                <a:spcPct val="150000"/>
              </a:lnSpc>
            </a:pPr>
            <a:r>
              <a:rPr lang="en-US" b="1" dirty="0">
                <a:solidFill>
                  <a:srgbClr val="FF0000"/>
                </a:solidFill>
                <a:latin typeface="Times New Roman" panose="02020603050405020304" pitchFamily="18" charset="0"/>
                <a:cs typeface="Times New Roman" panose="02020603050405020304" pitchFamily="18" charset="0"/>
              </a:rPr>
              <a:t>System calls</a:t>
            </a:r>
          </a:p>
          <a:p>
            <a:pPr lvl="1">
              <a:lnSpc>
                <a:spcPct val="150000"/>
              </a:lnSpc>
            </a:pPr>
            <a:r>
              <a:rPr lang="en-US" b="1" dirty="0">
                <a:solidFill>
                  <a:srgbClr val="FF0000"/>
                </a:solidFill>
                <a:latin typeface="Times New Roman" panose="02020603050405020304" pitchFamily="18" charset="0"/>
                <a:cs typeface="Times New Roman" panose="02020603050405020304" pitchFamily="18" charset="0"/>
              </a:rPr>
              <a:t>Process Management</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Important</a:t>
            </a:r>
          </a:p>
        </p:txBody>
      </p:sp>
    </p:spTree>
    <p:extLst>
      <p:ext uri="{BB962C8B-B14F-4D97-AF65-F5344CB8AC3E}">
        <p14:creationId xmlns:p14="http://schemas.microsoft.com/office/powerpoint/2010/main" val="43014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marL="0" indent="0" algn="just">
              <a:lnSpc>
                <a:spcPct val="150000"/>
              </a:lnSpc>
              <a:buNone/>
            </a:pPr>
            <a:endParaRPr lang="en-US" sz="2800" b="1"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Kernel</a:t>
            </a:r>
          </a:p>
        </p:txBody>
      </p:sp>
      <p:pic>
        <p:nvPicPr>
          <p:cNvPr id="1026" name="Picture 2" descr="https://upload.wikimedia.org/wikipedia/commons/thumb/8/8f/Kernel_Layout.svg/380px-Kernel_Layout.svg.png">
            <a:extLst>
              <a:ext uri="{FF2B5EF4-FFF2-40B4-BE49-F238E27FC236}">
                <a16:creationId xmlns:a16="http://schemas.microsoft.com/office/drawing/2014/main" xmlns="" id="{6CBA4D8C-05E4-43E0-93C8-2CE7392766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2057400"/>
            <a:ext cx="5619750" cy="4436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40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4400" b="1" dirty="0">
                <a:solidFill>
                  <a:schemeClr val="accent3">
                    <a:lumMod val="75000"/>
                  </a:schemeClr>
                </a:solidFill>
                <a:latin typeface="Times New Roman" pitchFamily="18" charset="0"/>
              </a:rPr>
              <a:t>System Calls</a:t>
            </a:r>
          </a:p>
        </p:txBody>
      </p:sp>
    </p:spTree>
    <p:extLst>
      <p:ext uri="{BB962C8B-B14F-4D97-AF65-F5344CB8AC3E}">
        <p14:creationId xmlns:p14="http://schemas.microsoft.com/office/powerpoint/2010/main" val="12918506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248400"/>
          </a:xfrm>
        </p:spPr>
        <p:txBody>
          <a:bodyPr>
            <a:noAutofit/>
          </a:bodyPr>
          <a:lstStyle/>
          <a:p>
            <a:pPr marL="0" indent="0" algn="just">
              <a:lnSpc>
                <a:spcPct val="150000"/>
              </a:lnSpc>
              <a:buNone/>
            </a:pPr>
            <a:r>
              <a:rPr lang="en-US" sz="2800" u="sng" dirty="0">
                <a:latin typeface="Times New Roman" pitchFamily="18" charset="0"/>
              </a:rPr>
              <a:t>Definition</a:t>
            </a:r>
            <a:r>
              <a:rPr lang="en-US" sz="2800" dirty="0">
                <a:latin typeface="Times New Roman" pitchFamily="18" charset="0"/>
              </a:rPr>
              <a:t>: </a:t>
            </a:r>
            <a:r>
              <a:rPr lang="en-US" sz="2800" b="1" dirty="0">
                <a:latin typeface="Times New Roman" pitchFamily="18" charset="0"/>
              </a:rPr>
              <a:t>A </a:t>
            </a:r>
            <a:r>
              <a:rPr lang="en-US" sz="2800" b="1" dirty="0">
                <a:solidFill>
                  <a:srgbClr val="FF0000"/>
                </a:solidFill>
                <a:latin typeface="Times New Roman" pitchFamily="18" charset="0"/>
              </a:rPr>
              <a:t>“System call” </a:t>
            </a:r>
            <a:r>
              <a:rPr lang="en-US" sz="2800" b="1" dirty="0">
                <a:latin typeface="Times New Roman" pitchFamily="18" charset="0"/>
              </a:rPr>
              <a:t>provides an interface between the “</a:t>
            </a:r>
            <a:r>
              <a:rPr lang="en-US" sz="2800" b="1" dirty="0">
                <a:solidFill>
                  <a:srgbClr val="FF0000"/>
                </a:solidFill>
                <a:latin typeface="Times New Roman" pitchFamily="18" charset="0"/>
              </a:rPr>
              <a:t>process</a:t>
            </a:r>
            <a:r>
              <a:rPr lang="en-US" sz="2800" b="1" dirty="0">
                <a:latin typeface="Times New Roman" pitchFamily="18" charset="0"/>
              </a:rPr>
              <a:t>” and the “</a:t>
            </a:r>
            <a:r>
              <a:rPr lang="en-US" sz="2800" b="1" dirty="0">
                <a:solidFill>
                  <a:srgbClr val="FF0000"/>
                </a:solidFill>
                <a:latin typeface="Times New Roman" pitchFamily="18" charset="0"/>
              </a:rPr>
              <a:t>operating system</a:t>
            </a:r>
            <a:r>
              <a:rPr lang="en-US" sz="2800" b="1" dirty="0">
                <a:latin typeface="Times New Roman" pitchFamily="18" charset="0"/>
              </a:rPr>
              <a:t>”.</a:t>
            </a:r>
            <a:endParaRPr lang="en-US" sz="2800" dirty="0">
              <a:latin typeface="Times New Roman" pitchFamily="18" charset="0"/>
            </a:endParaRPr>
          </a:p>
          <a:p>
            <a:pPr algn="just">
              <a:lnSpc>
                <a:spcPct val="150000"/>
              </a:lnSpc>
            </a:pPr>
            <a:r>
              <a:rPr lang="en-US" sz="2800" dirty="0">
                <a:latin typeface="Times New Roman" pitchFamily="18" charset="0"/>
              </a:rPr>
              <a:t>System calls </a:t>
            </a:r>
            <a:r>
              <a:rPr lang="en-US" sz="2800" dirty="0" smtClean="0">
                <a:latin typeface="Times New Roman" pitchFamily="18" charset="0"/>
              </a:rPr>
              <a:t>allow </a:t>
            </a:r>
            <a:r>
              <a:rPr lang="en-US" sz="2800" dirty="0">
                <a:latin typeface="Times New Roman" pitchFamily="18" charset="0"/>
              </a:rPr>
              <a:t>user-level processes to request some services from the operating system, which process itself is not allowed to do. </a:t>
            </a:r>
          </a:p>
          <a:p>
            <a:pPr algn="just">
              <a:lnSpc>
                <a:spcPct val="150000"/>
              </a:lnSpc>
            </a:pPr>
            <a:r>
              <a:rPr lang="en-US" sz="2800" dirty="0">
                <a:latin typeface="Times New Roman" panose="02020603050405020304" pitchFamily="18" charset="0"/>
                <a:cs typeface="Times New Roman" panose="02020603050405020304" pitchFamily="18" charset="0"/>
              </a:rPr>
              <a:t>When a process makes requests of the kernel, it is called a system call.</a:t>
            </a:r>
            <a:endParaRPr lang="en-US" sz="2800" dirty="0">
              <a:latin typeface="Times New Roman" pitchFamily="18" charset="0"/>
            </a:endParaRPr>
          </a:p>
          <a:p>
            <a:pPr algn="just">
              <a:lnSpc>
                <a:spcPct val="150000"/>
              </a:lnSpc>
            </a:pPr>
            <a:r>
              <a:rPr lang="en-US" sz="2800" dirty="0">
                <a:latin typeface="Times New Roman" pitchFamily="18" charset="0"/>
              </a:rPr>
              <a:t>For example deleting a “system file” need administrative permission because it cannot be deleted directly.</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762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System Call</a:t>
            </a:r>
          </a:p>
        </p:txBody>
      </p:sp>
    </p:spTree>
    <p:extLst>
      <p:ext uri="{BB962C8B-B14F-4D97-AF65-F5344CB8AC3E}">
        <p14:creationId xmlns:p14="http://schemas.microsoft.com/office/powerpoint/2010/main" val="356266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5983560"/>
          </a:xfrm>
        </p:spPr>
        <p:txBody>
          <a:bodyPr>
            <a:noAutofit/>
          </a:bodyPr>
          <a:lstStyle/>
          <a:p>
            <a:pPr algn="just"/>
            <a:r>
              <a:rPr lang="en-US" sz="2800" dirty="0">
                <a:latin typeface="Times New Roman" pitchFamily="18" charset="0"/>
              </a:rPr>
              <a:t>For example deleting or copying a file in windows drive need administrative permission because it cannot be deleted or copied directly can be thought to understand system call.</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858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System Call: An Example</a:t>
            </a:r>
          </a:p>
        </p:txBody>
      </p:sp>
      <p:pic>
        <p:nvPicPr>
          <p:cNvPr id="4" name="Picture 3">
            <a:extLst>
              <a:ext uri="{FF2B5EF4-FFF2-40B4-BE49-F238E27FC236}">
                <a16:creationId xmlns:a16="http://schemas.microsoft.com/office/drawing/2014/main" xmlns="" id="{F2C97827-A697-49CC-9DCE-E646A07F3F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057401"/>
            <a:ext cx="6110287" cy="4611960"/>
          </a:xfrm>
          <a:prstGeom prst="rect">
            <a:avLst/>
          </a:prstGeom>
        </p:spPr>
      </p:pic>
    </p:spTree>
    <p:extLst>
      <p:ext uri="{BB962C8B-B14F-4D97-AF65-F5344CB8AC3E}">
        <p14:creationId xmlns:p14="http://schemas.microsoft.com/office/powerpoint/2010/main" val="363061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5983560"/>
          </a:xfrm>
        </p:spPr>
        <p:txBody>
          <a:bodyPr>
            <a:noAutofit/>
          </a:bodyPr>
          <a:lstStyle/>
          <a:p>
            <a:pPr algn="just"/>
            <a:r>
              <a:rPr lang="en-US" sz="2800" dirty="0"/>
              <a:t> All programs needing resources must use system calls</a:t>
            </a:r>
            <a:r>
              <a:rPr lang="en-US" sz="2800" dirty="0" smtClean="0"/>
              <a:t>.</a:t>
            </a:r>
          </a:p>
          <a:p>
            <a:pPr algn="just"/>
            <a:endParaRPr lang="en-US" sz="2800" b="1" dirty="0" smtClean="0">
              <a:latin typeface="Times New Roman" pitchFamily="18" charset="0"/>
            </a:endParaRPr>
          </a:p>
          <a:p>
            <a:pPr algn="just"/>
            <a:r>
              <a:rPr lang="en-US" sz="2800" b="1" dirty="0" smtClean="0">
                <a:latin typeface="Times New Roman" pitchFamily="18" charset="0"/>
              </a:rPr>
              <a:t>Services </a:t>
            </a:r>
            <a:r>
              <a:rPr lang="en-US" sz="2800" b="1" dirty="0">
                <a:latin typeface="Times New Roman" pitchFamily="18" charset="0"/>
              </a:rPr>
              <a:t>Provided by System Calls :</a:t>
            </a:r>
          </a:p>
          <a:p>
            <a:pPr algn="just"/>
            <a:endParaRPr lang="en-US" sz="2800" dirty="0">
              <a:latin typeface="Times New Roman" pitchFamily="18" charset="0"/>
            </a:endParaRPr>
          </a:p>
          <a:p>
            <a:pPr lvl="1" algn="just"/>
            <a:r>
              <a:rPr lang="en-US" sz="2400" dirty="0">
                <a:latin typeface="Times New Roman" pitchFamily="18" charset="0"/>
              </a:rPr>
              <a:t>Process creation and management</a:t>
            </a:r>
          </a:p>
          <a:p>
            <a:pPr lvl="1" algn="just"/>
            <a:r>
              <a:rPr lang="en-US" sz="2400" dirty="0">
                <a:latin typeface="Times New Roman" pitchFamily="18" charset="0"/>
              </a:rPr>
              <a:t>Main memory management</a:t>
            </a:r>
          </a:p>
          <a:p>
            <a:pPr lvl="1" algn="just"/>
            <a:r>
              <a:rPr lang="en-US" sz="2400" dirty="0">
                <a:latin typeface="Times New Roman" pitchFamily="18" charset="0"/>
              </a:rPr>
              <a:t>File Access, Directory and File system management</a:t>
            </a:r>
          </a:p>
          <a:p>
            <a:pPr lvl="1" algn="just"/>
            <a:r>
              <a:rPr lang="en-US" sz="2400" dirty="0">
                <a:latin typeface="Times New Roman" pitchFamily="18" charset="0"/>
              </a:rPr>
              <a:t>Device handling(I/O)</a:t>
            </a:r>
          </a:p>
          <a:p>
            <a:pPr lvl="1" algn="just"/>
            <a:r>
              <a:rPr lang="en-US" sz="2400" dirty="0">
                <a:latin typeface="Times New Roman" pitchFamily="18" charset="0"/>
              </a:rPr>
              <a:t>Protection</a:t>
            </a:r>
          </a:p>
          <a:p>
            <a:pPr lvl="1" algn="just"/>
            <a:r>
              <a:rPr lang="en-US" sz="2400" dirty="0">
                <a:latin typeface="Times New Roman" pitchFamily="18" charset="0"/>
              </a:rPr>
              <a:t>Networking, etc.</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858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System Call: </a:t>
            </a:r>
            <a:r>
              <a:rPr lang="en-US" sz="3600" b="1" dirty="0" smtClean="0">
                <a:solidFill>
                  <a:schemeClr val="accent3">
                    <a:lumMod val="75000"/>
                  </a:schemeClr>
                </a:solidFill>
                <a:latin typeface="Times New Roman" pitchFamily="18" charset="0"/>
              </a:rPr>
              <a:t>Services</a:t>
            </a:r>
            <a:endParaRPr lang="en-US" sz="36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1021198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9144000" cy="5983560"/>
          </a:xfrm>
        </p:spPr>
        <p:txBody>
          <a:bodyPr>
            <a:noAutofit/>
          </a:bodyPr>
          <a:lstStyle/>
          <a:p>
            <a:pPr fontAlgn="base"/>
            <a:r>
              <a:rPr lang="en-US" dirty="0"/>
              <a:t>There are 5 different categories of system calls –</a:t>
            </a:r>
          </a:p>
          <a:p>
            <a:pPr lvl="1" fontAlgn="base"/>
            <a:r>
              <a:rPr lang="en-US" b="1" dirty="0"/>
              <a:t>Process control:</a:t>
            </a:r>
            <a:r>
              <a:rPr lang="en-US" dirty="0"/>
              <a:t> end, abort, create, terminate, allocate and free memory.</a:t>
            </a:r>
          </a:p>
          <a:p>
            <a:pPr lvl="1" fontAlgn="base"/>
            <a:r>
              <a:rPr lang="en-US" b="1" dirty="0"/>
              <a:t>File management:</a:t>
            </a:r>
            <a:r>
              <a:rPr lang="en-US" dirty="0"/>
              <a:t> create, open, close, delete, read file etc.</a:t>
            </a:r>
          </a:p>
          <a:p>
            <a:pPr lvl="1" fontAlgn="base"/>
            <a:r>
              <a:rPr lang="en-US" dirty="0"/>
              <a:t>Device management</a:t>
            </a:r>
          </a:p>
          <a:p>
            <a:pPr lvl="1" fontAlgn="base"/>
            <a:r>
              <a:rPr lang="en-US" dirty="0"/>
              <a:t>Information maintenance</a:t>
            </a:r>
          </a:p>
          <a:p>
            <a:pPr lvl="1" fontAlgn="base"/>
            <a:r>
              <a:rPr lang="en-US" dirty="0" smtClean="0"/>
              <a:t>Communication</a:t>
            </a:r>
            <a:endParaRPr lang="en-US" dirty="0"/>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858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System Call: Types of System Calls</a:t>
            </a:r>
          </a:p>
        </p:txBody>
      </p:sp>
    </p:spTree>
    <p:extLst>
      <p:ext uri="{BB962C8B-B14F-4D97-AF65-F5344CB8AC3E}">
        <p14:creationId xmlns:p14="http://schemas.microsoft.com/office/powerpoint/2010/main" val="86098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400" b="1" dirty="0">
                <a:solidFill>
                  <a:srgbClr val="FF0000"/>
                </a:solidFill>
                <a:latin typeface="Times New Roman" panose="02020603050405020304" pitchFamily="18" charset="0"/>
                <a:cs typeface="Times New Roman" panose="02020603050405020304" pitchFamily="18" charset="0"/>
              </a:rPr>
              <a:t>Process management Techniques In An O.S</a:t>
            </a:r>
          </a:p>
          <a:p>
            <a:pPr algn="ctr">
              <a:spcBef>
                <a:spcPct val="50000"/>
              </a:spcBef>
              <a:defRPr/>
            </a:pPr>
            <a:endParaRPr lang="en-US" sz="44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25808547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marL="0" indent="0" algn="just">
              <a:lnSpc>
                <a:spcPct val="200000"/>
              </a:lnSpc>
              <a:buNone/>
            </a:pPr>
            <a:r>
              <a:rPr lang="en-US" sz="2800" dirty="0">
                <a:latin typeface="Times New Roman" panose="02020603050405020304" pitchFamily="18" charset="0"/>
                <a:cs typeface="Times New Roman" panose="02020603050405020304" pitchFamily="18" charset="0"/>
              </a:rPr>
              <a:t>In the lectures to follow, we will look into following main concepts related to process management in an O.S:</a:t>
            </a:r>
          </a:p>
          <a:p>
            <a:pPr>
              <a:lnSpc>
                <a:spcPct val="200000"/>
              </a:lnSpc>
              <a:buClr>
                <a:schemeClr val="tx1"/>
              </a:buClr>
              <a:buFont typeface="Wingdings" pitchFamily="2" charset="2"/>
              <a:buAutoNum type="arabicPeriod"/>
            </a:pPr>
            <a:r>
              <a:rPr lang="en-US" sz="2800" b="1" i="1" dirty="0">
                <a:latin typeface="Times New Roman" panose="02020603050405020304" pitchFamily="18" charset="0"/>
                <a:cs typeface="Times New Roman" panose="02020603050405020304" pitchFamily="18" charset="0"/>
              </a:rPr>
              <a:t>Threads</a:t>
            </a:r>
          </a:p>
          <a:p>
            <a:pPr>
              <a:lnSpc>
                <a:spcPct val="200000"/>
              </a:lnSpc>
              <a:buClr>
                <a:schemeClr val="tx1"/>
              </a:buClr>
              <a:buFont typeface="Wingdings" pitchFamily="2" charset="2"/>
              <a:buAutoNum type="arabicPeriod"/>
            </a:pPr>
            <a:r>
              <a:rPr lang="en-US" sz="2800" b="1" i="1" dirty="0">
                <a:latin typeface="Times New Roman" panose="02020603050405020304" pitchFamily="18" charset="0"/>
                <a:cs typeface="Times New Roman" panose="02020603050405020304" pitchFamily="18" charset="0"/>
              </a:rPr>
              <a:t>Swapping</a:t>
            </a:r>
          </a:p>
          <a:p>
            <a:pPr>
              <a:lnSpc>
                <a:spcPct val="200000"/>
              </a:lnSpc>
              <a:buClr>
                <a:schemeClr val="tx1"/>
              </a:buClr>
              <a:buFont typeface="Wingdings" pitchFamily="2" charset="2"/>
              <a:buAutoNum type="arabicPeriod"/>
            </a:pPr>
            <a:r>
              <a:rPr lang="en-US" sz="2800" b="1" i="1" dirty="0">
                <a:latin typeface="Times New Roman" panose="02020603050405020304" pitchFamily="18" charset="0"/>
                <a:cs typeface="Times New Roman" panose="02020603050405020304" pitchFamily="18" charset="0"/>
              </a:rPr>
              <a:t>Scheduling</a:t>
            </a:r>
          </a:p>
          <a:p>
            <a:pPr marL="0" indent="0" algn="just">
              <a:lnSpc>
                <a:spcPct val="150000"/>
              </a:lnSpc>
              <a:buNone/>
            </a:pPr>
            <a:endParaRPr lang="en-US" sz="28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anose="02020603050405020304" pitchFamily="18" charset="0"/>
                <a:cs typeface="Times New Roman" panose="02020603050405020304" pitchFamily="18" charset="0"/>
              </a:rPr>
              <a:t>Process management Techniques in O.S</a:t>
            </a:r>
            <a:endParaRPr lang="en-US" sz="36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219226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4800" b="1" dirty="0">
                <a:solidFill>
                  <a:schemeClr val="accent3">
                    <a:lumMod val="75000"/>
                  </a:schemeClr>
                </a:solidFill>
                <a:latin typeface="Times New Roman" pitchFamily="18" charset="0"/>
              </a:rPr>
              <a:t>Threads</a:t>
            </a:r>
          </a:p>
        </p:txBody>
      </p:sp>
    </p:spTree>
    <p:extLst>
      <p:ext uri="{BB962C8B-B14F-4D97-AF65-F5344CB8AC3E}">
        <p14:creationId xmlns:p14="http://schemas.microsoft.com/office/powerpoint/2010/main" val="28077467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9144000" cy="5754960"/>
          </a:xfrm>
        </p:spPr>
        <p:txBody>
          <a:bodyPr>
            <a:noAutofit/>
          </a:bodyPr>
          <a:lstStyle/>
          <a:p>
            <a:pPr algn="just">
              <a:lnSpc>
                <a:spcPct val="150000"/>
              </a:lnSpc>
            </a:pPr>
            <a:r>
              <a:rPr lang="en-US" sz="2800" b="1" u="sng" dirty="0">
                <a:solidFill>
                  <a:srgbClr val="FF0000"/>
                </a:solidFill>
                <a:latin typeface="Times New Roman" panose="02020603050405020304" pitchFamily="18" charset="0"/>
                <a:cs typeface="Times New Roman" panose="02020603050405020304" pitchFamily="18" charset="0"/>
              </a:rPr>
              <a:t>Definition</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 </a:t>
            </a:r>
            <a:r>
              <a:rPr lang="en-US" sz="2800" b="1" dirty="0">
                <a:solidFill>
                  <a:srgbClr val="FF0000"/>
                </a:solidFill>
                <a:latin typeface="Times New Roman" panose="02020603050405020304" pitchFamily="18" charset="0"/>
                <a:cs typeface="Times New Roman" panose="02020603050405020304" pitchFamily="18" charset="0"/>
              </a:rPr>
              <a:t>thread</a:t>
            </a:r>
            <a:r>
              <a:rPr lang="en-US" sz="2800" b="1" dirty="0">
                <a:latin typeface="Times New Roman" panose="02020603050405020304" pitchFamily="18" charset="0"/>
                <a:cs typeface="Times New Roman" panose="02020603050405020304" pitchFamily="18" charset="0"/>
              </a:rPr>
              <a:t> is a method used by an operating system in which a single process is broken into other small individual processes.</a:t>
            </a:r>
          </a:p>
          <a:p>
            <a:pPr algn="just">
              <a:lnSpc>
                <a:spcPct val="150000"/>
              </a:lnSpc>
            </a:pPr>
            <a:r>
              <a:rPr lang="en-US" sz="2800" b="1" dirty="0">
                <a:latin typeface="Times New Roman" panose="02020603050405020304" pitchFamily="18" charset="0"/>
                <a:cs typeface="Times New Roman" panose="02020603050405020304" pitchFamily="18" charset="0"/>
              </a:rPr>
              <a:t>Each small individual process is also a thread and it belongs to same single process and is handled independently by O.S.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1430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Threads</a:t>
            </a:r>
          </a:p>
        </p:txBody>
      </p:sp>
    </p:spTree>
    <p:extLst>
      <p:ext uri="{BB962C8B-B14F-4D97-AF65-F5344CB8AC3E}">
        <p14:creationId xmlns:p14="http://schemas.microsoft.com/office/powerpoint/2010/main" val="195545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9144000" cy="6288360"/>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Each thread belongs to exactly one process and no thread can exist outside a process to which it belongs.</a:t>
            </a:r>
          </a:p>
          <a:p>
            <a:pPr algn="just">
              <a:lnSpc>
                <a:spcPct val="150000"/>
              </a:lnSpc>
            </a:pPr>
            <a:r>
              <a:rPr lang="en-US" sz="2400" dirty="0">
                <a:latin typeface="Times New Roman" panose="02020603050405020304" pitchFamily="18" charset="0"/>
                <a:cs typeface="Times New Roman" panose="02020603050405020304" pitchFamily="18" charset="0"/>
              </a:rPr>
              <a:t>Threads provide a way to improve application performance through parallelism</a:t>
            </a:r>
            <a:r>
              <a:rPr lang="en-US" sz="2400" dirty="0" smtClean="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A thread is a single sequence stream within in a process.</a:t>
            </a:r>
          </a:p>
          <a:p>
            <a:pPr algn="just">
              <a:lnSpc>
                <a:spcPct val="150000"/>
              </a:lnSpc>
            </a:pPr>
            <a:endParaRPr lang="en-US" sz="2400" b="1" baseline="300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Threads</a:t>
            </a:r>
          </a:p>
        </p:txBody>
      </p:sp>
      <p:pic>
        <p:nvPicPr>
          <p:cNvPr id="2050" name="Picture 2" descr="Image result">
            <a:extLst>
              <a:ext uri="{FF2B5EF4-FFF2-40B4-BE49-F238E27FC236}">
                <a16:creationId xmlns:a16="http://schemas.microsoft.com/office/drawing/2014/main" xmlns="" id="{7962157F-96C3-45D2-9D99-D18C72A38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7539" y="3304715"/>
            <a:ext cx="5531461" cy="3384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937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50"/>
                                        </p:tgtEl>
                                        <p:attrNameLst>
                                          <p:attrName>style.visibility</p:attrName>
                                        </p:attrNameLst>
                                      </p:cBhvr>
                                      <p:to>
                                        <p:strVal val="visible"/>
                                      </p:to>
                                    </p:set>
                                    <p:anim calcmode="lin" valueType="num">
                                      <p:cBhvr additive="base">
                                        <p:cTn id="25" dur="500" fill="hold"/>
                                        <p:tgtEl>
                                          <p:spTgt spid="2050"/>
                                        </p:tgtEl>
                                        <p:attrNameLst>
                                          <p:attrName>ppt_x</p:attrName>
                                        </p:attrNameLst>
                                      </p:cBhvr>
                                      <p:tavLst>
                                        <p:tav tm="0">
                                          <p:val>
                                            <p:strVal val="#ppt_x"/>
                                          </p:val>
                                        </p:tav>
                                        <p:tav tm="100000">
                                          <p:val>
                                            <p:strVal val="#ppt_x"/>
                                          </p:val>
                                        </p:tav>
                                      </p:tavLst>
                                    </p:anim>
                                    <p:anim calcmode="lin" valueType="num">
                                      <p:cBhvr additive="base">
                                        <p:cTn id="26"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457200" indent="-457200">
              <a:lnSpc>
                <a:spcPct val="200000"/>
              </a:lnSpc>
              <a:buFont typeface="Arial" pitchFamily="34" charset="0"/>
              <a:buAutoNum type="arabicPeriod"/>
            </a:pPr>
            <a:r>
              <a:rPr lang="en-US" sz="2800" dirty="0">
                <a:latin typeface="Times New Roman" pitchFamily="18" charset="0"/>
                <a:cs typeface="Times New Roman" pitchFamily="18" charset="0"/>
              </a:rPr>
              <a:t>Handle multiple activities in many applications.</a:t>
            </a:r>
          </a:p>
          <a:p>
            <a:pPr marL="457200" indent="-457200">
              <a:lnSpc>
                <a:spcPct val="200000"/>
              </a:lnSpc>
              <a:buFont typeface="Arial" pitchFamily="34" charset="0"/>
              <a:buAutoNum type="arabicPeriod"/>
            </a:pPr>
            <a:r>
              <a:rPr lang="en-US" sz="2800" dirty="0" smtClean="0">
                <a:latin typeface="Times New Roman" pitchFamily="18" charset="0"/>
                <a:cs typeface="Times New Roman" pitchFamily="18" charset="0"/>
              </a:rPr>
              <a:t>Threads </a:t>
            </a:r>
            <a:r>
              <a:rPr lang="en-US" sz="2800" dirty="0">
                <a:latin typeface="Times New Roman" pitchFamily="18" charset="0"/>
                <a:cs typeface="Times New Roman" pitchFamily="18" charset="0"/>
              </a:rPr>
              <a:t>are easier to create and destroy.</a:t>
            </a:r>
          </a:p>
          <a:p>
            <a:pPr marL="457200" indent="-457200">
              <a:lnSpc>
                <a:spcPct val="200000"/>
              </a:lnSpc>
              <a:buFont typeface="Arial" pitchFamily="34" charset="0"/>
              <a:buAutoNum type="arabicPeriod"/>
            </a:pPr>
            <a:r>
              <a:rPr lang="en-US" sz="2800" dirty="0">
                <a:latin typeface="Times New Roman" pitchFamily="18" charset="0"/>
                <a:cs typeface="Times New Roman" pitchFamily="18" charset="0"/>
              </a:rPr>
              <a:t>Performance is fast</a:t>
            </a:r>
          </a:p>
          <a:p>
            <a:pPr marL="457200" indent="-457200">
              <a:lnSpc>
                <a:spcPct val="200000"/>
              </a:lnSpc>
              <a:buFont typeface="Arial" pitchFamily="34" charset="0"/>
              <a:buAutoNum type="arabicPeriod"/>
            </a:pPr>
            <a:r>
              <a:rPr lang="en-US" sz="2800" dirty="0">
                <a:latin typeface="Times New Roman" pitchFamily="18" charset="0"/>
                <a:cs typeface="Times New Roman" pitchFamily="18" charset="0"/>
              </a:rPr>
              <a:t>Useful on systems with multiple CPU’s.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Advantages of Threads</a:t>
            </a:r>
          </a:p>
        </p:txBody>
      </p:sp>
    </p:spTree>
    <p:extLst>
      <p:ext uri="{BB962C8B-B14F-4D97-AF65-F5344CB8AC3E}">
        <p14:creationId xmlns:p14="http://schemas.microsoft.com/office/powerpoint/2010/main" val="329135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nSpc>
                <a:spcPct val="150000"/>
              </a:lnSpc>
              <a:buNone/>
            </a:pPr>
            <a:r>
              <a:rPr lang="en-US" sz="2800" dirty="0">
                <a:latin typeface="Times New Roman" pitchFamily="18" charset="0"/>
                <a:cs typeface="Times New Roman" pitchFamily="18" charset="0"/>
              </a:rPr>
              <a:t>Working on a document in M.S Word:</a:t>
            </a:r>
          </a:p>
          <a:p>
            <a:pPr marL="742950" indent="-742950">
              <a:lnSpc>
                <a:spcPct val="150000"/>
              </a:lnSpc>
              <a:buFont typeface="Arial" pitchFamily="34" charset="0"/>
              <a:buAutoNum type="arabicPeriod"/>
            </a:pPr>
            <a:r>
              <a:rPr lang="en-US" sz="2800" dirty="0">
                <a:latin typeface="Times New Roman" pitchFamily="18" charset="0"/>
                <a:cs typeface="Times New Roman" pitchFamily="18" charset="0"/>
              </a:rPr>
              <a:t>The first thread interacts with the user.</a:t>
            </a:r>
          </a:p>
          <a:p>
            <a:pPr marL="742950" indent="-742950">
              <a:lnSpc>
                <a:spcPct val="150000"/>
              </a:lnSpc>
              <a:buFont typeface="Arial" pitchFamily="34" charset="0"/>
              <a:buAutoNum type="arabicPeriod"/>
            </a:pPr>
            <a:r>
              <a:rPr lang="en-US" sz="2800" dirty="0">
                <a:latin typeface="Times New Roman" pitchFamily="18" charset="0"/>
                <a:cs typeface="Times New Roman" pitchFamily="18" charset="0"/>
              </a:rPr>
              <a:t>The second thread reformates the document.</a:t>
            </a:r>
          </a:p>
          <a:p>
            <a:pPr marL="742950" indent="-742950">
              <a:lnSpc>
                <a:spcPct val="150000"/>
              </a:lnSpc>
              <a:buFont typeface="Arial" pitchFamily="34" charset="0"/>
              <a:buAutoNum type="arabicPeriod"/>
            </a:pPr>
            <a:r>
              <a:rPr lang="en-US" sz="2800" dirty="0">
                <a:latin typeface="Times New Roman" pitchFamily="18" charset="0"/>
                <a:cs typeface="Times New Roman" pitchFamily="18" charset="0"/>
              </a:rPr>
              <a:t>The third thread writes the contents of word on the RAM to the disk.</a:t>
            </a:r>
          </a:p>
          <a:p>
            <a:pPr marL="0" indent="0">
              <a:lnSpc>
                <a:spcPct val="150000"/>
              </a:lnSpc>
              <a:buNone/>
            </a:pPr>
            <a:endParaRPr lang="en-US" sz="2800" dirty="0">
              <a:latin typeface="Times New Roman" pitchFamily="18" charset="0"/>
              <a:cs typeface="Times New Roman" pitchFamily="18" charset="0"/>
            </a:endParaRPr>
          </a:p>
          <a:p>
            <a:pPr marL="0" indent="0">
              <a:lnSpc>
                <a:spcPct val="150000"/>
              </a:lnSpc>
              <a:buNone/>
            </a:pPr>
            <a:r>
              <a:rPr lang="en-US" sz="2800" dirty="0">
                <a:latin typeface="Times New Roman" pitchFamily="18" charset="0"/>
                <a:cs typeface="Times New Roman" pitchFamily="18" charset="0"/>
              </a:rPr>
              <a:t>Any other examples?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Threads: An example</a:t>
            </a:r>
          </a:p>
        </p:txBody>
      </p:sp>
    </p:spTree>
    <p:extLst>
      <p:ext uri="{BB962C8B-B14F-4D97-AF65-F5344CB8AC3E}">
        <p14:creationId xmlns:p14="http://schemas.microsoft.com/office/powerpoint/2010/main" val="186554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sz="2800" b="1" dirty="0">
                <a:latin typeface="Times New Roman" pitchFamily="18" charset="0"/>
                <a:cs typeface="Times New Roman" pitchFamily="18" charset="0"/>
              </a:rPr>
              <a:t>Single threading: </a:t>
            </a:r>
            <a:r>
              <a:rPr lang="en-US" sz="2800" dirty="0">
                <a:latin typeface="Times New Roman" pitchFamily="18" charset="0"/>
                <a:cs typeface="Times New Roman" pitchFamily="18" charset="0"/>
              </a:rPr>
              <a:t>The ability of an OS to support one thread per process.</a:t>
            </a:r>
          </a:p>
          <a:p>
            <a:pPr marL="0" indent="0" algn="just">
              <a:lnSpc>
                <a:spcPct val="150000"/>
              </a:lnSpc>
              <a:buNone/>
            </a:pPr>
            <a:r>
              <a:rPr lang="en-US" sz="2800" b="1" dirty="0">
                <a:latin typeface="Times New Roman" pitchFamily="18" charset="0"/>
                <a:cs typeface="Times New Roman" pitchFamily="18" charset="0"/>
              </a:rPr>
              <a:t>Multithreading</a:t>
            </a:r>
            <a:r>
              <a:rPr lang="en-US" sz="2800" dirty="0">
                <a:latin typeface="Times New Roman" pitchFamily="18" charset="0"/>
                <a:cs typeface="Times New Roman" pitchFamily="18" charset="0"/>
              </a:rPr>
              <a:t>: The ability of an OS to support multiple threads within a single process. </a:t>
            </a:r>
          </a:p>
          <a:p>
            <a:pPr marL="0" indent="0">
              <a:lnSpc>
                <a:spcPct val="150000"/>
              </a:lnSpc>
              <a:buNone/>
            </a:pPr>
            <a:endParaRPr lang="en-US" sz="2800" dirty="0">
              <a:latin typeface="Times New Roman" pitchFamily="18" charset="0"/>
              <a:cs typeface="Times New Roman"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Types of Threads</a:t>
            </a:r>
          </a:p>
        </p:txBody>
      </p:sp>
    </p:spTree>
    <p:extLst>
      <p:ext uri="{BB962C8B-B14F-4D97-AF65-F5344CB8AC3E}">
        <p14:creationId xmlns:p14="http://schemas.microsoft.com/office/powerpoint/2010/main" val="47832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sz="2800" b="1" dirty="0">
                <a:latin typeface="Times New Roman" pitchFamily="18" charset="0"/>
                <a:cs typeface="Times New Roman" pitchFamily="18" charset="0"/>
              </a:rPr>
              <a:t>Similarities</a:t>
            </a:r>
          </a:p>
          <a:p>
            <a:pPr algn="just">
              <a:lnSpc>
                <a:spcPct val="150000"/>
              </a:lnSpc>
              <a:buFont typeface="Wingdings" panose="05000000000000000000" pitchFamily="2" charset="2"/>
              <a:buChar char="Ø"/>
            </a:pPr>
            <a:r>
              <a:rPr lang="en-US" sz="2800" dirty="0" smtClean="0">
                <a:latin typeface="Times New Roman" pitchFamily="18" charset="0"/>
                <a:cs typeface="Times New Roman" pitchFamily="18" charset="0"/>
              </a:rPr>
              <a:t>Like </a:t>
            </a:r>
            <a:r>
              <a:rPr lang="en-US" sz="2800" dirty="0">
                <a:latin typeface="Times New Roman" pitchFamily="18" charset="0"/>
                <a:cs typeface="Times New Roman" pitchFamily="18" charset="0"/>
              </a:rPr>
              <a:t>processes threads share CPU and only one thread active (running) at a time.</a:t>
            </a:r>
          </a:p>
          <a:p>
            <a:pPr algn="just">
              <a:lnSpc>
                <a:spcPct val="150000"/>
              </a:lnSpc>
              <a:buFont typeface="Wingdings" panose="05000000000000000000" pitchFamily="2" charset="2"/>
              <a:buChar char="Ø"/>
            </a:pPr>
            <a:r>
              <a:rPr lang="en-US" sz="2800" dirty="0">
                <a:latin typeface="Times New Roman" pitchFamily="18" charset="0"/>
                <a:cs typeface="Times New Roman" pitchFamily="18" charset="0"/>
              </a:rPr>
              <a:t>Like processes</a:t>
            </a: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threads within a </a:t>
            </a:r>
            <a:r>
              <a:rPr lang="en-US" sz="2800" dirty="0" smtClean="0">
                <a:latin typeface="Times New Roman" pitchFamily="18" charset="0"/>
                <a:cs typeface="Times New Roman" pitchFamily="18" charset="0"/>
              </a:rPr>
              <a:t>process </a:t>
            </a:r>
            <a:r>
              <a:rPr lang="en-US" sz="2800" dirty="0">
                <a:latin typeface="Times New Roman" pitchFamily="18" charset="0"/>
                <a:cs typeface="Times New Roman" pitchFamily="18" charset="0"/>
              </a:rPr>
              <a:t>execute sequentially.</a:t>
            </a:r>
          </a:p>
          <a:p>
            <a:pPr algn="just">
              <a:lnSpc>
                <a:spcPct val="150000"/>
              </a:lnSpc>
              <a:buFont typeface="Wingdings" panose="05000000000000000000" pitchFamily="2" charset="2"/>
              <a:buChar char="Ø"/>
            </a:pPr>
            <a:r>
              <a:rPr lang="en-US" sz="2800" dirty="0">
                <a:latin typeface="Times New Roman" pitchFamily="18" charset="0"/>
                <a:cs typeface="Times New Roman" pitchFamily="18" charset="0"/>
              </a:rPr>
              <a:t>Like processes, thread can create children.</a:t>
            </a:r>
          </a:p>
          <a:p>
            <a:pPr algn="just">
              <a:lnSpc>
                <a:spcPct val="150000"/>
              </a:lnSpc>
              <a:buFont typeface="Wingdings" panose="05000000000000000000" pitchFamily="2" charset="2"/>
              <a:buChar char="Ø"/>
            </a:pPr>
            <a:r>
              <a:rPr lang="en-US" sz="2800" dirty="0">
                <a:latin typeface="Times New Roman" pitchFamily="18" charset="0"/>
                <a:cs typeface="Times New Roman" pitchFamily="18" charset="0"/>
              </a:rPr>
              <a:t>And like process, if one thread is blocked, another thread can run.</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Processes Vs Threads</a:t>
            </a:r>
          </a:p>
        </p:txBody>
      </p:sp>
    </p:spTree>
    <p:extLst>
      <p:ext uri="{BB962C8B-B14F-4D97-AF65-F5344CB8AC3E}">
        <p14:creationId xmlns:p14="http://schemas.microsoft.com/office/powerpoint/2010/main" val="379006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sz="2800" b="1" dirty="0">
                <a:latin typeface="Times New Roman" pitchFamily="18" charset="0"/>
                <a:cs typeface="Times New Roman" pitchFamily="18" charset="0"/>
              </a:rPr>
              <a:t>Differences</a:t>
            </a:r>
          </a:p>
          <a:p>
            <a:pPr algn="just">
              <a:lnSpc>
                <a:spcPct val="150000"/>
              </a:lnSpc>
              <a:buFont typeface="Wingdings" panose="05000000000000000000" pitchFamily="2" charset="2"/>
              <a:buChar char="Ø"/>
            </a:pPr>
            <a:r>
              <a:rPr lang="en-US" sz="2800" dirty="0" smtClean="0">
                <a:latin typeface="Times New Roman" pitchFamily="18" charset="0"/>
                <a:cs typeface="Times New Roman" pitchFamily="18" charset="0"/>
              </a:rPr>
              <a:t>Unlike </a:t>
            </a:r>
            <a:r>
              <a:rPr lang="en-US" sz="2800" dirty="0">
                <a:latin typeface="Times New Roman" pitchFamily="18" charset="0"/>
                <a:cs typeface="Times New Roman" pitchFamily="18" charset="0"/>
              </a:rPr>
              <a:t>processes, threads are not independent of one another.</a:t>
            </a:r>
          </a:p>
          <a:p>
            <a:pPr algn="just">
              <a:lnSpc>
                <a:spcPct val="150000"/>
              </a:lnSpc>
              <a:buFont typeface="Wingdings" panose="05000000000000000000" pitchFamily="2" charset="2"/>
              <a:buChar char="Ø"/>
            </a:pPr>
            <a:r>
              <a:rPr lang="en-US" sz="2800" dirty="0" smtClean="0">
                <a:latin typeface="Times New Roman" pitchFamily="18" charset="0"/>
                <a:cs typeface="Times New Roman" pitchFamily="18" charset="0"/>
              </a:rPr>
              <a:t>Unlike </a:t>
            </a:r>
            <a:r>
              <a:rPr lang="en-US" sz="2800" dirty="0">
                <a:latin typeface="Times New Roman" pitchFamily="18" charset="0"/>
                <a:cs typeface="Times New Roman" pitchFamily="18" charset="0"/>
              </a:rPr>
              <a:t>processes, thread are </a:t>
            </a:r>
            <a:r>
              <a:rPr lang="en-US" sz="2800" dirty="0" smtClean="0">
                <a:latin typeface="Times New Roman" pitchFamily="18" charset="0"/>
                <a:cs typeface="Times New Roman" pitchFamily="18" charset="0"/>
              </a:rPr>
              <a:t>designed </a:t>
            </a:r>
            <a:r>
              <a:rPr lang="en-US" sz="2800" dirty="0">
                <a:latin typeface="Times New Roman" pitchFamily="18" charset="0"/>
                <a:cs typeface="Times New Roman" pitchFamily="18" charset="0"/>
              </a:rPr>
              <a:t>to assist one </a:t>
            </a:r>
            <a:r>
              <a:rPr lang="en-US" sz="2800" dirty="0" smtClean="0">
                <a:latin typeface="Times New Roman" pitchFamily="18" charset="0"/>
                <a:cs typeface="Times New Roman" pitchFamily="18" charset="0"/>
              </a:rPr>
              <a:t>another</a:t>
            </a:r>
            <a:r>
              <a:rPr lang="en-US" sz="2800" dirty="0">
                <a:latin typeface="Times New Roman" pitchFamily="18" charset="0"/>
                <a:cs typeface="Times New Roman" pitchFamily="18" charset="0"/>
              </a:rPr>
              <a:t>. Note that processes might or might not assist one another because processes may originate from different users.</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Processes Vs Threads</a:t>
            </a:r>
          </a:p>
        </p:txBody>
      </p:sp>
    </p:spTree>
    <p:extLst>
      <p:ext uri="{BB962C8B-B14F-4D97-AF65-F5344CB8AC3E}">
        <p14:creationId xmlns:p14="http://schemas.microsoft.com/office/powerpoint/2010/main" val="23638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thread is BLOCKED if it doesn't want the CPU, which might happen for several reasons, such as:</a:t>
            </a:r>
          </a:p>
          <a:p>
            <a:pPr lvl="1" algn="just">
              <a:lnSpc>
                <a:spcPct val="150000"/>
              </a:lnSpc>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thread is sleeping.</a:t>
            </a:r>
          </a:p>
          <a:p>
            <a:pPr lvl="1" algn="just">
              <a:lnSpc>
                <a:spcPct val="150000"/>
              </a:lnSpc>
            </a:pPr>
            <a:r>
              <a:rPr lang="en-US" dirty="0">
                <a:latin typeface="Times New Roman" panose="02020603050405020304" pitchFamily="18" charset="0"/>
                <a:cs typeface="Times New Roman" panose="02020603050405020304" pitchFamily="18" charset="0"/>
              </a:rPr>
              <a:t>The thread is waiting for a message from another thread.</a:t>
            </a:r>
          </a:p>
          <a:p>
            <a:pPr lvl="1" algn="just">
              <a:lnSpc>
                <a:spcPct val="150000"/>
              </a:lnSpc>
            </a:pPr>
            <a:r>
              <a:rPr lang="en-US" dirty="0">
                <a:latin typeface="Times New Roman" panose="02020603050405020304" pitchFamily="18" charset="0"/>
                <a:cs typeface="Times New Roman" panose="02020603050405020304" pitchFamily="18" charset="0"/>
              </a:rPr>
              <a:t>The thread is waiting on a </a:t>
            </a:r>
            <a:r>
              <a:rPr lang="en-US" dirty="0" err="1" smtClean="0">
                <a:latin typeface="Times New Roman" panose="02020603050405020304" pitchFamily="18" charset="0"/>
                <a:cs typeface="Times New Roman" panose="02020603050405020304" pitchFamily="18" charset="0"/>
              </a:rPr>
              <a:t>mutex</a:t>
            </a:r>
            <a:r>
              <a:rPr lang="en-US" dirty="0">
                <a:latin typeface="Times New Roman" panose="02020603050405020304" pitchFamily="18" charset="0"/>
                <a:cs typeface="Times New Roman" panose="02020603050405020304" pitchFamily="18" charset="0"/>
              </a:rPr>
              <a:t> (an algorithm or object used to negotiate mutual exclusion among threads) that some other thread owns</a:t>
            </a:r>
            <a:r>
              <a:rPr lang="en-US" dirty="0" smtClean="0">
                <a:latin typeface="Times New Roman" panose="02020603050405020304" pitchFamily="18" charset="0"/>
                <a:cs typeface="Times New Roman" panose="02020603050405020304" pitchFamily="18" charset="0"/>
              </a:rPr>
              <a:t>.</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smtClean="0">
                <a:solidFill>
                  <a:schemeClr val="accent3">
                    <a:lumMod val="75000"/>
                  </a:schemeClr>
                </a:solidFill>
                <a:latin typeface="Times New Roman" pitchFamily="18" charset="0"/>
              </a:rPr>
              <a:t>Blocked and Ready</a:t>
            </a:r>
            <a:endParaRPr lang="en-US" sz="3600" b="1" dirty="0">
              <a:solidFill>
                <a:schemeClr val="accent3">
                  <a:lumMod val="75000"/>
                </a:schemeClr>
              </a:solidFill>
              <a:latin typeface="Times New Roman" pitchFamily="18" charset="0"/>
            </a:endParaRPr>
          </a:p>
        </p:txBody>
      </p:sp>
    </p:spTree>
    <p:extLst>
      <p:ext uri="{BB962C8B-B14F-4D97-AF65-F5344CB8AC3E}">
        <p14:creationId xmlns:p14="http://schemas.microsoft.com/office/powerpoint/2010/main" val="202567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lvl="1" algn="just">
              <a:lnSpc>
                <a:spcPct val="150000"/>
              </a:lnSpc>
              <a:buFont typeface="Wingdings" panose="05000000000000000000" pitchFamily="2" charset="2"/>
              <a:buChar char="§"/>
            </a:pPr>
            <a:r>
              <a:rPr lang="en-US" sz="3200" dirty="0" smtClean="0">
                <a:latin typeface="Times New Roman" panose="02020603050405020304" pitchFamily="18" charset="0"/>
                <a:cs typeface="Times New Roman" panose="02020603050405020304" pitchFamily="18" charset="0"/>
              </a:rPr>
              <a:t>A </a:t>
            </a:r>
            <a:r>
              <a:rPr lang="en-US" sz="3200" dirty="0">
                <a:latin typeface="Times New Roman" panose="02020603050405020304" pitchFamily="18" charset="0"/>
                <a:cs typeface="Times New Roman" panose="02020603050405020304" pitchFamily="18" charset="0"/>
              </a:rPr>
              <a:t>thread is READY if it wants a CPU but something else currently has it. </a:t>
            </a:r>
            <a:endParaRPr lang="en-US" sz="3200" dirty="0" smtClean="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
            </a:pPr>
            <a:r>
              <a:rPr lang="en-US" sz="3200" dirty="0" smtClean="0">
                <a:latin typeface="Times New Roman" panose="02020603050405020304" pitchFamily="18" charset="0"/>
                <a:cs typeface="Times New Roman" panose="02020603050405020304" pitchFamily="18" charset="0"/>
              </a:rPr>
              <a:t>If </a:t>
            </a:r>
            <a:r>
              <a:rPr lang="en-US" sz="3200" dirty="0">
                <a:latin typeface="Times New Roman" panose="02020603050405020304" pitchFamily="18" charset="0"/>
                <a:cs typeface="Times New Roman" panose="02020603050405020304" pitchFamily="18" charset="0"/>
              </a:rPr>
              <a:t>a thread currently has a CPU, then it's in the RUNNING state. </a:t>
            </a:r>
            <a:endParaRPr lang="en-US" sz="3200" dirty="0" smtClean="0">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
            </a:pPr>
            <a:r>
              <a:rPr lang="en-US" sz="3200" dirty="0" smtClean="0">
                <a:latin typeface="Times New Roman" panose="02020603050405020304" pitchFamily="18" charset="0"/>
                <a:cs typeface="Times New Roman" panose="02020603050405020304" pitchFamily="18" charset="0"/>
              </a:rPr>
              <a:t>Simply, </a:t>
            </a:r>
            <a:r>
              <a:rPr lang="en-US" sz="3200" dirty="0">
                <a:latin typeface="Times New Roman" panose="02020603050405020304" pitchFamily="18" charset="0"/>
                <a:cs typeface="Times New Roman" panose="02020603050405020304" pitchFamily="18" charset="0"/>
              </a:rPr>
              <a:t>a thread that's either READY or RUNNING isn't blocked.</a:t>
            </a:r>
            <a:endParaRPr lang="en-GB" sz="32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Blocked and Ready</a:t>
            </a:r>
          </a:p>
        </p:txBody>
      </p:sp>
    </p:spTree>
    <p:extLst>
      <p:ext uri="{BB962C8B-B14F-4D97-AF65-F5344CB8AC3E}">
        <p14:creationId xmlns:p14="http://schemas.microsoft.com/office/powerpoint/2010/main" val="295365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spcBef>
                <a:spcPct val="50000"/>
              </a:spcBef>
              <a:defRPr/>
            </a:pPr>
            <a:r>
              <a:rPr lang="en-US" sz="5400" b="1" dirty="0">
                <a:solidFill>
                  <a:schemeClr val="accent3">
                    <a:lumMod val="75000"/>
                  </a:schemeClr>
                </a:solidFill>
                <a:latin typeface="Times New Roman" pitchFamily="18" charset="0"/>
              </a:rPr>
              <a:t>Swapping</a:t>
            </a:r>
          </a:p>
        </p:txBody>
      </p:sp>
    </p:spTree>
    <p:extLst>
      <p:ext uri="{BB962C8B-B14F-4D97-AF65-F5344CB8AC3E}">
        <p14:creationId xmlns:p14="http://schemas.microsoft.com/office/powerpoint/2010/main" val="13756603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Definition: </a:t>
            </a:r>
            <a:r>
              <a:rPr lang="en-US" b="1" dirty="0">
                <a:solidFill>
                  <a:srgbClr val="FF0000"/>
                </a:solidFill>
                <a:latin typeface="Times New Roman" panose="02020603050405020304" pitchFamily="18" charset="0"/>
                <a:cs typeface="Times New Roman" panose="02020603050405020304" pitchFamily="18" charset="0"/>
              </a:rPr>
              <a:t>Swapping</a:t>
            </a:r>
            <a:r>
              <a:rPr lang="en-US" dirty="0">
                <a:latin typeface="Times New Roman" panose="02020603050405020304" pitchFamily="18" charset="0"/>
                <a:cs typeface="Times New Roman" panose="02020603050405020304" pitchFamily="18" charset="0"/>
              </a:rPr>
              <a:t> consists of bringing each process in the memory, running it for a while and then putting it back on the disk.</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Swapping</a:t>
            </a:r>
          </a:p>
        </p:txBody>
      </p:sp>
      <p:pic>
        <p:nvPicPr>
          <p:cNvPr id="4" name="Picture 3">
            <a:extLst>
              <a:ext uri="{FF2B5EF4-FFF2-40B4-BE49-F238E27FC236}">
                <a16:creationId xmlns:a16="http://schemas.microsoft.com/office/drawing/2014/main" xmlns="" id="{208992A6-0590-464A-B6C9-854F2B722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494" y="3256958"/>
            <a:ext cx="5815012" cy="3412402"/>
          </a:xfrm>
          <a:prstGeom prst="rect">
            <a:avLst/>
          </a:prstGeom>
        </p:spPr>
      </p:pic>
    </p:spTree>
    <p:extLst>
      <p:ext uri="{BB962C8B-B14F-4D97-AF65-F5344CB8AC3E}">
        <p14:creationId xmlns:p14="http://schemas.microsoft.com/office/powerpoint/2010/main" val="101657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algn="just">
              <a:lnSpc>
                <a:spcPct val="150000"/>
              </a:lnSpc>
            </a:pPr>
            <a:r>
              <a:rPr lang="en-GB" dirty="0">
                <a:latin typeface="Times New Roman" panose="02020603050405020304" pitchFamily="18" charset="0"/>
                <a:cs typeface="Times New Roman" panose="02020603050405020304" pitchFamily="18" charset="0"/>
              </a:rPr>
              <a:t>When all of the processes in main memory(RAM) are in the Blocked state, the OS can suspend one process by putting it in the Suspend state and transferring it to disk. </a:t>
            </a:r>
            <a:endParaRPr lang="en-GB" b="1" dirty="0">
              <a:solidFill>
                <a:srgbClr val="FF0000"/>
              </a:solidFill>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Why we need Swapping?</a:t>
            </a:r>
          </a:p>
        </p:txBody>
      </p:sp>
    </p:spTree>
    <p:extLst>
      <p:ext uri="{BB962C8B-B14F-4D97-AF65-F5344CB8AC3E}">
        <p14:creationId xmlns:p14="http://schemas.microsoft.com/office/powerpoint/2010/main" val="310307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algn="just">
              <a:lnSpc>
                <a:spcPct val="150000"/>
              </a:lnSpc>
            </a:pPr>
            <a:r>
              <a:rPr lang="en-GB" dirty="0" smtClean="0">
                <a:latin typeface="Times New Roman" panose="02020603050405020304" pitchFamily="18" charset="0"/>
                <a:cs typeface="Times New Roman" panose="02020603050405020304" pitchFamily="18" charset="0"/>
              </a:rPr>
              <a:t>The </a:t>
            </a:r>
            <a:r>
              <a:rPr lang="en-GB" dirty="0">
                <a:latin typeface="Times New Roman" panose="02020603050405020304" pitchFamily="18" charset="0"/>
                <a:cs typeface="Times New Roman" panose="02020603050405020304" pitchFamily="18" charset="0"/>
              </a:rPr>
              <a:t>space that is freed in main memory can then be used to bring in another process.</a:t>
            </a:r>
          </a:p>
          <a:p>
            <a:pPr algn="just">
              <a:lnSpc>
                <a:spcPct val="150000"/>
              </a:lnSpc>
            </a:pPr>
            <a:r>
              <a:rPr lang="en-GB" dirty="0">
                <a:latin typeface="Times New Roman" panose="02020603050405020304" pitchFamily="18" charset="0"/>
                <a:cs typeface="Times New Roman" panose="02020603050405020304" pitchFamily="18" charset="0"/>
              </a:rPr>
              <a:t>It then brings back the old process.</a:t>
            </a:r>
          </a:p>
          <a:p>
            <a:pPr algn="just">
              <a:lnSpc>
                <a:spcPct val="150000"/>
              </a:lnSpc>
            </a:pPr>
            <a:r>
              <a:rPr lang="en-GB" b="1" dirty="0">
                <a:solidFill>
                  <a:srgbClr val="FF0000"/>
                </a:solidFill>
                <a:latin typeface="Times New Roman" panose="02020603050405020304" pitchFamily="18" charset="0"/>
                <a:cs typeface="Times New Roman" panose="02020603050405020304" pitchFamily="18" charset="0"/>
              </a:rPr>
              <a:t>Buffer and Virtual memory concept is involved.</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spcBef>
                <a:spcPct val="50000"/>
              </a:spcBef>
              <a:defRPr/>
            </a:pPr>
            <a:r>
              <a:rPr lang="en-US" sz="3600" b="1" dirty="0">
                <a:solidFill>
                  <a:schemeClr val="accent3">
                    <a:lumMod val="75000"/>
                  </a:schemeClr>
                </a:solidFill>
                <a:latin typeface="Times New Roman" pitchFamily="18" charset="0"/>
              </a:rPr>
              <a:t>Why we need Swapping?</a:t>
            </a:r>
          </a:p>
        </p:txBody>
      </p:sp>
    </p:spTree>
    <p:extLst>
      <p:ext uri="{BB962C8B-B14F-4D97-AF65-F5344CB8AC3E}">
        <p14:creationId xmlns:p14="http://schemas.microsoft.com/office/powerpoint/2010/main" val="179014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5" name="Rectangle 9"/>
          <p:cNvSpPr>
            <a:spLocks noChangeArrowheads="1"/>
          </p:cNvSpPr>
          <p:nvPr/>
        </p:nvSpPr>
        <p:spPr bwMode="auto">
          <a:xfrm>
            <a:off x="10551" y="2160564"/>
            <a:ext cx="9144000" cy="4722054"/>
          </a:xfrm>
          <a:prstGeom prst="rect">
            <a:avLst/>
          </a:prstGeom>
          <a:noFill/>
          <a:ln w="12700" cap="sq">
            <a:noFill/>
            <a:miter lim="800000"/>
            <a:headEnd type="none" w="sm" len="sm"/>
            <a:tailEnd type="none" w="sm" len="sm"/>
          </a:ln>
        </p:spPr>
        <p:txBody>
          <a:bodyPr/>
          <a:lstStyle/>
          <a:p>
            <a:pPr algn="ctr">
              <a:buClr>
                <a:schemeClr val="tx1"/>
              </a:buClr>
            </a:pPr>
            <a:r>
              <a:rPr lang="en-US" sz="4400" b="1" dirty="0">
                <a:solidFill>
                  <a:schemeClr val="accent3">
                    <a:lumMod val="75000"/>
                  </a:schemeClr>
                </a:solidFill>
                <a:latin typeface="Times New Roman" panose="02020603050405020304" pitchFamily="18" charset="0"/>
                <a:cs typeface="Times New Roman" panose="02020603050405020304" pitchFamily="18" charset="0"/>
              </a:rPr>
              <a:t>Scheduling and Scheduler</a:t>
            </a:r>
          </a:p>
        </p:txBody>
      </p:sp>
    </p:spTree>
    <p:extLst>
      <p:ext uri="{BB962C8B-B14F-4D97-AF65-F5344CB8AC3E}">
        <p14:creationId xmlns:p14="http://schemas.microsoft.com/office/powerpoint/2010/main" val="31175332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r>
              <a:rPr lang="en-US" b="1" u="sng" dirty="0">
                <a:solidFill>
                  <a:srgbClr val="FF0000"/>
                </a:solidFill>
                <a:latin typeface="Times New Roman" pitchFamily="18" charset="0"/>
                <a:cs typeface="Times New Roman" pitchFamily="18" charset="0"/>
              </a:rPr>
              <a:t>Definition</a:t>
            </a:r>
            <a:r>
              <a:rPr lang="en-US" dirty="0">
                <a:latin typeface="Times New Roman" pitchFamily="18" charset="0"/>
                <a:cs typeface="Times New Roman" pitchFamily="18" charset="0"/>
              </a:rPr>
              <a:t>: When more than one process is runnable, the operating system must decide which </a:t>
            </a:r>
            <a:r>
              <a:rPr lang="en-US" dirty="0" smtClean="0">
                <a:latin typeface="Times New Roman" pitchFamily="18" charset="0"/>
                <a:cs typeface="Times New Roman" pitchFamily="18" charset="0"/>
              </a:rPr>
              <a:t>one to </a:t>
            </a:r>
            <a:r>
              <a:rPr lang="en-US" dirty="0">
                <a:latin typeface="Times New Roman" pitchFamily="18" charset="0"/>
                <a:cs typeface="Times New Roman" pitchFamily="18" charset="0"/>
              </a:rPr>
              <a:t>run first. The part of the operating system concerned with this decision is called the </a:t>
            </a:r>
            <a:r>
              <a:rPr lang="en-US" b="1" dirty="0">
                <a:solidFill>
                  <a:srgbClr val="FF0000"/>
                </a:solidFill>
                <a:latin typeface="Times New Roman" pitchFamily="18" charset="0"/>
                <a:cs typeface="Times New Roman" pitchFamily="18" charset="0"/>
              </a:rPr>
              <a:t>scheduler</a:t>
            </a:r>
            <a:r>
              <a:rPr lang="en-US" dirty="0">
                <a:latin typeface="Times New Roman" pitchFamily="18" charset="0"/>
                <a:cs typeface="Times New Roman" pitchFamily="18" charset="0"/>
              </a:rPr>
              <a:t>, and algorithm it uses is called the </a:t>
            </a:r>
            <a:r>
              <a:rPr lang="en-US" b="1" dirty="0">
                <a:solidFill>
                  <a:srgbClr val="FF0000"/>
                </a:solidFill>
                <a:latin typeface="Times New Roman" pitchFamily="18" charset="0"/>
                <a:cs typeface="Times New Roman" pitchFamily="18" charset="0"/>
              </a:rPr>
              <a:t>scheduling algorithm</a:t>
            </a:r>
            <a:r>
              <a:rPr lang="en-US" dirty="0">
                <a:latin typeface="Times New Roman" pitchFamily="18" charset="0"/>
                <a:cs typeface="Times New Roman" pitchFamily="18" charset="0"/>
              </a:rPr>
              <a:t>.</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Scheduling and Scheduler</a:t>
            </a:r>
          </a:p>
        </p:txBody>
      </p:sp>
    </p:spTree>
    <p:extLst>
      <p:ext uri="{BB962C8B-B14F-4D97-AF65-F5344CB8AC3E}">
        <p14:creationId xmlns:p14="http://schemas.microsoft.com/office/powerpoint/2010/main" val="2825597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lnSpc>
                <a:spcPct val="150000"/>
              </a:lnSpc>
              <a:buNone/>
            </a:pPr>
            <a:endParaRPr lang="en-US" dirty="0">
              <a:latin typeface="Times New Roman" pitchFamily="18" charset="0"/>
              <a:cs typeface="Times New Roman"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6096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Types of Scheduler</a:t>
            </a:r>
          </a:p>
        </p:txBody>
      </p:sp>
      <p:sp>
        <p:nvSpPr>
          <p:cNvPr id="4" name="Text Box 10">
            <a:extLst>
              <a:ext uri="{FF2B5EF4-FFF2-40B4-BE49-F238E27FC236}">
                <a16:creationId xmlns:a16="http://schemas.microsoft.com/office/drawing/2014/main" xmlns="" id="{8D60FA20-6663-4EE6-B4B7-06F1988400E6}"/>
              </a:ext>
            </a:extLst>
          </p:cNvPr>
          <p:cNvSpPr txBox="1">
            <a:spLocks noChangeArrowheads="1"/>
          </p:cNvSpPr>
          <p:nvPr/>
        </p:nvSpPr>
        <p:spPr bwMode="auto">
          <a:xfrm>
            <a:off x="2305050" y="2085975"/>
            <a:ext cx="4211638" cy="519113"/>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lgn="ctr">
              <a:spcBef>
                <a:spcPct val="50000"/>
              </a:spcBef>
              <a:defRPr/>
            </a:pPr>
            <a:r>
              <a:rPr lang="en-US" sz="2800" dirty="0">
                <a:solidFill>
                  <a:schemeClr val="tx1"/>
                </a:solidFill>
                <a:latin typeface="Times New Roman" pitchFamily="18" charset="0"/>
                <a:cs typeface="Times New Roman" pitchFamily="18" charset="0"/>
              </a:rPr>
              <a:t>Types of Scheduler</a:t>
            </a:r>
          </a:p>
        </p:txBody>
      </p:sp>
      <p:sp>
        <p:nvSpPr>
          <p:cNvPr id="5" name="Line 11">
            <a:extLst>
              <a:ext uri="{FF2B5EF4-FFF2-40B4-BE49-F238E27FC236}">
                <a16:creationId xmlns:a16="http://schemas.microsoft.com/office/drawing/2014/main" xmlns="" id="{6B5A2263-6155-4AEF-9239-22CE7BAFE037}"/>
              </a:ext>
            </a:extLst>
          </p:cNvPr>
          <p:cNvSpPr>
            <a:spLocks noChangeShapeType="1"/>
          </p:cNvSpPr>
          <p:nvPr/>
        </p:nvSpPr>
        <p:spPr bwMode="auto">
          <a:xfrm flipH="1">
            <a:off x="2735263" y="2600325"/>
            <a:ext cx="1584325" cy="1803400"/>
          </a:xfrm>
          <a:prstGeom prst="line">
            <a:avLst/>
          </a:prstGeom>
          <a:noFill/>
          <a:ln w="9525">
            <a:solidFill>
              <a:schemeClr val="tx1"/>
            </a:solidFill>
            <a:round/>
            <a:headEnd/>
            <a:tailEnd type="triangle" w="med" len="med"/>
          </a:ln>
        </p:spPr>
        <p:txBody>
          <a:bodyPr/>
          <a:lstStyle/>
          <a:p>
            <a:endParaRPr lang="en-US"/>
          </a:p>
        </p:txBody>
      </p:sp>
      <p:sp>
        <p:nvSpPr>
          <p:cNvPr id="6" name="Line 12">
            <a:extLst>
              <a:ext uri="{FF2B5EF4-FFF2-40B4-BE49-F238E27FC236}">
                <a16:creationId xmlns:a16="http://schemas.microsoft.com/office/drawing/2014/main" xmlns="" id="{F0F15C2B-1918-4912-B362-295766FAF404}"/>
              </a:ext>
            </a:extLst>
          </p:cNvPr>
          <p:cNvSpPr>
            <a:spLocks noChangeShapeType="1"/>
          </p:cNvSpPr>
          <p:nvPr/>
        </p:nvSpPr>
        <p:spPr bwMode="auto">
          <a:xfrm>
            <a:off x="4330700" y="2592388"/>
            <a:ext cx="2197100" cy="1820862"/>
          </a:xfrm>
          <a:prstGeom prst="line">
            <a:avLst/>
          </a:prstGeom>
          <a:noFill/>
          <a:ln w="9525">
            <a:solidFill>
              <a:schemeClr val="tx1"/>
            </a:solidFill>
            <a:round/>
            <a:headEnd/>
            <a:tailEnd type="triangle" w="med" len="med"/>
          </a:ln>
        </p:spPr>
        <p:txBody>
          <a:bodyPr/>
          <a:lstStyle/>
          <a:p>
            <a:endParaRPr lang="en-US"/>
          </a:p>
        </p:txBody>
      </p:sp>
      <p:sp>
        <p:nvSpPr>
          <p:cNvPr id="7" name="AutoShape 13">
            <a:extLst>
              <a:ext uri="{FF2B5EF4-FFF2-40B4-BE49-F238E27FC236}">
                <a16:creationId xmlns:a16="http://schemas.microsoft.com/office/drawing/2014/main" xmlns="" id="{1C5E2D34-1BDD-41EF-ADC4-DBA1DC25E532}"/>
              </a:ext>
            </a:extLst>
          </p:cNvPr>
          <p:cNvSpPr>
            <a:spLocks noChangeArrowheads="1"/>
          </p:cNvSpPr>
          <p:nvPr/>
        </p:nvSpPr>
        <p:spPr bwMode="auto">
          <a:xfrm>
            <a:off x="1295400" y="4403725"/>
            <a:ext cx="2574925" cy="935038"/>
          </a:xfrm>
          <a:prstGeom prst="flowChartAlternateProcess">
            <a:avLst/>
          </a:prstGeom>
          <a:gradFill rotWithShape="1">
            <a:gsLst>
              <a:gs pos="0">
                <a:schemeClr val="accent1"/>
              </a:gs>
              <a:gs pos="100000">
                <a:srgbClr val="000000"/>
              </a:gs>
            </a:gsLst>
            <a:lin ang="5400000" scaled="1"/>
          </a:gradFill>
          <a:ln w="9525">
            <a:noFill/>
            <a:miter lim="800000"/>
            <a:headEnd/>
            <a:tailEnd/>
          </a:ln>
        </p:spPr>
        <p:txBody>
          <a:bodyPr wrap="none" anchor="ctr"/>
          <a:lstStyle/>
          <a:p>
            <a:pPr algn="ctr"/>
            <a:r>
              <a:rPr lang="en-US" dirty="0">
                <a:solidFill>
                  <a:schemeClr val="bg1"/>
                </a:solidFill>
              </a:rPr>
              <a:t>Primary Scheduler</a:t>
            </a:r>
          </a:p>
        </p:txBody>
      </p:sp>
      <p:sp>
        <p:nvSpPr>
          <p:cNvPr id="9" name="AutoShape 14">
            <a:extLst>
              <a:ext uri="{FF2B5EF4-FFF2-40B4-BE49-F238E27FC236}">
                <a16:creationId xmlns:a16="http://schemas.microsoft.com/office/drawing/2014/main" xmlns="" id="{2DA7C064-6044-4DE3-A2ED-8931F6664D4A}"/>
              </a:ext>
            </a:extLst>
          </p:cNvPr>
          <p:cNvSpPr>
            <a:spLocks noChangeArrowheads="1"/>
          </p:cNvSpPr>
          <p:nvPr/>
        </p:nvSpPr>
        <p:spPr bwMode="auto">
          <a:xfrm>
            <a:off x="5105400" y="4402138"/>
            <a:ext cx="2819400" cy="935037"/>
          </a:xfrm>
          <a:prstGeom prst="flowChartAlternateProcess">
            <a:avLst/>
          </a:prstGeom>
          <a:gradFill rotWithShape="1">
            <a:gsLst>
              <a:gs pos="0">
                <a:schemeClr val="accent1"/>
              </a:gs>
              <a:gs pos="100000">
                <a:srgbClr val="000000"/>
              </a:gs>
            </a:gsLst>
            <a:lin ang="5400000" scaled="1"/>
          </a:gradFill>
          <a:ln w="9525">
            <a:noFill/>
            <a:miter lim="800000"/>
            <a:headEnd/>
            <a:tailEnd/>
          </a:ln>
        </p:spPr>
        <p:txBody>
          <a:bodyPr wrap="none" anchor="ctr"/>
          <a:lstStyle/>
          <a:p>
            <a:pPr algn="ctr"/>
            <a:r>
              <a:rPr lang="en-US" dirty="0">
                <a:solidFill>
                  <a:schemeClr val="bg1"/>
                </a:solidFill>
              </a:rPr>
              <a:t>Secondary Scheduler</a:t>
            </a:r>
          </a:p>
        </p:txBody>
      </p:sp>
    </p:spTree>
    <p:extLst>
      <p:ext uri="{BB962C8B-B14F-4D97-AF65-F5344CB8AC3E}">
        <p14:creationId xmlns:p14="http://schemas.microsoft.com/office/powerpoint/2010/main" val="167227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602560"/>
          </a:xfrm>
        </p:spPr>
        <p:txBody>
          <a:bodyPr>
            <a:noAutofit/>
          </a:bodyPr>
          <a:lstStyle/>
          <a:p>
            <a:pPr marL="0" indent="0" algn="just">
              <a:buNone/>
              <a:defRPr/>
            </a:pPr>
            <a:r>
              <a:rPr lang="en-US" sz="4000" b="1" dirty="0">
                <a:latin typeface="Times New Roman" pitchFamily="18" charset="0"/>
                <a:cs typeface="Times New Roman" pitchFamily="18" charset="0"/>
              </a:rPr>
              <a:t>Primary Scheduler </a:t>
            </a:r>
            <a:endParaRPr lang="en-US" b="1" u="sng" dirty="0">
              <a:latin typeface="Times New Roman" pitchFamily="18" charset="0"/>
              <a:cs typeface="Times New Roman" pitchFamily="18" charset="0"/>
            </a:endParaRPr>
          </a:p>
          <a:p>
            <a:pPr marL="514350" indent="-514350" algn="just">
              <a:buFont typeface="+mj-lt"/>
              <a:buAutoNum type="arabicPeriod"/>
              <a:defRPr/>
            </a:pPr>
            <a:r>
              <a:rPr lang="en-US" dirty="0">
                <a:latin typeface="Times New Roman" pitchFamily="18" charset="0"/>
                <a:cs typeface="Times New Roman" pitchFamily="18" charset="0"/>
              </a:rPr>
              <a:t>Runs threads with the highest priority.</a:t>
            </a:r>
          </a:p>
          <a:p>
            <a:pPr marL="514350" indent="-514350" algn="just">
              <a:buFont typeface="+mj-lt"/>
              <a:buAutoNum type="arabicPeriod"/>
              <a:defRPr/>
            </a:pPr>
            <a:r>
              <a:rPr lang="en-US" dirty="0">
                <a:latin typeface="Times New Roman" pitchFamily="18" charset="0"/>
                <a:cs typeface="Times New Roman" pitchFamily="18" charset="0"/>
              </a:rPr>
              <a:t>It then compares their priority and assigns resources to them, depending on their priority. </a:t>
            </a:r>
          </a:p>
          <a:p>
            <a:pPr marL="514350" indent="-514350" algn="just">
              <a:buFont typeface="+mj-lt"/>
              <a:buAutoNum type="arabicPeriod"/>
              <a:defRPr/>
            </a:pPr>
            <a:r>
              <a:rPr lang="en-US" dirty="0">
                <a:latin typeface="Times New Roman" pitchFamily="18" charset="0"/>
                <a:cs typeface="Times New Roman" pitchFamily="18" charset="0"/>
              </a:rPr>
              <a:t>Threads with the highest priority will be executed for the current time slice.</a:t>
            </a:r>
          </a:p>
          <a:p>
            <a:pPr marL="514350" indent="-514350" algn="just">
              <a:buFont typeface="+mj-lt"/>
              <a:buAutoNum type="arabicPeriod"/>
              <a:defRPr/>
            </a:pPr>
            <a:r>
              <a:rPr lang="en-US" dirty="0">
                <a:latin typeface="Times New Roman" pitchFamily="18" charset="0"/>
                <a:cs typeface="Times New Roman" pitchFamily="18" charset="0"/>
              </a:rPr>
              <a:t>With two or more threads with the same priority, they are put on a stack to allow each run on a given time slice.</a:t>
            </a: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4000" b="1" dirty="0">
                <a:solidFill>
                  <a:schemeClr val="accent3">
                    <a:lumMod val="75000"/>
                  </a:schemeClr>
                </a:solidFill>
                <a:latin typeface="Times New Roman" panose="02020603050405020304" pitchFamily="18" charset="0"/>
                <a:cs typeface="Times New Roman" panose="02020603050405020304" pitchFamily="18" charset="0"/>
              </a:rPr>
              <a:t>Scheduling and Scheduler: Primary Scheduler</a:t>
            </a:r>
          </a:p>
        </p:txBody>
      </p:sp>
    </p:spTree>
    <p:extLst>
      <p:ext uri="{BB962C8B-B14F-4D97-AF65-F5344CB8AC3E}">
        <p14:creationId xmlns:p14="http://schemas.microsoft.com/office/powerpoint/2010/main" val="335078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6059760"/>
          </a:xfrm>
        </p:spPr>
        <p:txBody>
          <a:bodyPr>
            <a:noAutofit/>
          </a:bodyPr>
          <a:lstStyle/>
          <a:p>
            <a:pPr marL="0" indent="0" algn="just">
              <a:buNone/>
              <a:defRPr/>
            </a:pPr>
            <a:endParaRPr lang="en-US" sz="4000" b="1" dirty="0">
              <a:latin typeface="Times New Roman" pitchFamily="18" charset="0"/>
              <a:cs typeface="Times New Roman" pitchFamily="18" charset="0"/>
            </a:endParaRPr>
          </a:p>
          <a:p>
            <a:pPr marL="0" indent="0" algn="just">
              <a:buNone/>
              <a:defRPr/>
            </a:pPr>
            <a:r>
              <a:rPr lang="en-US" sz="4000" b="1" dirty="0">
                <a:latin typeface="Times New Roman" pitchFamily="18" charset="0"/>
                <a:cs typeface="Times New Roman" pitchFamily="18" charset="0"/>
              </a:rPr>
              <a:t>Secondary Scheduler </a:t>
            </a:r>
            <a:endParaRPr lang="en-US" b="1" u="sng" dirty="0">
              <a:latin typeface="Times New Roman" pitchFamily="18" charset="0"/>
              <a:cs typeface="Times New Roman" pitchFamily="18" charset="0"/>
            </a:endParaRPr>
          </a:p>
          <a:p>
            <a:pPr marL="514350" indent="-514350" algn="just">
              <a:buFont typeface="+mj-lt"/>
              <a:buAutoNum type="arabicPeriod"/>
              <a:defRPr/>
            </a:pPr>
            <a:r>
              <a:rPr lang="en-US" dirty="0">
                <a:latin typeface="Times New Roman" pitchFamily="18" charset="0"/>
                <a:cs typeface="Times New Roman" pitchFamily="18" charset="0"/>
              </a:rPr>
              <a:t>It is responsible for increasing the priority of non-executing threads. </a:t>
            </a:r>
          </a:p>
          <a:p>
            <a:pPr marL="514350" indent="-514350" algn="just">
              <a:buFont typeface="+mj-lt"/>
              <a:buAutoNum type="arabicPeriod"/>
              <a:defRPr/>
            </a:pPr>
            <a:r>
              <a:rPr lang="en-US" dirty="0">
                <a:latin typeface="Times New Roman" pitchFamily="18" charset="0"/>
                <a:cs typeface="Times New Roman" pitchFamily="18" charset="0"/>
              </a:rPr>
              <a:t>It is important that those low-priority threads are given a chance to run on the operating system and this is the function of this type of scheduler.</a:t>
            </a:r>
          </a:p>
          <a:p>
            <a:pPr algn="just">
              <a:defRPr/>
            </a:pPr>
            <a:endParaRPr lang="en-US" dirty="0">
              <a:latin typeface="Times New Roman" pitchFamily="18" charset="0"/>
              <a:cs typeface="Times New Roman" pitchFamily="18" charset="0"/>
            </a:endParaRPr>
          </a:p>
        </p:txBody>
      </p:sp>
      <p:sp>
        <p:nvSpPr>
          <p:cNvPr id="8" name="Title 7">
            <a:extLst>
              <a:ext uri="{FF2B5EF4-FFF2-40B4-BE49-F238E27FC236}">
                <a16:creationId xmlns:a16="http://schemas.microsoft.com/office/drawing/2014/main" xmlns="" id="{BDA01A5E-1549-4006-8590-69182A1AD0DE}"/>
              </a:ext>
            </a:extLst>
          </p:cNvPr>
          <p:cNvSpPr>
            <a:spLocks noGrp="1"/>
          </p:cNvSpPr>
          <p:nvPr>
            <p:ph type="title"/>
          </p:nvPr>
        </p:nvSpPr>
        <p:spPr>
          <a:xfrm>
            <a:off x="0" y="0"/>
            <a:ext cx="9144000" cy="1066800"/>
          </a:xfrm>
        </p:spPr>
        <p:txBody>
          <a:bodyPr>
            <a:noAutofit/>
          </a:bodyPr>
          <a:lstStyle/>
          <a:p>
            <a:pPr>
              <a:buClr>
                <a:schemeClr val="tx1"/>
              </a:buClr>
            </a:pPr>
            <a:r>
              <a:rPr lang="en-US" sz="3600" b="1" dirty="0">
                <a:solidFill>
                  <a:schemeClr val="accent3">
                    <a:lumMod val="75000"/>
                  </a:schemeClr>
                </a:solidFill>
                <a:latin typeface="Times New Roman" panose="02020603050405020304" pitchFamily="18" charset="0"/>
                <a:cs typeface="Times New Roman" panose="02020603050405020304" pitchFamily="18" charset="0"/>
              </a:rPr>
              <a:t>Scheduling and Scheduler: Secondary Scheduler</a:t>
            </a:r>
          </a:p>
        </p:txBody>
      </p:sp>
    </p:spTree>
    <p:extLst>
      <p:ext uri="{BB962C8B-B14F-4D97-AF65-F5344CB8AC3E}">
        <p14:creationId xmlns:p14="http://schemas.microsoft.com/office/powerpoint/2010/main" val="384285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Muhammad Adnan Malik\Desktop\empty-fuel-gage.gif"/>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extLst>
      <p:ext uri="{BB962C8B-B14F-4D97-AF65-F5344CB8AC3E}">
        <p14:creationId xmlns:p14="http://schemas.microsoft.com/office/powerpoint/2010/main" val="27904379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3740</TotalTime>
  <Words>974</Words>
  <Application>Microsoft Office PowerPoint</Application>
  <PresentationFormat>On-screen Show (4:3)</PresentationFormat>
  <Paragraphs>140</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Times New Roman</vt:lpstr>
      <vt:lpstr>Wingdings</vt:lpstr>
      <vt:lpstr>Office Theme</vt:lpstr>
      <vt:lpstr>PowerPoint Presentation</vt:lpstr>
      <vt:lpstr>PowerPoint Presentation</vt:lpstr>
      <vt:lpstr>Types of Processes/Process Initialization</vt:lpstr>
      <vt:lpstr>Background Processes</vt:lpstr>
      <vt:lpstr>Foreground Processes</vt:lpstr>
      <vt:lpstr>Difference between program and a Process</vt:lpstr>
      <vt:lpstr>PowerPoint Presentation</vt:lpstr>
      <vt:lpstr>Kernel</vt:lpstr>
      <vt:lpstr>Kernel</vt:lpstr>
      <vt:lpstr>Important</vt:lpstr>
      <vt:lpstr>Kernel</vt:lpstr>
      <vt:lpstr>PowerPoint Presentation</vt:lpstr>
      <vt:lpstr>System Call</vt:lpstr>
      <vt:lpstr>System Call: An Example</vt:lpstr>
      <vt:lpstr>System Call: Services</vt:lpstr>
      <vt:lpstr>System Call: Types of System Calls</vt:lpstr>
      <vt:lpstr>PowerPoint Presentation</vt:lpstr>
      <vt:lpstr>Process management Techniques in O.S</vt:lpstr>
      <vt:lpstr>PowerPoint Presentation</vt:lpstr>
      <vt:lpstr>Threads</vt:lpstr>
      <vt:lpstr>Threads</vt:lpstr>
      <vt:lpstr>Advantages of Threads</vt:lpstr>
      <vt:lpstr>Threads: An example</vt:lpstr>
      <vt:lpstr>Types of Threads</vt:lpstr>
      <vt:lpstr>Processes Vs Threads</vt:lpstr>
      <vt:lpstr>Processes Vs Threads</vt:lpstr>
      <vt:lpstr>Blocked and Ready</vt:lpstr>
      <vt:lpstr>Blocked and Ready</vt:lpstr>
      <vt:lpstr>PowerPoint Presentation</vt:lpstr>
      <vt:lpstr>Swapping</vt:lpstr>
      <vt:lpstr>Why we need Swapping?</vt:lpstr>
      <vt:lpstr>Why we need Swapping?</vt:lpstr>
      <vt:lpstr>PowerPoint Presentation</vt:lpstr>
      <vt:lpstr>Scheduling and Scheduler</vt:lpstr>
      <vt:lpstr>Types of Scheduler</vt:lpstr>
      <vt:lpstr>Scheduling and Scheduler: Primary Scheduler</vt:lpstr>
      <vt:lpstr>Scheduling and Scheduler: Secondary Scheduler</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ADDNAN</dc:creator>
  <cp:lastModifiedBy>Shahmir</cp:lastModifiedBy>
  <cp:revision>155</cp:revision>
  <dcterms:created xsi:type="dcterms:W3CDTF">2006-08-16T00:00:00Z</dcterms:created>
  <dcterms:modified xsi:type="dcterms:W3CDTF">2019-04-08T06:38:09Z</dcterms:modified>
</cp:coreProperties>
</file>