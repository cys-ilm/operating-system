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7" r:id="rId2"/>
    <p:sldId id="371" r:id="rId3"/>
    <p:sldId id="372" r:id="rId4"/>
    <p:sldId id="373" r:id="rId5"/>
    <p:sldId id="374" r:id="rId6"/>
    <p:sldId id="375" r:id="rId7"/>
    <p:sldId id="376" r:id="rId8"/>
    <p:sldId id="377" r:id="rId9"/>
    <p:sldId id="378" r:id="rId10"/>
    <p:sldId id="379" r:id="rId11"/>
    <p:sldId id="380" r:id="rId12"/>
    <p:sldId id="381" r:id="rId13"/>
    <p:sldId id="403" r:id="rId14"/>
    <p:sldId id="404" r:id="rId15"/>
    <p:sldId id="405" r:id="rId16"/>
    <p:sldId id="382" r:id="rId17"/>
    <p:sldId id="383" r:id="rId18"/>
    <p:sldId id="384" r:id="rId19"/>
    <p:sldId id="407" r:id="rId20"/>
    <p:sldId id="408" r:id="rId21"/>
    <p:sldId id="385" r:id="rId22"/>
    <p:sldId id="386" r:id="rId23"/>
    <p:sldId id="387" r:id="rId24"/>
    <p:sldId id="388" r:id="rId25"/>
    <p:sldId id="389" r:id="rId26"/>
    <p:sldId id="390" r:id="rId27"/>
    <p:sldId id="392" r:id="rId28"/>
    <p:sldId id="409" r:id="rId29"/>
    <p:sldId id="393" r:id="rId30"/>
    <p:sldId id="410" r:id="rId31"/>
    <p:sldId id="394" r:id="rId32"/>
    <p:sldId id="395" r:id="rId33"/>
    <p:sldId id="396" r:id="rId34"/>
    <p:sldId id="411" r:id="rId35"/>
    <p:sldId id="397" r:id="rId36"/>
    <p:sldId id="398" r:id="rId37"/>
    <p:sldId id="412" r:id="rId38"/>
    <p:sldId id="400" r:id="rId39"/>
    <p:sldId id="401" r:id="rId40"/>
    <p:sldId id="402" r:id="rId41"/>
    <p:sldId id="413" r:id="rId42"/>
    <p:sldId id="414" r:id="rId43"/>
    <p:sldId id="415" r:id="rId44"/>
    <p:sldId id="356"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91" autoAdjust="0"/>
    <p:restoredTop sz="94660"/>
  </p:normalViewPr>
  <p:slideViewPr>
    <p:cSldViewPr>
      <p:cViewPr varScale="1">
        <p:scale>
          <a:sx n="70" d="100"/>
          <a:sy n="70" d="100"/>
        </p:scale>
        <p:origin x="144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65BB1CA-D4D1-4052-BB55-2B7D3E8029F1}" type="datetimeFigureOut">
              <a:rPr lang="en-US" smtClean="0"/>
              <a:pPr/>
              <a:t>3/31/2019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B5A5784-93A2-494A-AA95-91D34290EABC}" type="slidenum">
              <a:rPr lang="en-US" smtClean="0"/>
              <a:pPr/>
              <a:t>‹#›</a:t>
            </a:fld>
            <a:endParaRPr lang="en-US"/>
          </a:p>
        </p:txBody>
      </p:sp>
    </p:spTree>
    <p:extLst>
      <p:ext uri="{BB962C8B-B14F-4D97-AF65-F5344CB8AC3E}">
        <p14:creationId xmlns:p14="http://schemas.microsoft.com/office/powerpoint/2010/main" val="6509886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3/31/2019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3/31/2019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3/31/2019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3/31/2019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3/31/2019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3/31/2019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066800"/>
            <a:ext cx="8229600" cy="838200"/>
          </a:xfrm>
        </p:spPr>
        <p:txBody>
          <a:bodyPr/>
          <a:lstStyle/>
          <a:p>
            <a:r>
              <a:rPr lang="en-US"/>
              <a:t>Click to edit Master title style</a:t>
            </a:r>
          </a:p>
        </p:txBody>
      </p:sp>
      <p:sp>
        <p:nvSpPr>
          <p:cNvPr id="3" name="Text Placeholder 2"/>
          <p:cNvSpPr>
            <a:spLocks noGrp="1"/>
          </p:cNvSpPr>
          <p:nvPr>
            <p:ph type="body" sz="half" idx="1"/>
          </p:nvPr>
        </p:nvSpPr>
        <p:spPr>
          <a:xfrm>
            <a:off x="457200" y="2057400"/>
            <a:ext cx="4038600" cy="4068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2057400"/>
            <a:ext cx="4038600" cy="4068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5225"/>
            <a:ext cx="2133600" cy="476250"/>
          </a:xfrm>
        </p:spPr>
        <p:txBody>
          <a:bodyPr/>
          <a:lstStyle>
            <a:lvl1pPr>
              <a:defRPr/>
            </a:lvl1pPr>
          </a:lstStyle>
          <a:p>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72D039A8-6B2D-46B2-9F06-B3F4BB0F330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3/31/2019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en.wikipedia.org/wiki/Object_(computer_science)" TargetMode="External"/><Relationship Id="rId2" Type="http://schemas.openxmlformats.org/officeDocument/2006/relationships/hyperlink" Target="https://en.wikipedia.org/wiki/Object-oriented_programming" TargetMode="External"/><Relationship Id="rId1" Type="http://schemas.openxmlformats.org/officeDocument/2006/relationships/slideLayout" Target="../slideLayouts/slideLayout2.xml"/><Relationship Id="rId4" Type="http://schemas.openxmlformats.org/officeDocument/2006/relationships/hyperlink" Target="https://en.wikipedia.org/wiki/Run_time_(program_lifecycle_phase)"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www.webopedia.com/TERM/F/file_management_system.html" TargetMode="External"/><Relationship Id="rId2" Type="http://schemas.openxmlformats.org/officeDocument/2006/relationships/hyperlink" Target="https://www.webopedia.com/TERM/H/hierarchical.html" TargetMode="External"/><Relationship Id="rId1" Type="http://schemas.openxmlformats.org/officeDocument/2006/relationships/slideLayout" Target="../slideLayouts/slideLayout2.xml"/><Relationship Id="rId5" Type="http://schemas.openxmlformats.org/officeDocument/2006/relationships/hyperlink" Target="https://www.webopedia.com/TERM/T/tree_structure.html" TargetMode="External"/><Relationship Id="rId4" Type="http://schemas.openxmlformats.org/officeDocument/2006/relationships/hyperlink" Target="https://www.webopedia.com/TERM/D/directory.html" TargetMode="External"/></Relationships>
</file>

<file path=ppt/slides/_rels/slide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2863" y="42863"/>
            <a:ext cx="9066212" cy="6773862"/>
          </a:xfrm>
          <a:prstGeom prst="rect">
            <a:avLst/>
          </a:prstGeom>
          <a:solidFill>
            <a:srgbClr val="CC9900"/>
          </a:solidFill>
          <a:ln w="76200">
            <a:solidFill>
              <a:srgbClr val="006600"/>
            </a:solidFill>
            <a:miter lim="800000"/>
            <a:headEnd/>
            <a:tailEnd/>
          </a:ln>
        </p:spPr>
        <p:txBody>
          <a:bodyPr wrap="none" anchor="ctr"/>
          <a:lstStyle/>
          <a:p>
            <a:pPr algn="ctr"/>
            <a:endParaRPr lang="en-US" sz="2400"/>
          </a:p>
        </p:txBody>
      </p:sp>
      <p:pic>
        <p:nvPicPr>
          <p:cNvPr id="3075" name="Picture 3" descr="C:\My Pictures\surveyart.bmp"/>
          <p:cNvPicPr>
            <a:picLocks noChangeAspect="1" noChangeArrowheads="1"/>
          </p:cNvPicPr>
          <p:nvPr/>
        </p:nvPicPr>
        <p:blipFill>
          <a:blip r:embed="rId2"/>
          <a:srcRect/>
          <a:stretch>
            <a:fillRect/>
          </a:stretch>
        </p:blipFill>
        <p:spPr bwMode="auto">
          <a:xfrm>
            <a:off x="381000" y="304800"/>
            <a:ext cx="8382000" cy="6286500"/>
          </a:xfrm>
          <a:prstGeom prst="rect">
            <a:avLst/>
          </a:prstGeom>
          <a:noFill/>
          <a:ln w="9525">
            <a:noFill/>
            <a:miter lim="800000"/>
            <a:headEnd/>
            <a:tailEnd/>
          </a:ln>
        </p:spPr>
      </p:pic>
      <p:sp>
        <p:nvSpPr>
          <p:cNvPr id="24580" name="Text Box 4"/>
          <p:cNvSpPr txBox="1">
            <a:spLocks noChangeArrowheads="1"/>
          </p:cNvSpPr>
          <p:nvPr/>
        </p:nvSpPr>
        <p:spPr bwMode="auto">
          <a:xfrm>
            <a:off x="42863" y="920679"/>
            <a:ext cx="9058274" cy="1200329"/>
          </a:xfrm>
          <a:prstGeom prst="rect">
            <a:avLst/>
          </a:prstGeom>
          <a:noFill/>
          <a:ln w="9525">
            <a:noFill/>
            <a:miter lim="800000"/>
            <a:headEnd/>
            <a:tailEnd/>
          </a:ln>
          <a:effectLst>
            <a:outerShdw dist="63500" dir="2212194" algn="ctr" rotWithShape="0">
              <a:srgbClr val="663300"/>
            </a:outerShdw>
          </a:effectLst>
        </p:spPr>
        <p:txBody>
          <a:bodyPr wrap="square">
            <a:spAutoFit/>
          </a:bodyPr>
          <a:lstStyle/>
          <a:p>
            <a:pPr algn="ctr">
              <a:defRPr/>
            </a:pPr>
            <a:r>
              <a:rPr lang="en-US" sz="7200" b="1" dirty="0">
                <a:solidFill>
                  <a:schemeClr val="bg1"/>
                </a:solidFill>
              </a:rPr>
              <a:t>Operating Systems</a:t>
            </a:r>
          </a:p>
        </p:txBody>
      </p:sp>
      <p:sp>
        <p:nvSpPr>
          <p:cNvPr id="24582" name="AutoShape 6"/>
          <p:cNvSpPr>
            <a:spLocks noChangeArrowheads="1"/>
          </p:cNvSpPr>
          <p:nvPr/>
        </p:nvSpPr>
        <p:spPr bwMode="auto">
          <a:xfrm>
            <a:off x="1409700" y="2098699"/>
            <a:ext cx="6324600" cy="3456682"/>
          </a:xfrm>
          <a:prstGeom prst="flowChartDecision">
            <a:avLst/>
          </a:prstGeom>
          <a:solidFill>
            <a:schemeClr val="bg1"/>
          </a:solidFill>
          <a:ln w="76200">
            <a:solidFill>
              <a:srgbClr val="CC9900"/>
            </a:solidFill>
            <a:miter lim="800000"/>
            <a:headEnd/>
            <a:tailEnd/>
          </a:ln>
          <a:effectLst>
            <a:prstShdw prst="shdw17" dist="17961" dir="13500000">
              <a:schemeClr val="tx1"/>
            </a:prstShdw>
          </a:effectLst>
        </p:spPr>
        <p:txBody>
          <a:bodyPr wrap="none" anchor="ctr"/>
          <a:lstStyle/>
          <a:p>
            <a:pPr algn="ctr">
              <a:defRPr/>
            </a:pPr>
            <a:r>
              <a:rPr lang="en-US" sz="2400" b="1" i="1" dirty="0">
                <a:solidFill>
                  <a:srgbClr val="7030A0"/>
                </a:solidFill>
              </a:rPr>
              <a:t>Lecture#2</a:t>
            </a:r>
          </a:p>
          <a:p>
            <a:pPr algn="ctr">
              <a:defRPr/>
            </a:pPr>
            <a:r>
              <a:rPr lang="en-US" sz="2400" b="1" dirty="0">
                <a:solidFill>
                  <a:srgbClr val="7030A0"/>
                </a:solidFill>
              </a:rPr>
              <a:t>Types of interfaces,</a:t>
            </a:r>
          </a:p>
          <a:p>
            <a:pPr algn="ctr">
              <a:defRPr/>
            </a:pPr>
            <a:r>
              <a:rPr lang="en-US" sz="2400" b="1" dirty="0">
                <a:solidFill>
                  <a:srgbClr val="7030A0"/>
                </a:solidFill>
              </a:rPr>
              <a:t> Basic O.S concepts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25" name="Rectangle 9"/>
          <p:cNvSpPr>
            <a:spLocks noChangeArrowheads="1"/>
          </p:cNvSpPr>
          <p:nvPr/>
        </p:nvSpPr>
        <p:spPr bwMode="auto">
          <a:xfrm>
            <a:off x="10551" y="2160564"/>
            <a:ext cx="9144000" cy="4722054"/>
          </a:xfrm>
          <a:prstGeom prst="rect">
            <a:avLst/>
          </a:prstGeom>
          <a:noFill/>
          <a:ln w="12700" cap="sq">
            <a:noFill/>
            <a:miter lim="800000"/>
            <a:headEnd type="none" w="sm" len="sm"/>
            <a:tailEnd type="none" w="sm" len="sm"/>
          </a:ln>
        </p:spPr>
        <p:txBody>
          <a:bodyPr/>
          <a:lstStyle/>
          <a:p>
            <a:pPr algn="ctr">
              <a:spcBef>
                <a:spcPct val="50000"/>
              </a:spcBef>
              <a:defRPr/>
            </a:pPr>
            <a:r>
              <a:rPr lang="en-US" sz="4400" b="1" dirty="0">
                <a:solidFill>
                  <a:schemeClr val="accent3">
                    <a:lumMod val="75000"/>
                  </a:schemeClr>
                </a:solidFill>
                <a:latin typeface="Times New Roman" pitchFamily="18" charset="0"/>
              </a:rPr>
              <a:t>Types of Interfaces Provided By Operating System</a:t>
            </a:r>
          </a:p>
        </p:txBody>
      </p:sp>
    </p:spTree>
    <p:extLst>
      <p:ext uri="{BB962C8B-B14F-4D97-AF65-F5344CB8AC3E}">
        <p14:creationId xmlns:p14="http://schemas.microsoft.com/office/powerpoint/2010/main" val="525997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14400"/>
            <a:ext cx="9144000" cy="5754960"/>
          </a:xfrm>
        </p:spPr>
        <p:txBody>
          <a:bodyPr>
            <a:noAutofit/>
          </a:bodyPr>
          <a:lstStyle/>
          <a:p>
            <a:pPr marL="0" indent="0" algn="just">
              <a:lnSpc>
                <a:spcPct val="150000"/>
              </a:lnSpc>
              <a:buSzPct val="150000"/>
              <a:buNone/>
            </a:pPr>
            <a:r>
              <a:rPr lang="en-GB" sz="2400" b="1" dirty="0">
                <a:solidFill>
                  <a:schemeClr val="tx2"/>
                </a:solidFill>
                <a:latin typeface="Times New Roman" pitchFamily="18" charset="0"/>
                <a:cs typeface="Times New Roman" pitchFamily="18" charset="0"/>
              </a:rPr>
              <a:t>Command Line Interface (CLI)</a:t>
            </a:r>
          </a:p>
          <a:p>
            <a:pPr marL="0" indent="0" algn="just">
              <a:lnSpc>
                <a:spcPct val="150000"/>
              </a:lnSpc>
              <a:buSzPct val="150000"/>
              <a:buNone/>
            </a:pPr>
            <a:r>
              <a:rPr lang="en-GB" sz="2400" dirty="0">
                <a:latin typeface="Times New Roman" pitchFamily="18" charset="0"/>
                <a:cs typeface="Times New Roman" pitchFamily="18" charset="0"/>
              </a:rPr>
              <a:t>A CLI displays a prompt, the user types a command on the keyboard, the computer executes the command and provides textual output.</a:t>
            </a:r>
          </a:p>
          <a:p>
            <a:pPr marL="0" indent="0" algn="just">
              <a:lnSpc>
                <a:spcPct val="150000"/>
              </a:lnSpc>
              <a:buNone/>
            </a:pPr>
            <a:r>
              <a:rPr lang="en-GB" sz="2400" b="1" dirty="0">
                <a:solidFill>
                  <a:schemeClr val="tx2"/>
                </a:solidFill>
                <a:latin typeface="Times New Roman" pitchFamily="18" charset="0"/>
                <a:cs typeface="Times New Roman" pitchFamily="18" charset="0"/>
              </a:rPr>
              <a:t>Graphical User Interface (GUI)</a:t>
            </a:r>
          </a:p>
          <a:p>
            <a:pPr marL="0" indent="0" algn="just">
              <a:lnSpc>
                <a:spcPct val="150000"/>
              </a:lnSpc>
              <a:buNone/>
            </a:pPr>
            <a:r>
              <a:rPr lang="en-GB" sz="2400" dirty="0">
                <a:latin typeface="Times New Roman" pitchFamily="18" charset="0"/>
                <a:cs typeface="Times New Roman" pitchFamily="18" charset="0"/>
              </a:rPr>
              <a:t>Uses windows, icons, menus and pointers </a:t>
            </a:r>
          </a:p>
          <a:p>
            <a:pPr marL="0" indent="0" algn="just">
              <a:lnSpc>
                <a:spcPct val="150000"/>
              </a:lnSpc>
              <a:buNone/>
            </a:pPr>
            <a:r>
              <a:rPr lang="en-GB" sz="2400" b="1" dirty="0">
                <a:solidFill>
                  <a:schemeClr val="tx2"/>
                </a:solidFill>
                <a:latin typeface="Times New Roman" pitchFamily="18" charset="0"/>
                <a:cs typeface="Times New Roman" pitchFamily="18" charset="0"/>
              </a:rPr>
              <a:t>Natural Language Interface</a:t>
            </a:r>
          </a:p>
          <a:p>
            <a:pPr marL="82296" indent="0" algn="just">
              <a:lnSpc>
                <a:spcPct val="150000"/>
              </a:lnSpc>
              <a:buNone/>
            </a:pPr>
            <a:r>
              <a:rPr lang="en-GB" sz="2400" dirty="0">
                <a:latin typeface="Times New Roman" pitchFamily="18" charset="0"/>
                <a:cs typeface="Times New Roman" pitchFamily="18" charset="0"/>
              </a:rPr>
              <a:t>Can range from simple command systems to voice activated text processing. Commands are spoken in “normal” language. Example </a:t>
            </a:r>
            <a:r>
              <a:rPr lang="en-GB" sz="2400" dirty="0" smtClean="0">
                <a:latin typeface="Times New Roman" pitchFamily="18" charset="0"/>
                <a:cs typeface="Times New Roman" pitchFamily="18" charset="0"/>
              </a:rPr>
              <a:t>C</a:t>
            </a:r>
            <a:r>
              <a:rPr lang="en-GB" sz="2400" dirty="0">
                <a:latin typeface="Times New Roman" pitchFamily="18" charset="0"/>
                <a:cs typeface="Times New Roman" pitchFamily="18" charset="0"/>
              </a:rPr>
              <a:t>++ language to design programs.</a:t>
            </a: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1143000"/>
          </a:xfrm>
        </p:spPr>
        <p:txBody>
          <a:bodyPr>
            <a:noAutofit/>
          </a:bodyPr>
          <a:lstStyle/>
          <a:p>
            <a:r>
              <a:rPr lang="en-US" sz="3200" b="1" dirty="0">
                <a:solidFill>
                  <a:schemeClr val="accent3">
                    <a:lumMod val="75000"/>
                  </a:schemeClr>
                </a:solidFill>
                <a:latin typeface="Times New Roman" panose="02020603050405020304" pitchFamily="18" charset="0"/>
                <a:cs typeface="Times New Roman" panose="02020603050405020304" pitchFamily="18" charset="0"/>
              </a:rPr>
              <a:t>Types of interfaces between human and computer</a:t>
            </a:r>
          </a:p>
        </p:txBody>
      </p:sp>
    </p:spTree>
    <p:extLst>
      <p:ext uri="{BB962C8B-B14F-4D97-AF65-F5344CB8AC3E}">
        <p14:creationId xmlns:p14="http://schemas.microsoft.com/office/powerpoint/2010/main" val="1898440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title"/>
          </p:nvPr>
        </p:nvSpPr>
        <p:spPr>
          <a:xfrm>
            <a:off x="0" y="34924"/>
            <a:ext cx="9144000" cy="1031875"/>
          </a:xfrm>
        </p:spPr>
        <p:txBody>
          <a:bodyPr>
            <a:normAutofit/>
          </a:bodyPr>
          <a:lstStyle/>
          <a:p>
            <a:r>
              <a:rPr lang="en-US" b="1" dirty="0">
                <a:solidFill>
                  <a:schemeClr val="accent3">
                    <a:lumMod val="75000"/>
                  </a:schemeClr>
                </a:solidFill>
                <a:latin typeface="Times New Roman" panose="02020603050405020304" pitchFamily="18" charset="0"/>
                <a:cs typeface="Times New Roman" panose="02020603050405020304" pitchFamily="18" charset="0"/>
              </a:rPr>
              <a:t>CLI Interface: DOS OS</a:t>
            </a:r>
            <a:endParaRPr lang="en-GB" b="1" dirty="0">
              <a:solidFill>
                <a:schemeClr val="accent3">
                  <a:lumMod val="50000"/>
                </a:schemeClr>
              </a:solidFill>
              <a:latin typeface="Times New Roman" panose="02020603050405020304" pitchFamily="18" charset="0"/>
              <a:cs typeface="Times New Roman" panose="02020603050405020304" pitchFamily="18" charset="0"/>
            </a:endParaRPr>
          </a:p>
        </p:txBody>
      </p:sp>
      <p:sp>
        <p:nvSpPr>
          <p:cNvPr id="32771" name="Rectangle 8"/>
          <p:cNvSpPr>
            <a:spLocks noChangeArrowheads="1"/>
          </p:cNvSpPr>
          <p:nvPr/>
        </p:nvSpPr>
        <p:spPr bwMode="auto">
          <a:xfrm>
            <a:off x="228600" y="2549525"/>
            <a:ext cx="5638800" cy="584200"/>
          </a:xfrm>
          <a:prstGeom prst="rect">
            <a:avLst/>
          </a:prstGeom>
          <a:noFill/>
          <a:ln w="12700" cap="sq">
            <a:noFill/>
            <a:miter lim="800000"/>
            <a:headEnd type="none" w="sm" len="sm"/>
            <a:tailEnd type="none" w="sm" len="sm"/>
          </a:ln>
        </p:spPr>
        <p:txBody>
          <a:bodyPr/>
          <a:lstStyle/>
          <a:p>
            <a:pPr marL="342900" indent="-342900">
              <a:spcBef>
                <a:spcPct val="20000"/>
              </a:spcBef>
              <a:buClr>
                <a:schemeClr val="tx2"/>
              </a:buClr>
              <a:buSzPct val="75000"/>
              <a:buFont typeface="Wingdings" pitchFamily="2" charset="2"/>
              <a:buChar char="n"/>
            </a:pPr>
            <a:endParaRPr lang="en-IE" sz="2800"/>
          </a:p>
        </p:txBody>
      </p:sp>
      <p:sp>
        <p:nvSpPr>
          <p:cNvPr id="214025" name="Rectangle 9"/>
          <p:cNvSpPr>
            <a:spLocks noChangeArrowheads="1"/>
          </p:cNvSpPr>
          <p:nvPr/>
        </p:nvSpPr>
        <p:spPr bwMode="auto">
          <a:xfrm>
            <a:off x="0" y="1066798"/>
            <a:ext cx="9144000" cy="5788855"/>
          </a:xfrm>
          <a:prstGeom prst="rect">
            <a:avLst/>
          </a:prstGeom>
          <a:noFill/>
          <a:ln w="12700" cap="sq">
            <a:noFill/>
            <a:miter lim="800000"/>
            <a:headEnd type="none" w="sm" len="sm"/>
            <a:tailEnd type="none" w="sm" len="sm"/>
          </a:ln>
        </p:spPr>
        <p:txBody>
          <a:bodyPr/>
          <a:lstStyle/>
          <a:p>
            <a:pPr>
              <a:buSzPct val="150000"/>
            </a:pPr>
            <a:r>
              <a:rPr lang="en-GB" sz="2400" b="1" dirty="0">
                <a:latin typeface="Times New Roman" pitchFamily="18" charset="0"/>
                <a:cs typeface="Times New Roman" pitchFamily="18" charset="0"/>
              </a:rPr>
              <a:t>Example of command line interface. (MS-DOS):Microsoft disk Operating system</a:t>
            </a:r>
            <a:endParaRPr lang="en-GB" sz="2400" dirty="0">
              <a:latin typeface="Times New Roman" pitchFamily="18" charset="0"/>
              <a:cs typeface="Times New Roman" pitchFamily="18" charset="0"/>
            </a:endParaRPr>
          </a:p>
        </p:txBody>
      </p:sp>
      <p:pic>
        <p:nvPicPr>
          <p:cNvPr id="1026" name="Picture 2" descr="Image result for DOS">
            <a:extLst>
              <a:ext uri="{FF2B5EF4-FFF2-40B4-BE49-F238E27FC236}">
                <a16:creationId xmlns:a16="http://schemas.microsoft.com/office/drawing/2014/main" xmlns="" id="{1B39C273-AB69-4DAB-948C-1F08F5726C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209800"/>
            <a:ext cx="9144000" cy="4648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1463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title"/>
          </p:nvPr>
        </p:nvSpPr>
        <p:spPr>
          <a:xfrm>
            <a:off x="0" y="34924"/>
            <a:ext cx="9144000" cy="1031875"/>
          </a:xfrm>
        </p:spPr>
        <p:txBody>
          <a:bodyPr>
            <a:noAutofit/>
          </a:bodyPr>
          <a:lstStyle/>
          <a:p>
            <a:r>
              <a:rPr lang="en-US" sz="4000" b="1" dirty="0">
                <a:solidFill>
                  <a:schemeClr val="accent3">
                    <a:lumMod val="75000"/>
                  </a:schemeClr>
                </a:solidFill>
                <a:latin typeface="Times New Roman" panose="02020603050405020304" pitchFamily="18" charset="0"/>
                <a:cs typeface="Times New Roman" panose="02020603050405020304" pitchFamily="18" charset="0"/>
              </a:rPr>
              <a:t>GUI(Graphical User Interface) Interface</a:t>
            </a:r>
            <a:endParaRPr lang="en-GB" sz="4000" b="1" dirty="0">
              <a:solidFill>
                <a:schemeClr val="accent3">
                  <a:lumMod val="50000"/>
                </a:schemeClr>
              </a:solidFill>
              <a:latin typeface="Times New Roman" panose="02020603050405020304" pitchFamily="18" charset="0"/>
              <a:cs typeface="Times New Roman" panose="02020603050405020304" pitchFamily="18" charset="0"/>
            </a:endParaRPr>
          </a:p>
        </p:txBody>
      </p:sp>
      <p:sp>
        <p:nvSpPr>
          <p:cNvPr id="32771" name="Rectangle 8"/>
          <p:cNvSpPr>
            <a:spLocks noChangeArrowheads="1"/>
          </p:cNvSpPr>
          <p:nvPr/>
        </p:nvSpPr>
        <p:spPr bwMode="auto">
          <a:xfrm>
            <a:off x="228600" y="2549525"/>
            <a:ext cx="5638800" cy="584200"/>
          </a:xfrm>
          <a:prstGeom prst="rect">
            <a:avLst/>
          </a:prstGeom>
          <a:noFill/>
          <a:ln w="12700" cap="sq">
            <a:noFill/>
            <a:miter lim="800000"/>
            <a:headEnd type="none" w="sm" len="sm"/>
            <a:tailEnd type="none" w="sm" len="sm"/>
          </a:ln>
        </p:spPr>
        <p:txBody>
          <a:bodyPr/>
          <a:lstStyle/>
          <a:p>
            <a:pPr marL="342900" indent="-342900">
              <a:spcBef>
                <a:spcPct val="20000"/>
              </a:spcBef>
              <a:buClr>
                <a:schemeClr val="tx2"/>
              </a:buClr>
              <a:buSzPct val="75000"/>
              <a:buFont typeface="Wingdings" pitchFamily="2" charset="2"/>
              <a:buChar char="n"/>
            </a:pPr>
            <a:endParaRPr lang="en-IE" sz="2800"/>
          </a:p>
        </p:txBody>
      </p:sp>
      <p:sp>
        <p:nvSpPr>
          <p:cNvPr id="214025" name="Rectangle 9"/>
          <p:cNvSpPr>
            <a:spLocks noChangeArrowheads="1"/>
          </p:cNvSpPr>
          <p:nvPr/>
        </p:nvSpPr>
        <p:spPr bwMode="auto">
          <a:xfrm>
            <a:off x="0" y="1066798"/>
            <a:ext cx="9144000" cy="5788855"/>
          </a:xfrm>
          <a:prstGeom prst="rect">
            <a:avLst/>
          </a:prstGeom>
          <a:noFill/>
          <a:ln w="12700" cap="sq">
            <a:noFill/>
            <a:miter lim="800000"/>
            <a:headEnd type="none" w="sm" len="sm"/>
            <a:tailEnd type="none" w="sm" len="sm"/>
          </a:ln>
        </p:spPr>
        <p:txBody>
          <a:bodyPr/>
          <a:lstStyle/>
          <a:p>
            <a:pPr>
              <a:lnSpc>
                <a:spcPct val="150000"/>
              </a:lnSpc>
              <a:buFontTx/>
              <a:buChar char="•"/>
              <a:tabLst>
                <a:tab pos="114300" algn="l"/>
                <a:tab pos="177800" algn="l"/>
                <a:tab pos="685800" algn="l"/>
              </a:tabLst>
              <a:defRPr/>
            </a:pPr>
            <a:endParaRPr lang="en-US" sz="2800" dirty="0">
              <a:effectLst>
                <a:outerShdw blurRad="38100" dist="38100" dir="2700000" algn="tl">
                  <a:srgbClr val="FFFFFF"/>
                </a:outerShdw>
              </a:effectLst>
              <a:latin typeface="Times New Roman" pitchFamily="18" charset="0"/>
            </a:endParaRPr>
          </a:p>
        </p:txBody>
      </p:sp>
      <p:pic>
        <p:nvPicPr>
          <p:cNvPr id="2050" name="Picture 2" descr="Image result for windows 98">
            <a:extLst>
              <a:ext uri="{FF2B5EF4-FFF2-40B4-BE49-F238E27FC236}">
                <a16:creationId xmlns:a16="http://schemas.microsoft.com/office/drawing/2014/main" xmlns="" id="{F41D9FFA-EEBB-438C-9BD3-C5B17BA14F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781028"/>
            <a:ext cx="6781800" cy="508635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xmlns="" id="{29449925-DF87-4110-BB4B-16909859B19A}"/>
              </a:ext>
            </a:extLst>
          </p:cNvPr>
          <p:cNvSpPr/>
          <p:nvPr/>
        </p:nvSpPr>
        <p:spPr>
          <a:xfrm>
            <a:off x="-15240" y="863430"/>
            <a:ext cx="9159240" cy="461665"/>
          </a:xfrm>
          <a:prstGeom prst="rect">
            <a:avLst/>
          </a:prstGeom>
        </p:spPr>
        <p:txBody>
          <a:bodyPr wrap="square">
            <a:spAutoFit/>
          </a:bodyPr>
          <a:lstStyle/>
          <a:p>
            <a:pPr>
              <a:buSzPct val="150000"/>
            </a:pPr>
            <a:r>
              <a:rPr lang="en-GB" sz="2400" b="1" dirty="0">
                <a:latin typeface="Times New Roman" pitchFamily="18" charset="0"/>
                <a:cs typeface="Times New Roman" pitchFamily="18" charset="0"/>
              </a:rPr>
              <a:t>Example of Graphical user interface(GUI), windows 98</a:t>
            </a:r>
            <a:endParaRPr lang="en-GB" sz="2400" dirty="0">
              <a:latin typeface="Times New Roman" pitchFamily="18" charset="0"/>
              <a:cs typeface="Times New Roman" pitchFamily="18" charset="0"/>
            </a:endParaRPr>
          </a:p>
        </p:txBody>
      </p:sp>
    </p:spTree>
    <p:extLst>
      <p:ext uri="{BB962C8B-B14F-4D97-AF65-F5344CB8AC3E}">
        <p14:creationId xmlns:p14="http://schemas.microsoft.com/office/powerpoint/2010/main" val="398151445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title"/>
          </p:nvPr>
        </p:nvSpPr>
        <p:spPr>
          <a:xfrm>
            <a:off x="0" y="34924"/>
            <a:ext cx="9144000" cy="1031875"/>
          </a:xfrm>
        </p:spPr>
        <p:txBody>
          <a:bodyPr>
            <a:noAutofit/>
          </a:bodyPr>
          <a:lstStyle/>
          <a:p>
            <a:r>
              <a:rPr lang="en-US" sz="4000" b="1" dirty="0">
                <a:solidFill>
                  <a:schemeClr val="accent3">
                    <a:lumMod val="75000"/>
                  </a:schemeClr>
                </a:solidFill>
                <a:latin typeface="Times New Roman" panose="02020603050405020304" pitchFamily="18" charset="0"/>
                <a:cs typeface="Times New Roman" panose="02020603050405020304" pitchFamily="18" charset="0"/>
              </a:rPr>
              <a:t>GUI(Graphical User Interface) Interface</a:t>
            </a:r>
            <a:endParaRPr lang="en-GB" sz="4000" b="1" dirty="0">
              <a:solidFill>
                <a:schemeClr val="accent3">
                  <a:lumMod val="50000"/>
                </a:schemeClr>
              </a:solidFill>
              <a:latin typeface="Times New Roman" panose="02020603050405020304" pitchFamily="18" charset="0"/>
              <a:cs typeface="Times New Roman" panose="02020603050405020304" pitchFamily="18" charset="0"/>
            </a:endParaRPr>
          </a:p>
        </p:txBody>
      </p:sp>
      <p:sp>
        <p:nvSpPr>
          <p:cNvPr id="32771" name="Rectangle 8"/>
          <p:cNvSpPr>
            <a:spLocks noChangeArrowheads="1"/>
          </p:cNvSpPr>
          <p:nvPr/>
        </p:nvSpPr>
        <p:spPr bwMode="auto">
          <a:xfrm>
            <a:off x="228600" y="2549525"/>
            <a:ext cx="5638800" cy="584200"/>
          </a:xfrm>
          <a:prstGeom prst="rect">
            <a:avLst/>
          </a:prstGeom>
          <a:noFill/>
          <a:ln w="12700" cap="sq">
            <a:noFill/>
            <a:miter lim="800000"/>
            <a:headEnd type="none" w="sm" len="sm"/>
            <a:tailEnd type="none" w="sm" len="sm"/>
          </a:ln>
        </p:spPr>
        <p:txBody>
          <a:bodyPr/>
          <a:lstStyle/>
          <a:p>
            <a:pPr marL="342900" indent="-342900">
              <a:spcBef>
                <a:spcPct val="20000"/>
              </a:spcBef>
              <a:buClr>
                <a:schemeClr val="tx2"/>
              </a:buClr>
              <a:buSzPct val="75000"/>
              <a:buFont typeface="Wingdings" pitchFamily="2" charset="2"/>
              <a:buChar char="n"/>
            </a:pPr>
            <a:endParaRPr lang="en-IE" sz="2800"/>
          </a:p>
        </p:txBody>
      </p:sp>
      <p:sp>
        <p:nvSpPr>
          <p:cNvPr id="214025" name="Rectangle 9"/>
          <p:cNvSpPr>
            <a:spLocks noChangeArrowheads="1"/>
          </p:cNvSpPr>
          <p:nvPr/>
        </p:nvSpPr>
        <p:spPr bwMode="auto">
          <a:xfrm>
            <a:off x="0" y="1066798"/>
            <a:ext cx="9144000" cy="5788855"/>
          </a:xfrm>
          <a:prstGeom prst="rect">
            <a:avLst/>
          </a:prstGeom>
          <a:noFill/>
          <a:ln w="12700" cap="sq">
            <a:noFill/>
            <a:miter lim="800000"/>
            <a:headEnd type="none" w="sm" len="sm"/>
            <a:tailEnd type="none" w="sm" len="sm"/>
          </a:ln>
        </p:spPr>
        <p:txBody>
          <a:bodyPr/>
          <a:lstStyle/>
          <a:p>
            <a:pPr>
              <a:lnSpc>
                <a:spcPct val="150000"/>
              </a:lnSpc>
              <a:buFontTx/>
              <a:buChar char="•"/>
              <a:tabLst>
                <a:tab pos="114300" algn="l"/>
                <a:tab pos="177800" algn="l"/>
                <a:tab pos="685800" algn="l"/>
              </a:tabLst>
              <a:defRPr/>
            </a:pPr>
            <a:endParaRPr lang="en-US" sz="2800" dirty="0">
              <a:effectLst>
                <a:outerShdw blurRad="38100" dist="38100" dir="2700000" algn="tl">
                  <a:srgbClr val="FFFFFF"/>
                </a:outerShdw>
              </a:effectLst>
              <a:latin typeface="Times New Roman" pitchFamily="18" charset="0"/>
            </a:endParaRPr>
          </a:p>
        </p:txBody>
      </p:sp>
      <p:sp>
        <p:nvSpPr>
          <p:cNvPr id="2" name="Rectangle 1">
            <a:extLst>
              <a:ext uri="{FF2B5EF4-FFF2-40B4-BE49-F238E27FC236}">
                <a16:creationId xmlns:a16="http://schemas.microsoft.com/office/drawing/2014/main" xmlns="" id="{29449925-DF87-4110-BB4B-16909859B19A}"/>
              </a:ext>
            </a:extLst>
          </p:cNvPr>
          <p:cNvSpPr/>
          <p:nvPr/>
        </p:nvSpPr>
        <p:spPr>
          <a:xfrm>
            <a:off x="-15240" y="863430"/>
            <a:ext cx="9159240" cy="461665"/>
          </a:xfrm>
          <a:prstGeom prst="rect">
            <a:avLst/>
          </a:prstGeom>
        </p:spPr>
        <p:txBody>
          <a:bodyPr wrap="square">
            <a:spAutoFit/>
          </a:bodyPr>
          <a:lstStyle/>
          <a:p>
            <a:pPr>
              <a:buSzPct val="150000"/>
            </a:pPr>
            <a:r>
              <a:rPr lang="en-GB" sz="2400" b="1" dirty="0">
                <a:latin typeface="Times New Roman" pitchFamily="18" charset="0"/>
                <a:cs typeface="Times New Roman" pitchFamily="18" charset="0"/>
              </a:rPr>
              <a:t>Example of Language interface: C++</a:t>
            </a:r>
            <a:endParaRPr lang="en-GB" sz="2400" dirty="0">
              <a:latin typeface="Times New Roman" pitchFamily="18" charset="0"/>
              <a:cs typeface="Times New Roman" pitchFamily="18" charset="0"/>
            </a:endParaRPr>
          </a:p>
        </p:txBody>
      </p:sp>
      <p:pic>
        <p:nvPicPr>
          <p:cNvPr id="10244" name="Picture 4" descr="Image result for C++">
            <a:extLst>
              <a:ext uri="{FF2B5EF4-FFF2-40B4-BE49-F238E27FC236}">
                <a16:creationId xmlns:a16="http://schemas.microsoft.com/office/drawing/2014/main" xmlns="" id="{B78E3A06-B998-465F-BDD4-3C92472383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52" y="1447800"/>
            <a:ext cx="9144000" cy="54031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57633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title"/>
          </p:nvPr>
        </p:nvSpPr>
        <p:spPr>
          <a:xfrm>
            <a:off x="0" y="34924"/>
            <a:ext cx="9144000" cy="1031875"/>
          </a:xfrm>
        </p:spPr>
        <p:txBody>
          <a:bodyPr>
            <a:noAutofit/>
          </a:bodyPr>
          <a:lstStyle/>
          <a:p>
            <a:r>
              <a:rPr lang="en-US" sz="4000" b="1" dirty="0">
                <a:solidFill>
                  <a:schemeClr val="accent3">
                    <a:lumMod val="75000"/>
                  </a:schemeClr>
                </a:solidFill>
                <a:latin typeface="Times New Roman" panose="02020603050405020304" pitchFamily="18" charset="0"/>
                <a:cs typeface="Times New Roman" panose="02020603050405020304" pitchFamily="18" charset="0"/>
              </a:rPr>
              <a:t>GUI(Graphical User Interface) Interface</a:t>
            </a:r>
            <a:endParaRPr lang="en-GB" sz="4000" b="1" dirty="0">
              <a:solidFill>
                <a:schemeClr val="accent3">
                  <a:lumMod val="50000"/>
                </a:schemeClr>
              </a:solidFill>
              <a:latin typeface="Times New Roman" panose="02020603050405020304" pitchFamily="18" charset="0"/>
              <a:cs typeface="Times New Roman" panose="02020603050405020304" pitchFamily="18" charset="0"/>
            </a:endParaRPr>
          </a:p>
        </p:txBody>
      </p:sp>
      <p:sp>
        <p:nvSpPr>
          <p:cNvPr id="32771" name="Rectangle 8"/>
          <p:cNvSpPr>
            <a:spLocks noChangeArrowheads="1"/>
          </p:cNvSpPr>
          <p:nvPr/>
        </p:nvSpPr>
        <p:spPr bwMode="auto">
          <a:xfrm>
            <a:off x="228600" y="2549525"/>
            <a:ext cx="5638800" cy="584200"/>
          </a:xfrm>
          <a:prstGeom prst="rect">
            <a:avLst/>
          </a:prstGeom>
          <a:noFill/>
          <a:ln w="12700" cap="sq">
            <a:noFill/>
            <a:miter lim="800000"/>
            <a:headEnd type="none" w="sm" len="sm"/>
            <a:tailEnd type="none" w="sm" len="sm"/>
          </a:ln>
        </p:spPr>
        <p:txBody>
          <a:bodyPr/>
          <a:lstStyle/>
          <a:p>
            <a:pPr marL="342900" indent="-342900">
              <a:spcBef>
                <a:spcPct val="20000"/>
              </a:spcBef>
              <a:buClr>
                <a:schemeClr val="tx2"/>
              </a:buClr>
              <a:buSzPct val="75000"/>
              <a:buFont typeface="Wingdings" pitchFamily="2" charset="2"/>
              <a:buChar char="n"/>
            </a:pPr>
            <a:endParaRPr lang="en-IE" sz="2800"/>
          </a:p>
        </p:txBody>
      </p:sp>
      <p:sp>
        <p:nvSpPr>
          <p:cNvPr id="214025" name="Rectangle 9"/>
          <p:cNvSpPr>
            <a:spLocks noChangeArrowheads="1"/>
          </p:cNvSpPr>
          <p:nvPr/>
        </p:nvSpPr>
        <p:spPr bwMode="auto">
          <a:xfrm>
            <a:off x="0" y="1066798"/>
            <a:ext cx="9144000" cy="5788855"/>
          </a:xfrm>
          <a:prstGeom prst="rect">
            <a:avLst/>
          </a:prstGeom>
          <a:noFill/>
          <a:ln w="12700" cap="sq">
            <a:noFill/>
            <a:miter lim="800000"/>
            <a:headEnd type="none" w="sm" len="sm"/>
            <a:tailEnd type="none" w="sm" len="sm"/>
          </a:ln>
        </p:spPr>
        <p:txBody>
          <a:bodyPr/>
          <a:lstStyle/>
          <a:p>
            <a:pPr>
              <a:lnSpc>
                <a:spcPct val="150000"/>
              </a:lnSpc>
              <a:buFontTx/>
              <a:buChar char="•"/>
              <a:tabLst>
                <a:tab pos="114300" algn="l"/>
                <a:tab pos="177800" algn="l"/>
                <a:tab pos="685800" algn="l"/>
              </a:tabLst>
              <a:defRPr/>
            </a:pPr>
            <a:endParaRPr lang="en-US" sz="2800" dirty="0">
              <a:effectLst>
                <a:outerShdw blurRad="38100" dist="38100" dir="2700000" algn="tl">
                  <a:srgbClr val="FFFFFF"/>
                </a:outerShdw>
              </a:effectLst>
              <a:latin typeface="Times New Roman" pitchFamily="18" charset="0"/>
            </a:endParaRPr>
          </a:p>
        </p:txBody>
      </p:sp>
      <p:sp>
        <p:nvSpPr>
          <p:cNvPr id="2" name="Rectangle 1">
            <a:extLst>
              <a:ext uri="{FF2B5EF4-FFF2-40B4-BE49-F238E27FC236}">
                <a16:creationId xmlns:a16="http://schemas.microsoft.com/office/drawing/2014/main" xmlns="" id="{29449925-DF87-4110-BB4B-16909859B19A}"/>
              </a:ext>
            </a:extLst>
          </p:cNvPr>
          <p:cNvSpPr/>
          <p:nvPr/>
        </p:nvSpPr>
        <p:spPr>
          <a:xfrm>
            <a:off x="-15240" y="863430"/>
            <a:ext cx="9159240" cy="461665"/>
          </a:xfrm>
          <a:prstGeom prst="rect">
            <a:avLst/>
          </a:prstGeom>
        </p:spPr>
        <p:txBody>
          <a:bodyPr wrap="square">
            <a:spAutoFit/>
          </a:bodyPr>
          <a:lstStyle/>
          <a:p>
            <a:pPr>
              <a:buSzPct val="150000"/>
            </a:pPr>
            <a:r>
              <a:rPr lang="en-GB" sz="2400" b="1" dirty="0">
                <a:latin typeface="Times New Roman" pitchFamily="18" charset="0"/>
                <a:cs typeface="Times New Roman" pitchFamily="18" charset="0"/>
              </a:rPr>
              <a:t>Example of Graphical user interface(GUI), windows 10</a:t>
            </a:r>
            <a:endParaRPr lang="en-GB" sz="2400" dirty="0">
              <a:latin typeface="Times New Roman" pitchFamily="18" charset="0"/>
              <a:cs typeface="Times New Roman" pitchFamily="18" charset="0"/>
            </a:endParaRPr>
          </a:p>
        </p:txBody>
      </p:sp>
      <p:pic>
        <p:nvPicPr>
          <p:cNvPr id="7170" name="Picture 2" descr="Image result for windows 10">
            <a:extLst>
              <a:ext uri="{FF2B5EF4-FFF2-40B4-BE49-F238E27FC236}">
                <a16:creationId xmlns:a16="http://schemas.microsoft.com/office/drawing/2014/main" xmlns="" id="{D1C7C4EB-9F8F-4490-86D7-CBC36BD0E3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74" y="1719263"/>
            <a:ext cx="9144000" cy="5138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729403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25" name="Rectangle 9"/>
          <p:cNvSpPr>
            <a:spLocks noChangeArrowheads="1"/>
          </p:cNvSpPr>
          <p:nvPr/>
        </p:nvSpPr>
        <p:spPr bwMode="auto">
          <a:xfrm>
            <a:off x="10551" y="2160564"/>
            <a:ext cx="9144000" cy="4722054"/>
          </a:xfrm>
          <a:prstGeom prst="rect">
            <a:avLst/>
          </a:prstGeom>
          <a:noFill/>
          <a:ln w="12700" cap="sq">
            <a:noFill/>
            <a:miter lim="800000"/>
            <a:headEnd type="none" w="sm" len="sm"/>
            <a:tailEnd type="none" w="sm" len="sm"/>
          </a:ln>
        </p:spPr>
        <p:txBody>
          <a:bodyPr/>
          <a:lstStyle/>
          <a:p>
            <a:pPr algn="ctr">
              <a:spcBef>
                <a:spcPct val="50000"/>
              </a:spcBef>
              <a:defRPr/>
            </a:pPr>
            <a:r>
              <a:rPr lang="en-US" sz="4400" b="1" dirty="0">
                <a:solidFill>
                  <a:schemeClr val="accent3">
                    <a:lumMod val="75000"/>
                  </a:schemeClr>
                </a:solidFill>
                <a:latin typeface="Times New Roman" pitchFamily="18" charset="0"/>
              </a:rPr>
              <a:t>Operating System Main Responsibilities and Concepts</a:t>
            </a:r>
          </a:p>
        </p:txBody>
      </p:sp>
    </p:spTree>
    <p:extLst>
      <p:ext uri="{BB962C8B-B14F-4D97-AF65-F5344CB8AC3E}">
        <p14:creationId xmlns:p14="http://schemas.microsoft.com/office/powerpoint/2010/main" val="8629560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14400"/>
            <a:ext cx="9144000" cy="5943600"/>
          </a:xfrm>
        </p:spPr>
        <p:txBody>
          <a:bodyPr>
            <a:noAutofit/>
          </a:bodyPr>
          <a:lstStyle/>
          <a:p>
            <a:pPr marL="514350" indent="-514350" eaLnBrk="0" hangingPunct="0">
              <a:lnSpc>
                <a:spcPct val="200000"/>
              </a:lnSpc>
              <a:buFont typeface="+mj-lt"/>
              <a:buAutoNum type="arabicPeriod"/>
            </a:pPr>
            <a:r>
              <a:rPr lang="en-US" altLang="zh-TW" sz="2800" b="1" dirty="0">
                <a:latin typeface="Times New Roman" pitchFamily="18" charset="0"/>
                <a:ea typeface="新細明體" charset="-120"/>
              </a:rPr>
              <a:t>Processes</a:t>
            </a:r>
          </a:p>
          <a:p>
            <a:pPr marL="514350" indent="-514350" eaLnBrk="0" hangingPunct="0">
              <a:lnSpc>
                <a:spcPct val="200000"/>
              </a:lnSpc>
              <a:buFont typeface="+mj-lt"/>
              <a:buAutoNum type="arabicPeriod"/>
            </a:pPr>
            <a:r>
              <a:rPr lang="en-US" altLang="zh-TW" sz="2800" b="1" dirty="0">
                <a:latin typeface="Times New Roman" pitchFamily="18" charset="0"/>
                <a:ea typeface="新細明體" charset="-120"/>
              </a:rPr>
              <a:t>Deadlocks</a:t>
            </a:r>
          </a:p>
          <a:p>
            <a:pPr marL="514350" indent="-514350" eaLnBrk="0" hangingPunct="0">
              <a:lnSpc>
                <a:spcPct val="200000"/>
              </a:lnSpc>
              <a:buFont typeface="+mj-lt"/>
              <a:buAutoNum type="arabicPeriod"/>
            </a:pPr>
            <a:r>
              <a:rPr lang="en-US" altLang="zh-TW" sz="2800" b="1" dirty="0">
                <a:latin typeface="Times New Roman" pitchFamily="18" charset="0"/>
                <a:ea typeface="新細明體" charset="-120"/>
              </a:rPr>
              <a:t>Memory management</a:t>
            </a:r>
          </a:p>
          <a:p>
            <a:pPr marL="514350" indent="-514350" eaLnBrk="0" hangingPunct="0">
              <a:lnSpc>
                <a:spcPct val="200000"/>
              </a:lnSpc>
              <a:buFont typeface="+mj-lt"/>
              <a:buAutoNum type="arabicPeriod"/>
            </a:pPr>
            <a:r>
              <a:rPr lang="en-US" altLang="zh-TW" sz="2800" b="1" dirty="0">
                <a:latin typeface="Times New Roman" pitchFamily="18" charset="0"/>
                <a:ea typeface="新細明體" charset="-120"/>
              </a:rPr>
              <a:t>I/O Management</a:t>
            </a:r>
          </a:p>
          <a:p>
            <a:pPr marL="514350" indent="-514350" eaLnBrk="0" hangingPunct="0">
              <a:lnSpc>
                <a:spcPct val="200000"/>
              </a:lnSpc>
              <a:buFont typeface="+mj-lt"/>
              <a:buAutoNum type="arabicPeriod"/>
            </a:pPr>
            <a:r>
              <a:rPr lang="en-US" altLang="zh-TW" sz="2800" b="1" dirty="0">
                <a:latin typeface="Times New Roman" pitchFamily="18" charset="0"/>
                <a:ea typeface="新細明體" charset="-120"/>
              </a:rPr>
              <a:t>Files Management</a:t>
            </a:r>
          </a:p>
          <a:p>
            <a:pPr marL="514350" indent="-514350" eaLnBrk="0" hangingPunct="0">
              <a:lnSpc>
                <a:spcPct val="200000"/>
              </a:lnSpc>
              <a:buFont typeface="+mj-lt"/>
              <a:buAutoNum type="arabicPeriod"/>
            </a:pPr>
            <a:r>
              <a:rPr lang="en-US" altLang="zh-TW" sz="2800" b="1" dirty="0">
                <a:latin typeface="Times New Roman" pitchFamily="18" charset="0"/>
                <a:ea typeface="新細明體" charset="-120"/>
              </a:rPr>
              <a:t>Security Management</a:t>
            </a: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200" b="1" dirty="0">
                <a:solidFill>
                  <a:schemeClr val="accent3">
                    <a:lumMod val="75000"/>
                  </a:schemeClr>
                </a:solidFill>
                <a:latin typeface="Times New Roman" pitchFamily="18" charset="0"/>
              </a:rPr>
              <a:t>Operating System Concepts</a:t>
            </a:r>
          </a:p>
        </p:txBody>
      </p:sp>
    </p:spTree>
    <p:extLst>
      <p:ext uri="{BB962C8B-B14F-4D97-AF65-F5344CB8AC3E}">
        <p14:creationId xmlns:p14="http://schemas.microsoft.com/office/powerpoint/2010/main" val="1510414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2438400"/>
            <a:ext cx="9144000" cy="1143000"/>
          </a:xfrm>
        </p:spPr>
        <p:txBody>
          <a:bodyPr>
            <a:noAutofit/>
          </a:bodyPr>
          <a:lstStyle/>
          <a:p>
            <a:pPr>
              <a:spcBef>
                <a:spcPct val="50000"/>
              </a:spcBef>
              <a:defRPr/>
            </a:pPr>
            <a:r>
              <a:rPr lang="en-US" sz="4000" b="1" dirty="0">
                <a:solidFill>
                  <a:schemeClr val="accent3">
                    <a:lumMod val="75000"/>
                  </a:schemeClr>
                </a:solidFill>
                <a:latin typeface="Times New Roman" pitchFamily="18" charset="0"/>
              </a:rPr>
              <a:t>Process in Operating System</a:t>
            </a:r>
          </a:p>
        </p:txBody>
      </p:sp>
    </p:spTree>
    <p:extLst>
      <p:ext uri="{BB962C8B-B14F-4D97-AF65-F5344CB8AC3E}">
        <p14:creationId xmlns:p14="http://schemas.microsoft.com/office/powerpoint/2010/main" val="211693119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943600"/>
          </a:xfrm>
        </p:spPr>
        <p:txBody>
          <a:bodyPr>
            <a:noAutofit/>
          </a:bodyPr>
          <a:lstStyle/>
          <a:p>
            <a:pPr marL="0" indent="0" algn="just" eaLnBrk="0" hangingPunct="0">
              <a:lnSpc>
                <a:spcPct val="200000"/>
              </a:lnSpc>
              <a:buNone/>
            </a:pPr>
            <a:r>
              <a:rPr lang="en-US" sz="2800" b="1" u="sng" dirty="0" smtClean="0">
                <a:latin typeface="Times New Roman" panose="02020603050405020304" pitchFamily="18" charset="0"/>
                <a:cs typeface="Times New Roman" panose="02020603050405020304" pitchFamily="18" charset="0"/>
              </a:rPr>
              <a:t>Definition</a:t>
            </a:r>
            <a:r>
              <a:rPr lang="en-US" sz="2800" dirty="0">
                <a:latin typeface="Times New Roman" panose="02020603050405020304" pitchFamily="18" charset="0"/>
                <a:cs typeface="Times New Roman" panose="02020603050405020304" pitchFamily="18" charset="0"/>
              </a:rPr>
              <a:t>: </a:t>
            </a:r>
            <a:r>
              <a:rPr lang="en-US" sz="2800" b="1" dirty="0">
                <a:solidFill>
                  <a:srgbClr val="FF0000"/>
                </a:solidFill>
                <a:latin typeface="Times New Roman" panose="02020603050405020304" pitchFamily="18" charset="0"/>
                <a:cs typeface="Times New Roman" panose="02020603050405020304" pitchFamily="18" charset="0"/>
              </a:rPr>
              <a:t>In computing, a process is an instance of a “computer program” that is being executed. It contains the program code and its current activity</a:t>
            </a:r>
            <a:r>
              <a:rPr lang="en-US" sz="2800" b="1" dirty="0" smtClean="0">
                <a:solidFill>
                  <a:srgbClr val="FF0000"/>
                </a:solidFill>
                <a:latin typeface="Times New Roman" panose="02020603050405020304" pitchFamily="18" charset="0"/>
                <a:cs typeface="Times New Roman" panose="02020603050405020304" pitchFamily="18" charset="0"/>
              </a:rPr>
              <a:t>.</a:t>
            </a:r>
          </a:p>
          <a:p>
            <a:pPr marL="0" indent="0" algn="just" eaLnBrk="0" hangingPunct="0">
              <a:lnSpc>
                <a:spcPct val="200000"/>
              </a:lnSpc>
              <a:buNone/>
            </a:pPr>
            <a:r>
              <a:rPr lang="en-US" sz="2800" b="1" dirty="0">
                <a:solidFill>
                  <a:srgbClr val="FF0000"/>
                </a:solidFill>
                <a:latin typeface="Times New Roman" panose="02020603050405020304" pitchFamily="18" charset="0"/>
                <a:cs typeface="Times New Roman" panose="02020603050405020304" pitchFamily="18" charset="0"/>
              </a:rPr>
              <a:t>In </a:t>
            </a:r>
            <a:r>
              <a:rPr lang="en-US" sz="2800" b="1" dirty="0">
                <a:solidFill>
                  <a:srgbClr val="FF0000"/>
                </a:solidFill>
                <a:latin typeface="Times New Roman" panose="02020603050405020304" pitchFamily="18" charset="0"/>
                <a:cs typeface="Times New Roman" panose="02020603050405020304" pitchFamily="18" charset="0"/>
                <a:hlinkClick r:id="rId2" tooltip="Object-oriented programming"/>
              </a:rPr>
              <a:t>object-oriented programming</a:t>
            </a:r>
            <a:r>
              <a:rPr lang="en-US" sz="2800" b="1" dirty="0">
                <a:solidFill>
                  <a:srgbClr val="FF0000"/>
                </a:solidFill>
                <a:latin typeface="Times New Roman" panose="02020603050405020304" pitchFamily="18" charset="0"/>
                <a:cs typeface="Times New Roman" panose="02020603050405020304" pitchFamily="18" charset="0"/>
              </a:rPr>
              <a:t> (OOP), an instance is a concrete </a:t>
            </a:r>
            <a:r>
              <a:rPr lang="en-US" sz="2800" b="1" dirty="0" smtClean="0">
                <a:solidFill>
                  <a:srgbClr val="FF0000"/>
                </a:solidFill>
                <a:latin typeface="Times New Roman" panose="02020603050405020304" pitchFamily="18" charset="0"/>
                <a:cs typeface="Times New Roman" panose="02020603050405020304" pitchFamily="18" charset="0"/>
              </a:rPr>
              <a:t>occurrence </a:t>
            </a:r>
            <a:r>
              <a:rPr lang="en-US" sz="2800" b="1" dirty="0">
                <a:solidFill>
                  <a:srgbClr val="FF0000"/>
                </a:solidFill>
                <a:latin typeface="Times New Roman" panose="02020603050405020304" pitchFamily="18" charset="0"/>
                <a:cs typeface="Times New Roman" panose="02020603050405020304" pitchFamily="18" charset="0"/>
              </a:rPr>
              <a:t>of any </a:t>
            </a:r>
            <a:r>
              <a:rPr lang="en-US" sz="2800" b="1" dirty="0">
                <a:solidFill>
                  <a:srgbClr val="FF0000"/>
                </a:solidFill>
                <a:latin typeface="Times New Roman" panose="02020603050405020304" pitchFamily="18" charset="0"/>
                <a:cs typeface="Times New Roman" panose="02020603050405020304" pitchFamily="18" charset="0"/>
                <a:hlinkClick r:id="rId3" tooltip="Object (computer science)"/>
              </a:rPr>
              <a:t>object</a:t>
            </a:r>
            <a:r>
              <a:rPr lang="en-US" sz="2800" b="1" dirty="0">
                <a:solidFill>
                  <a:srgbClr val="FF0000"/>
                </a:solidFill>
                <a:latin typeface="Times New Roman" panose="02020603050405020304" pitchFamily="18" charset="0"/>
                <a:cs typeface="Times New Roman" panose="02020603050405020304" pitchFamily="18" charset="0"/>
              </a:rPr>
              <a:t>, existing usually during the </a:t>
            </a:r>
            <a:r>
              <a:rPr lang="en-US" sz="2800" b="1" dirty="0">
                <a:solidFill>
                  <a:srgbClr val="FF0000"/>
                </a:solidFill>
                <a:latin typeface="Times New Roman" panose="02020603050405020304" pitchFamily="18" charset="0"/>
                <a:cs typeface="Times New Roman" panose="02020603050405020304" pitchFamily="18" charset="0"/>
                <a:hlinkClick r:id="rId4" tooltip="Run time (program lifecycle phase)"/>
              </a:rPr>
              <a:t>runtime</a:t>
            </a:r>
            <a:r>
              <a:rPr lang="en-US" sz="2800" b="1" dirty="0">
                <a:solidFill>
                  <a:srgbClr val="FF0000"/>
                </a:solidFill>
                <a:latin typeface="Times New Roman" panose="02020603050405020304" pitchFamily="18" charset="0"/>
                <a:cs typeface="Times New Roman" panose="02020603050405020304" pitchFamily="18" charset="0"/>
              </a:rPr>
              <a:t> of a computer program.</a:t>
            </a:r>
            <a:endParaRPr lang="en-US" altLang="zh-TW" sz="2800" b="1" dirty="0">
              <a:solidFill>
                <a:srgbClr val="FF0000"/>
              </a:solidFill>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Process in Operating System</a:t>
            </a:r>
          </a:p>
        </p:txBody>
      </p:sp>
    </p:spTree>
    <p:extLst>
      <p:ext uri="{BB962C8B-B14F-4D97-AF65-F5344CB8AC3E}">
        <p14:creationId xmlns:p14="http://schemas.microsoft.com/office/powerpoint/2010/main" val="2023648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14400"/>
            <a:ext cx="9144000" cy="5943600"/>
          </a:xfrm>
        </p:spPr>
        <p:txBody>
          <a:bodyPr>
            <a:noAutofit/>
          </a:bodyPr>
          <a:lstStyle/>
          <a:p>
            <a:pPr marL="0" indent="0">
              <a:buNone/>
              <a:defRPr/>
            </a:pPr>
            <a:r>
              <a:rPr lang="en-US" b="1" dirty="0">
                <a:latin typeface="Times New Roman" pitchFamily="18" charset="0"/>
              </a:rPr>
              <a:t>Following are some reasons for creation of a process</a:t>
            </a:r>
            <a:endParaRPr lang="en-US" b="1" u="sng" dirty="0">
              <a:effectLst>
                <a:outerShdw blurRad="38100" dist="38100" dir="2700000" algn="tl">
                  <a:srgbClr val="FFFFFF"/>
                </a:outerShdw>
              </a:effectLst>
              <a:latin typeface="Times New Roman" pitchFamily="18" charset="0"/>
            </a:endParaRPr>
          </a:p>
          <a:p>
            <a:pPr marL="514350" indent="-514350">
              <a:buFont typeface="+mj-lt"/>
              <a:buAutoNum type="arabicPeriod"/>
              <a:defRPr/>
            </a:pPr>
            <a:r>
              <a:rPr lang="en-US" dirty="0">
                <a:latin typeface="Times New Roman" pitchFamily="18" charset="0"/>
              </a:rPr>
              <a:t>User logs on. </a:t>
            </a:r>
          </a:p>
          <a:p>
            <a:pPr marL="514350" indent="-514350">
              <a:buFont typeface="+mj-lt"/>
              <a:buAutoNum type="arabicPeriod"/>
              <a:defRPr/>
            </a:pPr>
            <a:r>
              <a:rPr lang="en-US" dirty="0">
                <a:latin typeface="Times New Roman" pitchFamily="18" charset="0"/>
              </a:rPr>
              <a:t>User starts a program. </a:t>
            </a:r>
          </a:p>
          <a:p>
            <a:pPr marL="514350" indent="-514350">
              <a:buFont typeface="+mj-lt"/>
              <a:buAutoNum type="arabicPeriod"/>
              <a:defRPr/>
            </a:pPr>
            <a:r>
              <a:rPr lang="en-US" dirty="0">
                <a:latin typeface="Times New Roman" pitchFamily="18" charset="0"/>
              </a:rPr>
              <a:t>Operating systems creates process to provide service, e.g., to manage printer. </a:t>
            </a:r>
          </a:p>
          <a:p>
            <a:pPr marL="514350" indent="-514350">
              <a:buFont typeface="+mj-lt"/>
              <a:buAutoNum type="arabicPeriod"/>
              <a:defRPr/>
            </a:pPr>
            <a:r>
              <a:rPr lang="en-US" dirty="0">
                <a:latin typeface="Times New Roman" pitchFamily="18" charset="0"/>
              </a:rPr>
              <a:t>Some program starts another process, e.g., photoshop calls</a:t>
            </a:r>
            <a:r>
              <a:rPr lang="en-US" i="1" dirty="0">
                <a:latin typeface="Times New Roman" pitchFamily="18" charset="0"/>
              </a:rPr>
              <a:t> </a:t>
            </a:r>
            <a:r>
              <a:rPr lang="en-US" dirty="0">
                <a:latin typeface="Times New Roman" pitchFamily="18" charset="0"/>
              </a:rPr>
              <a:t>to display a picture. </a:t>
            </a: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Process in Operating System</a:t>
            </a:r>
          </a:p>
        </p:txBody>
      </p:sp>
    </p:spTree>
    <p:extLst>
      <p:ext uri="{BB962C8B-B14F-4D97-AF65-F5344CB8AC3E}">
        <p14:creationId xmlns:p14="http://schemas.microsoft.com/office/powerpoint/2010/main" val="3857769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943600"/>
          </a:xfrm>
        </p:spPr>
        <p:txBody>
          <a:bodyPr>
            <a:noAutofit/>
          </a:bodyPr>
          <a:lstStyle/>
          <a:p>
            <a:r>
              <a:rPr lang="en-US" sz="2800" dirty="0"/>
              <a:t>A process is fundamentally a container that holds all the </a:t>
            </a:r>
            <a:r>
              <a:rPr lang="en-US" sz="2800" dirty="0" smtClean="0"/>
              <a:t>information needed </a:t>
            </a:r>
            <a:r>
              <a:rPr lang="en-US" sz="2800" dirty="0"/>
              <a:t>to run a program</a:t>
            </a:r>
            <a:r>
              <a:rPr lang="en-US" sz="2800" dirty="0" smtClean="0"/>
              <a:t>.</a:t>
            </a:r>
            <a:endParaRPr lang="en-US" sz="2800" b="1" dirty="0">
              <a:solidFill>
                <a:srgbClr val="FF0000"/>
              </a:solidFill>
              <a:latin typeface="Times New Roman" panose="02020603050405020304" pitchFamily="18" charset="0"/>
              <a:cs typeface="Times New Roman" panose="02020603050405020304" pitchFamily="18" charset="0"/>
            </a:endParaRPr>
          </a:p>
          <a:p>
            <a:r>
              <a:rPr lang="en-US" sz="2800" dirty="0"/>
              <a:t>Also associated with each process is a set of resources, commonly </a:t>
            </a:r>
            <a:r>
              <a:rPr lang="en-US" sz="2800" dirty="0" smtClean="0"/>
              <a:t>including registers, </a:t>
            </a:r>
            <a:r>
              <a:rPr lang="en-US" sz="2800" dirty="0"/>
              <a:t>a list of open files, </a:t>
            </a:r>
            <a:r>
              <a:rPr lang="en-US" sz="2800" dirty="0" smtClean="0"/>
              <a:t>outstanding alarms</a:t>
            </a:r>
            <a:r>
              <a:rPr lang="en-US" sz="2800" dirty="0"/>
              <a:t>, lists of related processes, and </a:t>
            </a:r>
            <a:r>
              <a:rPr lang="en-US" sz="2800" dirty="0" smtClean="0"/>
              <a:t>all </a:t>
            </a:r>
            <a:r>
              <a:rPr lang="en-US" sz="2800" dirty="0"/>
              <a:t>other information needed </a:t>
            </a:r>
            <a:r>
              <a:rPr lang="en-US" sz="2800" dirty="0" smtClean="0"/>
              <a:t>to run </a:t>
            </a:r>
            <a:r>
              <a:rPr lang="en-US" sz="2800" dirty="0"/>
              <a:t>the program</a:t>
            </a:r>
            <a:r>
              <a:rPr lang="en-US" sz="2800" dirty="0" smtClean="0"/>
              <a:t>.</a:t>
            </a:r>
          </a:p>
          <a:p>
            <a:r>
              <a:rPr lang="en-US" sz="2800" dirty="0" smtClean="0"/>
              <a:t>Associated with </a:t>
            </a:r>
            <a:r>
              <a:rPr lang="en-US" sz="2800" dirty="0"/>
              <a:t>each of these files is a pointer giving the current position (i.e., the number </a:t>
            </a:r>
            <a:r>
              <a:rPr lang="en-US" sz="2800" dirty="0" smtClean="0"/>
              <a:t>of the </a:t>
            </a:r>
            <a:r>
              <a:rPr lang="en-US" sz="2800" dirty="0"/>
              <a:t>byte or record to be read next). </a:t>
            </a:r>
            <a:endParaRPr lang="en-US" sz="2800" dirty="0" smtClean="0"/>
          </a:p>
          <a:p>
            <a:r>
              <a:rPr lang="en-US" sz="2800" dirty="0" smtClean="0"/>
              <a:t>When </a:t>
            </a:r>
            <a:r>
              <a:rPr lang="en-US" sz="2800" dirty="0"/>
              <a:t>a process is temporarily suspended, </a:t>
            </a:r>
            <a:r>
              <a:rPr lang="en-US" sz="2800" dirty="0" smtClean="0"/>
              <a:t>all these </a:t>
            </a:r>
            <a:r>
              <a:rPr lang="en-US" sz="2800" dirty="0"/>
              <a:t>pointers must be saved so that a read call executed after the process is </a:t>
            </a:r>
            <a:r>
              <a:rPr lang="en-US" sz="2800" dirty="0" smtClean="0"/>
              <a:t>restarted will </a:t>
            </a:r>
            <a:r>
              <a:rPr lang="en-US" sz="2800" dirty="0"/>
              <a:t>read the proper data.</a:t>
            </a:r>
          </a:p>
          <a:p>
            <a:endParaRPr lang="en-US" sz="2800" dirty="0"/>
          </a:p>
          <a:p>
            <a:endParaRPr lang="en-US" sz="2800" dirty="0"/>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Process in Operating System</a:t>
            </a:r>
          </a:p>
        </p:txBody>
      </p:sp>
    </p:spTree>
    <p:extLst>
      <p:ext uri="{BB962C8B-B14F-4D97-AF65-F5344CB8AC3E}">
        <p14:creationId xmlns:p14="http://schemas.microsoft.com/office/powerpoint/2010/main" val="1445412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943600"/>
          </a:xfrm>
        </p:spPr>
        <p:txBody>
          <a:bodyPr>
            <a:noAutofit/>
          </a:bodyPr>
          <a:lstStyle/>
          <a:p>
            <a:r>
              <a:rPr lang="en-US" sz="2800" dirty="0"/>
              <a:t>In many operating systems, all the information </a:t>
            </a:r>
            <a:r>
              <a:rPr lang="en-US" sz="2800" dirty="0" smtClean="0"/>
              <a:t>about each process is </a:t>
            </a:r>
            <a:r>
              <a:rPr lang="en-US" sz="2800" dirty="0"/>
              <a:t>stored in an </a:t>
            </a:r>
            <a:r>
              <a:rPr lang="en-US" sz="2800" dirty="0" smtClean="0"/>
              <a:t>operating system </a:t>
            </a:r>
            <a:r>
              <a:rPr lang="en-US" sz="2800" dirty="0"/>
              <a:t>table called the </a:t>
            </a:r>
            <a:r>
              <a:rPr lang="en-US" sz="2800" b="1" dirty="0"/>
              <a:t>process </a:t>
            </a:r>
            <a:r>
              <a:rPr lang="en-US" sz="2800" b="1" dirty="0" smtClean="0"/>
              <a:t>table</a:t>
            </a:r>
            <a:r>
              <a:rPr lang="en-US" sz="2800" dirty="0" smtClean="0"/>
              <a:t>.</a:t>
            </a:r>
          </a:p>
          <a:p>
            <a:r>
              <a:rPr lang="en-US" sz="2800" dirty="0"/>
              <a:t>The key process-management system calls are those dealing with the </a:t>
            </a:r>
            <a:r>
              <a:rPr lang="en-US" sz="2800" dirty="0" smtClean="0"/>
              <a:t>creation and </a:t>
            </a:r>
            <a:r>
              <a:rPr lang="en-US" sz="2800" dirty="0"/>
              <a:t>termination of processes. </a:t>
            </a:r>
            <a:endParaRPr lang="en-US" sz="2800" dirty="0" smtClean="0"/>
          </a:p>
          <a:p>
            <a:r>
              <a:rPr lang="en-US" sz="2800" dirty="0" smtClean="0"/>
              <a:t>Consider </a:t>
            </a:r>
            <a:r>
              <a:rPr lang="en-US" sz="2800" dirty="0"/>
              <a:t>a typical example. A process called </a:t>
            </a:r>
            <a:r>
              <a:rPr lang="en-US" sz="2800" dirty="0" smtClean="0"/>
              <a:t>the </a:t>
            </a:r>
            <a:r>
              <a:rPr lang="en-US" sz="2800" b="1" dirty="0" smtClean="0"/>
              <a:t>command </a:t>
            </a:r>
            <a:r>
              <a:rPr lang="en-US" sz="2800" b="1" dirty="0"/>
              <a:t>interpreter </a:t>
            </a:r>
            <a:r>
              <a:rPr lang="en-US" sz="2800" dirty="0"/>
              <a:t>or shell reads commands from a terminal</a:t>
            </a:r>
            <a:r>
              <a:rPr lang="en-US" sz="2800" dirty="0" smtClean="0"/>
              <a:t>. </a:t>
            </a:r>
            <a:r>
              <a:rPr lang="en-US" sz="2800" dirty="0"/>
              <a:t>The user has </a:t>
            </a:r>
            <a:r>
              <a:rPr lang="en-US" sz="2800" dirty="0" smtClean="0"/>
              <a:t>just </a:t>
            </a:r>
            <a:r>
              <a:rPr lang="en-US" sz="2800" dirty="0"/>
              <a:t>typed a command requesting that a program be compiled. The shell must now </a:t>
            </a:r>
            <a:r>
              <a:rPr lang="en-US" sz="2800" dirty="0" smtClean="0"/>
              <a:t>create a </a:t>
            </a:r>
            <a:r>
              <a:rPr lang="en-US" sz="2800" dirty="0"/>
              <a:t>new process that will run the compiler. When that process has finished </a:t>
            </a:r>
            <a:r>
              <a:rPr lang="en-US" sz="2800" dirty="0" smtClean="0"/>
              <a:t>the compilation</a:t>
            </a:r>
            <a:r>
              <a:rPr lang="en-US" sz="2800" dirty="0"/>
              <a:t>, it executes a system call to terminate itself.</a:t>
            </a:r>
          </a:p>
          <a:p>
            <a:endParaRPr lang="en-US" sz="2800" dirty="0"/>
          </a:p>
          <a:p>
            <a:endParaRPr lang="en-US" sz="2800" dirty="0"/>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Process in Operating System</a:t>
            </a:r>
          </a:p>
        </p:txBody>
      </p:sp>
    </p:spTree>
    <p:extLst>
      <p:ext uri="{BB962C8B-B14F-4D97-AF65-F5344CB8AC3E}">
        <p14:creationId xmlns:p14="http://schemas.microsoft.com/office/powerpoint/2010/main" val="619394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943600"/>
          </a:xfrm>
        </p:spPr>
        <p:txBody>
          <a:bodyPr>
            <a:noAutofit/>
          </a:bodyPr>
          <a:lstStyle/>
          <a:p>
            <a:r>
              <a:rPr lang="en-US" sz="2800" dirty="0"/>
              <a:t>If a process can create one or more other processes (referred to as </a:t>
            </a:r>
            <a:r>
              <a:rPr lang="en-US" sz="2800" b="1" dirty="0"/>
              <a:t>child </a:t>
            </a:r>
            <a:r>
              <a:rPr lang="en-US" sz="2800" b="1" dirty="0" smtClean="0"/>
              <a:t>processes</a:t>
            </a:r>
            <a:r>
              <a:rPr lang="en-US" sz="2800" dirty="0" smtClean="0"/>
              <a:t>) and </a:t>
            </a:r>
            <a:r>
              <a:rPr lang="en-US" sz="2800" dirty="0"/>
              <a:t>these processes in turn can create child </a:t>
            </a:r>
            <a:r>
              <a:rPr lang="en-US" sz="2800" dirty="0" smtClean="0"/>
              <a:t>processes. For example, the Adobe Photoshop initiated another process to open an image.</a:t>
            </a:r>
          </a:p>
          <a:p>
            <a:endParaRPr lang="en-US" sz="2800" dirty="0"/>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Process in Operating System</a:t>
            </a:r>
          </a:p>
        </p:txBody>
      </p:sp>
      <p:pic>
        <p:nvPicPr>
          <p:cNvPr id="2" name="Picture 1"/>
          <p:cNvPicPr>
            <a:picLocks noChangeAspect="1"/>
          </p:cNvPicPr>
          <p:nvPr/>
        </p:nvPicPr>
        <p:blipFill rotWithShape="1">
          <a:blip r:embed="rId2"/>
          <a:srcRect l="39167" t="52964" r="22500" b="21838"/>
          <a:stretch/>
        </p:blipFill>
        <p:spPr>
          <a:xfrm>
            <a:off x="457200" y="2971800"/>
            <a:ext cx="8458200" cy="3125859"/>
          </a:xfrm>
          <a:prstGeom prst="rect">
            <a:avLst/>
          </a:prstGeom>
        </p:spPr>
      </p:pic>
    </p:spTree>
    <p:extLst>
      <p:ext uri="{BB962C8B-B14F-4D97-AF65-F5344CB8AC3E}">
        <p14:creationId xmlns:p14="http://schemas.microsoft.com/office/powerpoint/2010/main" val="1022110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14400"/>
            <a:ext cx="9144000" cy="5943600"/>
          </a:xfrm>
        </p:spPr>
        <p:txBody>
          <a:bodyPr>
            <a:noAutofit/>
          </a:bodyPr>
          <a:lstStyle/>
          <a:p>
            <a:pPr>
              <a:defRPr/>
            </a:pPr>
            <a:r>
              <a:rPr lang="en-US" b="1" u="sng" dirty="0">
                <a:effectLst>
                  <a:outerShdw blurRad="38100" dist="38100" dir="2700000" algn="tl">
                    <a:srgbClr val="FFFFFF"/>
                  </a:outerShdw>
                </a:effectLst>
                <a:latin typeface="Times New Roman" pitchFamily="18" charset="0"/>
              </a:rPr>
              <a:t>Normal </a:t>
            </a:r>
            <a:r>
              <a:rPr lang="en-US" b="1" u="sng" dirty="0" smtClean="0">
                <a:effectLst>
                  <a:outerShdw blurRad="38100" dist="38100" dir="2700000" algn="tl">
                    <a:srgbClr val="FFFFFF"/>
                  </a:outerShdw>
                </a:effectLst>
                <a:latin typeface="Times New Roman" pitchFamily="18" charset="0"/>
              </a:rPr>
              <a:t>Exit</a:t>
            </a:r>
            <a:r>
              <a:rPr lang="en-US" dirty="0">
                <a:effectLst>
                  <a:outerShdw blurRad="38100" dist="38100" dir="2700000" algn="tl">
                    <a:srgbClr val="FFFFFF"/>
                  </a:outerShdw>
                </a:effectLst>
                <a:latin typeface="Times New Roman" pitchFamily="18" charset="0"/>
              </a:rPr>
              <a:t>:</a:t>
            </a:r>
            <a:r>
              <a:rPr lang="en-US" dirty="0">
                <a:latin typeface="Times New Roman" pitchFamily="18" charset="0"/>
              </a:rPr>
              <a:t> Most processes terminates because they have done their job.</a:t>
            </a:r>
          </a:p>
          <a:p>
            <a:pPr>
              <a:defRPr/>
            </a:pPr>
            <a:r>
              <a:rPr lang="en-US" b="1" u="sng" dirty="0">
                <a:effectLst>
                  <a:outerShdw blurRad="38100" dist="38100" dir="2700000" algn="tl">
                    <a:srgbClr val="FFFFFF"/>
                  </a:outerShdw>
                </a:effectLst>
                <a:latin typeface="Times New Roman" pitchFamily="18" charset="0"/>
              </a:rPr>
              <a:t>Error </a:t>
            </a:r>
            <a:r>
              <a:rPr lang="en-US" b="1" u="sng" dirty="0" smtClean="0">
                <a:effectLst>
                  <a:outerShdw blurRad="38100" dist="38100" dir="2700000" algn="tl">
                    <a:srgbClr val="FFFFFF"/>
                  </a:outerShdw>
                </a:effectLst>
                <a:latin typeface="Times New Roman" pitchFamily="18" charset="0"/>
              </a:rPr>
              <a:t>Exit</a:t>
            </a:r>
            <a:r>
              <a:rPr lang="en-US" b="1" dirty="0" smtClean="0">
                <a:effectLst>
                  <a:outerShdw blurRad="38100" dist="38100" dir="2700000" algn="tl">
                    <a:srgbClr val="FFFFFF"/>
                  </a:outerShdw>
                </a:effectLst>
                <a:latin typeface="Times New Roman" pitchFamily="18" charset="0"/>
              </a:rPr>
              <a:t>: </a:t>
            </a:r>
            <a:r>
              <a:rPr lang="en-US" dirty="0" smtClean="0">
                <a:effectLst>
                  <a:outerShdw blurRad="38100" dist="38100" dir="2700000" algn="tl">
                    <a:srgbClr val="FFFFFF"/>
                  </a:outerShdw>
                </a:effectLst>
                <a:latin typeface="Times New Roman" pitchFamily="18" charset="0"/>
              </a:rPr>
              <a:t>When</a:t>
            </a:r>
            <a:r>
              <a:rPr lang="en-US" dirty="0" smtClean="0">
                <a:latin typeface="Times New Roman" pitchFamily="18" charset="0"/>
              </a:rPr>
              <a:t> </a:t>
            </a:r>
            <a:r>
              <a:rPr lang="en-US" dirty="0">
                <a:latin typeface="Times New Roman" pitchFamily="18" charset="0"/>
              </a:rPr>
              <a:t>process discovers </a:t>
            </a:r>
            <a:r>
              <a:rPr lang="en-US" dirty="0" smtClean="0">
                <a:latin typeface="Times New Roman" pitchFamily="18" charset="0"/>
              </a:rPr>
              <a:t>an </a:t>
            </a:r>
            <a:r>
              <a:rPr lang="en-US" dirty="0">
                <a:latin typeface="Times New Roman" pitchFamily="18" charset="0"/>
              </a:rPr>
              <a:t>error. For example, a user tries to compile a program that does not exist. </a:t>
            </a:r>
          </a:p>
          <a:p>
            <a:pPr>
              <a:defRPr/>
            </a:pPr>
            <a:r>
              <a:rPr lang="en-US" b="1" u="sng" dirty="0">
                <a:effectLst>
                  <a:outerShdw blurRad="38100" dist="38100" dir="2700000" algn="tl">
                    <a:srgbClr val="FFFFFF"/>
                  </a:outerShdw>
                </a:effectLst>
                <a:latin typeface="Times New Roman" pitchFamily="18" charset="0"/>
              </a:rPr>
              <a:t>Fatal Error</a:t>
            </a:r>
            <a:r>
              <a:rPr lang="en-US" b="1" dirty="0">
                <a:effectLst>
                  <a:outerShdw blurRad="38100" dist="38100" dir="2700000" algn="tl">
                    <a:srgbClr val="FFFFFF"/>
                  </a:outerShdw>
                </a:effectLst>
                <a:latin typeface="Times New Roman" pitchFamily="18" charset="0"/>
              </a:rPr>
              <a:t>:</a:t>
            </a:r>
            <a:r>
              <a:rPr lang="en-US" dirty="0">
                <a:latin typeface="Times New Roman" pitchFamily="18" charset="0"/>
              </a:rPr>
              <a:t> An error caused by process due to a bug in program for example dividing by zero. </a:t>
            </a:r>
          </a:p>
          <a:p>
            <a:pPr>
              <a:defRPr/>
            </a:pPr>
            <a:r>
              <a:rPr lang="en-US" b="1" u="sng" dirty="0">
                <a:effectLst>
                  <a:outerShdw blurRad="38100" dist="38100" dir="2700000" algn="tl">
                    <a:srgbClr val="FFFFFF"/>
                  </a:outerShdw>
                </a:effectLst>
                <a:latin typeface="Times New Roman" pitchFamily="18" charset="0"/>
              </a:rPr>
              <a:t>Killed by another Process</a:t>
            </a:r>
            <a:r>
              <a:rPr lang="en-US" dirty="0" smtClean="0">
                <a:latin typeface="Times New Roman" pitchFamily="18" charset="0"/>
              </a:rPr>
              <a:t>: A </a:t>
            </a:r>
            <a:r>
              <a:rPr lang="en-US" dirty="0">
                <a:latin typeface="Times New Roman" pitchFamily="18" charset="0"/>
              </a:rPr>
              <a:t>process executes a </a:t>
            </a:r>
            <a:r>
              <a:rPr lang="en-US" b="1" i="1" dirty="0">
                <a:solidFill>
                  <a:srgbClr val="FF0000"/>
                </a:solidFill>
                <a:latin typeface="Times New Roman" pitchFamily="18" charset="0"/>
              </a:rPr>
              <a:t>system call </a:t>
            </a:r>
            <a:r>
              <a:rPr lang="en-US" dirty="0">
                <a:latin typeface="Times New Roman" pitchFamily="18" charset="0"/>
              </a:rPr>
              <a:t>telling the Operating Systems to terminate some other process.</a:t>
            </a: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Process Termination  in Operating System</a:t>
            </a:r>
          </a:p>
        </p:txBody>
      </p:sp>
    </p:spTree>
    <p:extLst>
      <p:ext uri="{BB962C8B-B14F-4D97-AF65-F5344CB8AC3E}">
        <p14:creationId xmlns:p14="http://schemas.microsoft.com/office/powerpoint/2010/main" val="3901427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2438400"/>
            <a:ext cx="9144000" cy="1143000"/>
          </a:xfrm>
        </p:spPr>
        <p:txBody>
          <a:bodyPr>
            <a:noAutofit/>
          </a:bodyPr>
          <a:lstStyle/>
          <a:p>
            <a:pPr>
              <a:spcBef>
                <a:spcPct val="50000"/>
              </a:spcBef>
              <a:defRPr/>
            </a:pPr>
            <a:r>
              <a:rPr lang="en-US" sz="4000" b="1" dirty="0">
                <a:solidFill>
                  <a:schemeClr val="accent3">
                    <a:lumMod val="75000"/>
                  </a:schemeClr>
                </a:solidFill>
                <a:latin typeface="Times New Roman" pitchFamily="18" charset="0"/>
              </a:rPr>
              <a:t>Deadlocks in Operating System</a:t>
            </a:r>
          </a:p>
        </p:txBody>
      </p:sp>
    </p:spTree>
    <p:extLst>
      <p:ext uri="{BB962C8B-B14F-4D97-AF65-F5344CB8AC3E}">
        <p14:creationId xmlns:p14="http://schemas.microsoft.com/office/powerpoint/2010/main" val="90202221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14400"/>
            <a:ext cx="9144000" cy="5943600"/>
          </a:xfrm>
        </p:spPr>
        <p:txBody>
          <a:bodyPr>
            <a:noAutofit/>
          </a:bodyPr>
          <a:lstStyle/>
          <a:p>
            <a:pPr marL="0" indent="0" algn="just" eaLnBrk="0" hangingPunct="0">
              <a:lnSpc>
                <a:spcPct val="200000"/>
              </a:lnSpc>
              <a:buNone/>
            </a:pPr>
            <a:r>
              <a:rPr lang="en-US" sz="2800" b="1" u="sng" dirty="0" smtClean="0">
                <a:latin typeface="Times New Roman" panose="02020603050405020304" pitchFamily="18" charset="0"/>
                <a:cs typeface="Times New Roman" panose="02020603050405020304" pitchFamily="18" charset="0"/>
              </a:rPr>
              <a:t>Definition</a:t>
            </a:r>
            <a:r>
              <a:rPr lang="en-US" sz="28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A </a:t>
            </a:r>
            <a:r>
              <a:rPr lang="en-US" sz="2400" b="1" dirty="0">
                <a:solidFill>
                  <a:srgbClr val="FF0000"/>
                </a:solidFill>
                <a:latin typeface="Times New Roman" panose="02020603050405020304" pitchFamily="18" charset="0"/>
                <a:cs typeface="Times New Roman" panose="02020603050405020304" pitchFamily="18" charset="0"/>
              </a:rPr>
              <a:t>deadlock</a:t>
            </a:r>
            <a:r>
              <a:rPr lang="en-US" sz="2400" dirty="0">
                <a:solidFill>
                  <a:srgbClr val="FF0000"/>
                </a:solidFill>
                <a:latin typeface="Times New Roman" panose="02020603050405020304" pitchFamily="18" charset="0"/>
                <a:cs typeface="Times New Roman" panose="02020603050405020304" pitchFamily="18" charset="0"/>
              </a:rPr>
              <a:t> is a situation in which two computer programs sharing the same resource are preventing each other from accessing the resource, resulting in both programs ceasing to function. </a:t>
            </a:r>
            <a:r>
              <a:rPr lang="en-US" altLang="zh-TW" sz="2400" b="1" dirty="0">
                <a:solidFill>
                  <a:srgbClr val="FF0000"/>
                </a:solidFill>
                <a:latin typeface="Times New Roman" panose="02020603050405020304" pitchFamily="18" charset="0"/>
                <a:ea typeface="新細明體" charset="-120"/>
                <a:cs typeface="Times New Roman" panose="02020603050405020304" pitchFamily="18" charset="0"/>
              </a:rPr>
              <a:t>It is called deadlock in operating system</a:t>
            </a:r>
            <a:r>
              <a:rPr lang="en-US" altLang="zh-TW" sz="2400" b="1" dirty="0" smtClean="0">
                <a:solidFill>
                  <a:srgbClr val="FF0000"/>
                </a:solidFill>
                <a:latin typeface="Times New Roman" panose="02020603050405020304" pitchFamily="18" charset="0"/>
                <a:ea typeface="新細明體" charset="-120"/>
                <a:cs typeface="Times New Roman" panose="02020603050405020304" pitchFamily="18" charset="0"/>
              </a:rPr>
              <a:t>.</a:t>
            </a:r>
          </a:p>
          <a:p>
            <a:pPr marL="0" indent="0" algn="just" eaLnBrk="0" hangingPunct="0">
              <a:lnSpc>
                <a:spcPct val="200000"/>
              </a:lnSpc>
              <a:buNone/>
            </a:pPr>
            <a:r>
              <a:rPr lang="en-US" altLang="zh-TW" sz="2400" dirty="0" smtClean="0">
                <a:solidFill>
                  <a:srgbClr val="FF0000"/>
                </a:solidFill>
                <a:latin typeface="Times New Roman" panose="02020603050405020304" pitchFamily="18" charset="0"/>
                <a:ea typeface="新細明體" charset="-120"/>
                <a:cs typeface="Times New Roman" panose="02020603050405020304" pitchFamily="18" charset="0"/>
              </a:rPr>
              <a:t>Everyone is waiting for an event, which will never occur. </a:t>
            </a:r>
          </a:p>
          <a:p>
            <a:pPr marL="0" indent="0" algn="just" eaLnBrk="0" hangingPunct="0">
              <a:lnSpc>
                <a:spcPct val="200000"/>
              </a:lnSpc>
              <a:buNone/>
            </a:pPr>
            <a:r>
              <a:rPr lang="en-US" altLang="zh-TW" sz="2400" dirty="0" smtClean="0">
                <a:solidFill>
                  <a:srgbClr val="FF0000"/>
                </a:solidFill>
                <a:latin typeface="Times New Roman" panose="02020603050405020304" pitchFamily="18" charset="0"/>
                <a:ea typeface="新細明體" charset="-120"/>
                <a:cs typeface="Times New Roman" panose="02020603050405020304" pitchFamily="18" charset="0"/>
              </a:rPr>
              <a:t>For example, Taking soup at a party,</a:t>
            </a:r>
            <a:endParaRPr lang="en-US" altLang="zh-TW" sz="2400" dirty="0">
              <a:solidFill>
                <a:srgbClr val="FF0000"/>
              </a:solidFill>
              <a:latin typeface="Times New Roman" panose="02020603050405020304" pitchFamily="18" charset="0"/>
              <a:ea typeface="新細明體" charset="-120"/>
              <a:cs typeface="Times New Roman" panose="02020603050405020304" pitchFamily="18" charset="0"/>
            </a:endParaRPr>
          </a:p>
          <a:p>
            <a:pPr marL="0" indent="0" algn="just" eaLnBrk="0" hangingPunct="0">
              <a:lnSpc>
                <a:spcPct val="200000"/>
              </a:lnSpc>
              <a:buNone/>
            </a:pPr>
            <a:endParaRPr lang="en-US" altLang="zh-TW" sz="2400" b="1" dirty="0">
              <a:solidFill>
                <a:srgbClr val="FF0000"/>
              </a:solidFill>
              <a:latin typeface="Times New Roman" panose="02020603050405020304" pitchFamily="18" charset="0"/>
              <a:ea typeface="新細明體" charset="-120"/>
              <a:cs typeface="Times New Roman" panose="02020603050405020304" pitchFamily="18" charset="0"/>
            </a:endParaRP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Deadlocks in Operating System</a:t>
            </a:r>
          </a:p>
        </p:txBody>
      </p:sp>
    </p:spTree>
    <p:extLst>
      <p:ext uri="{BB962C8B-B14F-4D97-AF65-F5344CB8AC3E}">
        <p14:creationId xmlns:p14="http://schemas.microsoft.com/office/powerpoint/2010/main" val="736111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14400"/>
            <a:ext cx="9144000" cy="5943600"/>
          </a:xfrm>
        </p:spPr>
        <p:txBody>
          <a:bodyPr>
            <a:noAutofit/>
          </a:bodyPr>
          <a:lstStyle/>
          <a:p>
            <a:r>
              <a:rPr lang="en-US" dirty="0"/>
              <a:t>Computer systems are full of resources that can be used only by one process </a:t>
            </a:r>
            <a:r>
              <a:rPr lang="en-US" dirty="0" smtClean="0"/>
              <a:t>at a </a:t>
            </a:r>
            <a:r>
              <a:rPr lang="en-US" dirty="0"/>
              <a:t>time. Common examples include printers, tape drives for backing up </a:t>
            </a:r>
            <a:r>
              <a:rPr lang="en-US" dirty="0" smtClean="0"/>
              <a:t>company data</a:t>
            </a:r>
            <a:r>
              <a:rPr lang="en-US" dirty="0"/>
              <a:t>, and slots in the system’s internal tables</a:t>
            </a:r>
            <a:r>
              <a:rPr lang="en-US" dirty="0" smtClean="0"/>
              <a:t>.</a:t>
            </a:r>
          </a:p>
          <a:p>
            <a:r>
              <a:rPr lang="en-US" dirty="0"/>
              <a:t>Having two processes using </a:t>
            </a:r>
            <a:r>
              <a:rPr lang="en-US" dirty="0" smtClean="0"/>
              <a:t>the same </a:t>
            </a:r>
            <a:r>
              <a:rPr lang="en-US" dirty="0"/>
              <a:t>file-system table slot invariably will lead to a corrupted file system. </a:t>
            </a:r>
            <a:endParaRPr lang="en-US" dirty="0" smtClean="0"/>
          </a:p>
          <a:p>
            <a:r>
              <a:rPr lang="en-US" dirty="0" smtClean="0"/>
              <a:t>Consequently, all </a:t>
            </a:r>
            <a:r>
              <a:rPr lang="en-US" dirty="0"/>
              <a:t>operating systems have the ability to (temporarily) grant a process </a:t>
            </a:r>
            <a:r>
              <a:rPr lang="en-US" dirty="0" smtClean="0"/>
              <a:t>exclusive access </a:t>
            </a:r>
            <a:r>
              <a:rPr lang="en-US" dirty="0"/>
              <a:t>to certain resources.</a:t>
            </a:r>
          </a:p>
          <a:p>
            <a:endParaRPr lang="en-US" dirty="0"/>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Deadlocks in Operating System</a:t>
            </a:r>
          </a:p>
        </p:txBody>
      </p:sp>
    </p:spTree>
    <p:extLst>
      <p:ext uri="{BB962C8B-B14F-4D97-AF65-F5344CB8AC3E}">
        <p14:creationId xmlns:p14="http://schemas.microsoft.com/office/powerpoint/2010/main" val="2829743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14400"/>
            <a:ext cx="9144000" cy="5943600"/>
          </a:xfrm>
        </p:spPr>
        <p:txBody>
          <a:bodyPr>
            <a:noAutofit/>
          </a:bodyPr>
          <a:lstStyle/>
          <a:p>
            <a:r>
              <a:rPr lang="en-US" dirty="0" smtClean="0"/>
              <a:t>In a multiprogramming system, a number of processes competing for limited number of resources. </a:t>
            </a:r>
            <a:endParaRPr lang="en-US" dirty="0"/>
          </a:p>
          <a:p>
            <a:r>
              <a:rPr lang="en-US" dirty="0" smtClean="0"/>
              <a:t>If a resource is not available at that instance then the process enters into waiting state. </a:t>
            </a:r>
          </a:p>
          <a:p>
            <a:r>
              <a:rPr lang="en-US" dirty="0" smtClean="0"/>
              <a:t>If a process is unable to change its waiting state indefinitely because the resources required by it are held by other waiting process, then the system is said to be in deadlock state. </a:t>
            </a:r>
            <a:endParaRPr lang="en-US" dirty="0"/>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Deadlocks in Operating System</a:t>
            </a:r>
          </a:p>
        </p:txBody>
      </p:sp>
    </p:spTree>
    <p:extLst>
      <p:ext uri="{BB962C8B-B14F-4D97-AF65-F5344CB8AC3E}">
        <p14:creationId xmlns:p14="http://schemas.microsoft.com/office/powerpoint/2010/main" val="4202087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Deadlocks in Operating System</a:t>
            </a:r>
          </a:p>
        </p:txBody>
      </p:sp>
      <p:pic>
        <p:nvPicPr>
          <p:cNvPr id="4" name="Picture 7">
            <a:extLst>
              <a:ext uri="{FF2B5EF4-FFF2-40B4-BE49-F238E27FC236}">
                <a16:creationId xmlns:a16="http://schemas.microsoft.com/office/drawing/2014/main" xmlns="" id="{847DACF7-7EA7-456A-8590-2FEB33082361}"/>
              </a:ext>
            </a:extLst>
          </p:cNvPr>
          <p:cNvPicPr>
            <a:picLocks noGrp="1" noChangeAspect="1" noChangeArrowheads="1"/>
          </p:cNvPicPr>
          <p:nvPr>
            <p:ph idx="1"/>
          </p:nvPr>
        </p:nvPicPr>
        <p:blipFill>
          <a:blip r:embed="rId2" cstate="print"/>
          <a:srcRect/>
          <a:stretch>
            <a:fillRect/>
          </a:stretch>
        </p:blipFill>
        <p:spPr bwMode="auto">
          <a:xfrm>
            <a:off x="0" y="1991306"/>
            <a:ext cx="9144000" cy="3789787"/>
          </a:xfrm>
          <a:prstGeom prst="rect">
            <a:avLst/>
          </a:prstGeom>
          <a:noFill/>
          <a:ln w="9525">
            <a:noFill/>
            <a:miter lim="800000"/>
            <a:headEnd/>
            <a:tailEnd/>
          </a:ln>
        </p:spPr>
      </p:pic>
    </p:spTree>
    <p:extLst>
      <p:ext uri="{BB962C8B-B14F-4D97-AF65-F5344CB8AC3E}">
        <p14:creationId xmlns:p14="http://schemas.microsoft.com/office/powerpoint/2010/main" val="340992094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Deadlocks in Operating System: An example</a:t>
            </a:r>
          </a:p>
        </p:txBody>
      </p:sp>
      <p:sp>
        <p:nvSpPr>
          <p:cNvPr id="3" name="Content Placeholder 2">
            <a:extLst>
              <a:ext uri="{FF2B5EF4-FFF2-40B4-BE49-F238E27FC236}">
                <a16:creationId xmlns:a16="http://schemas.microsoft.com/office/drawing/2014/main" xmlns="" id="{D465EBDD-DE28-4376-B8E6-E83786644CC4}"/>
              </a:ext>
            </a:extLst>
          </p:cNvPr>
          <p:cNvSpPr>
            <a:spLocks noGrp="1"/>
          </p:cNvSpPr>
          <p:nvPr>
            <p:ph idx="1"/>
          </p:nvPr>
        </p:nvSpPr>
        <p:spPr>
          <a:xfrm>
            <a:off x="15240" y="990600"/>
            <a:ext cx="9128760" cy="5867400"/>
          </a:xfrm>
        </p:spPr>
        <p:txBody>
          <a:bodyPr/>
          <a:lstStyle/>
          <a:p>
            <a:r>
              <a:rPr lang="en-US" dirty="0">
                <a:latin typeface="Times New Roman" panose="02020603050405020304" pitchFamily="18" charset="0"/>
                <a:cs typeface="Times New Roman" panose="02020603050405020304" pitchFamily="18" charset="0"/>
              </a:rPr>
              <a:t>Cars sharing same road(resource) cause traffic jam</a:t>
            </a:r>
            <a:r>
              <a:rPr lang="en-US" dirty="0"/>
              <a:t>.</a:t>
            </a:r>
          </a:p>
        </p:txBody>
      </p:sp>
      <p:pic>
        <p:nvPicPr>
          <p:cNvPr id="1028" name="Picture 4" descr="Image result for deadlock traffic">
            <a:extLst>
              <a:ext uri="{FF2B5EF4-FFF2-40B4-BE49-F238E27FC236}">
                <a16:creationId xmlns:a16="http://schemas.microsoft.com/office/drawing/2014/main" xmlns="" id="{98C92D0B-AB3A-489C-B571-ED75063183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600200"/>
            <a:ext cx="6842760" cy="51320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498502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14400"/>
            <a:ext cx="9144000" cy="5943600"/>
          </a:xfrm>
        </p:spPr>
        <p:txBody>
          <a:bodyPr>
            <a:noAutofit/>
          </a:bodyPr>
          <a:lstStyle/>
          <a:p>
            <a:pPr marL="0" indent="0" algn="just" eaLnBrk="0" hangingPunct="0">
              <a:lnSpc>
                <a:spcPct val="200000"/>
              </a:lnSpc>
              <a:buNone/>
            </a:pPr>
            <a:r>
              <a:rPr lang="en-US" altLang="zh-TW" b="1" dirty="0">
                <a:latin typeface="Times New Roman" panose="02020603050405020304" pitchFamily="18" charset="0"/>
                <a:cs typeface="Times New Roman" panose="02020603050405020304" pitchFamily="18" charset="0"/>
              </a:rPr>
              <a:t>Any example related to computing?</a:t>
            </a:r>
          </a:p>
          <a:p>
            <a:pPr algn="just" eaLnBrk="0" hangingPunct="0">
              <a:lnSpc>
                <a:spcPct val="200000"/>
              </a:lnSpc>
            </a:pPr>
            <a:r>
              <a:rPr lang="en-US" altLang="zh-TW" sz="2800" b="1" dirty="0">
                <a:solidFill>
                  <a:srgbClr val="FF0000"/>
                </a:solidFill>
                <a:latin typeface="Times New Roman" panose="02020603050405020304" pitchFamily="18" charset="0"/>
                <a:ea typeface="新細明體" charset="-120"/>
                <a:cs typeface="Times New Roman" panose="02020603050405020304" pitchFamily="18" charset="0"/>
              </a:rPr>
              <a:t>Printing multiple documents at same time.</a:t>
            </a:r>
          </a:p>
          <a:p>
            <a:pPr algn="just" eaLnBrk="0" hangingPunct="0">
              <a:lnSpc>
                <a:spcPct val="200000"/>
              </a:lnSpc>
            </a:pPr>
            <a:r>
              <a:rPr lang="en-US" altLang="zh-TW" sz="2800" b="1" dirty="0">
                <a:solidFill>
                  <a:srgbClr val="FF0000"/>
                </a:solidFill>
                <a:latin typeface="Times New Roman" panose="02020603050405020304" pitchFamily="18" charset="0"/>
                <a:ea typeface="新細明體" charset="-120"/>
                <a:cs typeface="Times New Roman" panose="02020603050405020304" pitchFamily="18" charset="0"/>
              </a:rPr>
              <a:t>Deleting a document already in use.</a:t>
            </a:r>
          </a:p>
          <a:p>
            <a:pPr algn="just" eaLnBrk="0" hangingPunct="0">
              <a:lnSpc>
                <a:spcPct val="200000"/>
              </a:lnSpc>
            </a:pPr>
            <a:r>
              <a:rPr lang="en-US" altLang="zh-TW" sz="2800" b="1" dirty="0">
                <a:solidFill>
                  <a:srgbClr val="FF0000"/>
                </a:solidFill>
                <a:latin typeface="Times New Roman" panose="02020603050405020304" pitchFamily="18" charset="0"/>
                <a:ea typeface="新細明體" charset="-120"/>
                <a:cs typeface="Times New Roman" panose="02020603050405020304" pitchFamily="18" charset="0"/>
              </a:rPr>
              <a:t>Opening an image being </a:t>
            </a:r>
            <a:r>
              <a:rPr lang="en-US" altLang="zh-TW" sz="2800" b="1" dirty="0" smtClean="0">
                <a:solidFill>
                  <a:srgbClr val="FF0000"/>
                </a:solidFill>
                <a:latin typeface="Times New Roman" panose="02020603050405020304" pitchFamily="18" charset="0"/>
                <a:ea typeface="新細明體" charset="-120"/>
                <a:cs typeface="Times New Roman" panose="02020603050405020304" pitchFamily="18" charset="0"/>
              </a:rPr>
              <a:t>edited (</a:t>
            </a:r>
            <a:r>
              <a:rPr lang="en-US" altLang="zh-TW" sz="2800" b="1" dirty="0">
                <a:solidFill>
                  <a:srgbClr val="FF0000"/>
                </a:solidFill>
                <a:latin typeface="Times New Roman" panose="02020603050405020304" pitchFamily="18" charset="0"/>
                <a:ea typeface="新細明體" charset="-120"/>
                <a:cs typeface="Times New Roman" panose="02020603050405020304" pitchFamily="18" charset="0"/>
              </a:rPr>
              <a:t>is it not created yet).</a:t>
            </a: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Deadlocks in Operating System</a:t>
            </a:r>
          </a:p>
        </p:txBody>
      </p:sp>
    </p:spTree>
    <p:extLst>
      <p:ext uri="{BB962C8B-B14F-4D97-AF65-F5344CB8AC3E}">
        <p14:creationId xmlns:p14="http://schemas.microsoft.com/office/powerpoint/2010/main" val="1456145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2438400"/>
            <a:ext cx="9144000" cy="1143000"/>
          </a:xfrm>
        </p:spPr>
        <p:txBody>
          <a:bodyPr>
            <a:noAutofit/>
          </a:bodyPr>
          <a:lstStyle/>
          <a:p>
            <a:pPr>
              <a:spcBef>
                <a:spcPct val="50000"/>
              </a:spcBef>
              <a:defRPr/>
            </a:pPr>
            <a:r>
              <a:rPr lang="en-US" sz="4000" b="1" dirty="0">
                <a:solidFill>
                  <a:schemeClr val="accent3">
                    <a:lumMod val="75000"/>
                  </a:schemeClr>
                </a:solidFill>
                <a:latin typeface="Times New Roman" pitchFamily="18" charset="0"/>
              </a:rPr>
              <a:t>Memory management in Operating System</a:t>
            </a:r>
          </a:p>
        </p:txBody>
      </p:sp>
    </p:spTree>
    <p:extLst>
      <p:ext uri="{BB962C8B-B14F-4D97-AF65-F5344CB8AC3E}">
        <p14:creationId xmlns:p14="http://schemas.microsoft.com/office/powerpoint/2010/main" val="92541452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14400"/>
            <a:ext cx="9144000" cy="5943600"/>
          </a:xfrm>
        </p:spPr>
        <p:txBody>
          <a:bodyPr>
            <a:noAutofit/>
          </a:bodyPr>
          <a:lstStyle/>
          <a:p>
            <a:pPr marL="0" indent="0" algn="just" eaLnBrk="0" hangingPunct="0">
              <a:lnSpc>
                <a:spcPct val="150000"/>
              </a:lnSpc>
              <a:buNone/>
            </a:pPr>
            <a:r>
              <a:rPr lang="en-US" b="1" u="sng" dirty="0">
                <a:latin typeface="Times New Roman" panose="02020603050405020304" pitchFamily="18" charset="0"/>
                <a:cs typeface="Times New Roman" panose="02020603050405020304" pitchFamily="18" charset="0"/>
              </a:rPr>
              <a:t>Definition</a:t>
            </a:r>
            <a:r>
              <a:rPr lang="en-US" dirty="0">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Memory management</a:t>
            </a:r>
            <a:r>
              <a:rPr lang="en-US" dirty="0">
                <a:latin typeface="Times New Roman" panose="02020603050405020304" pitchFamily="18" charset="0"/>
                <a:cs typeface="Times New Roman" panose="02020603050405020304" pitchFamily="18" charset="0"/>
              </a:rPr>
              <a:t> is the functionality of an </a:t>
            </a:r>
            <a:r>
              <a:rPr lang="en-US" b="1" dirty="0">
                <a:latin typeface="Times New Roman" panose="02020603050405020304" pitchFamily="18" charset="0"/>
                <a:cs typeface="Times New Roman" panose="02020603050405020304" pitchFamily="18" charset="0"/>
              </a:rPr>
              <a:t>operating system</a:t>
            </a:r>
            <a:r>
              <a:rPr lang="en-US" dirty="0">
                <a:latin typeface="Times New Roman" panose="02020603050405020304" pitchFamily="18" charset="0"/>
                <a:cs typeface="Times New Roman" panose="02020603050405020304" pitchFamily="18" charset="0"/>
              </a:rPr>
              <a:t> which handles or manages </a:t>
            </a:r>
            <a:r>
              <a:rPr lang="en-US" b="1" dirty="0">
                <a:solidFill>
                  <a:srgbClr val="FF0000"/>
                </a:solidFill>
                <a:latin typeface="Times New Roman" panose="02020603050405020304" pitchFamily="18" charset="0"/>
                <a:cs typeface="Times New Roman" panose="02020603050405020304" pitchFamily="18" charset="0"/>
              </a:rPr>
              <a:t>primary memory</a:t>
            </a:r>
            <a:r>
              <a:rPr lang="en-US" dirty="0">
                <a:latin typeface="Times New Roman" panose="02020603050405020304" pitchFamily="18" charset="0"/>
                <a:cs typeface="Times New Roman" panose="02020603050405020304" pitchFamily="18" charset="0"/>
              </a:rPr>
              <a:t> during execution.</a:t>
            </a:r>
          </a:p>
          <a:p>
            <a:pPr algn="just" eaLnBrk="0" hangingPunct="0">
              <a:lnSpc>
                <a:spcPct val="150000"/>
              </a:lnSpc>
            </a:pPr>
            <a:r>
              <a:rPr lang="en-US" b="1" dirty="0">
                <a:latin typeface="Times New Roman" panose="02020603050405020304" pitchFamily="18" charset="0"/>
                <a:cs typeface="Times New Roman" panose="02020603050405020304" pitchFamily="18" charset="0"/>
              </a:rPr>
              <a:t>Memory management in OS</a:t>
            </a:r>
            <a:r>
              <a:rPr lang="en-US" dirty="0">
                <a:latin typeface="Times New Roman" panose="02020603050405020304" pitchFamily="18" charset="0"/>
                <a:cs typeface="Times New Roman" panose="02020603050405020304" pitchFamily="18" charset="0"/>
              </a:rPr>
              <a:t> keeps track of each and every </a:t>
            </a:r>
            <a:r>
              <a:rPr lang="en-US" b="1" dirty="0">
                <a:latin typeface="Times New Roman" panose="02020603050405020304" pitchFamily="18" charset="0"/>
                <a:cs typeface="Times New Roman" panose="02020603050405020304" pitchFamily="18" charset="0"/>
              </a:rPr>
              <a:t>memory</a:t>
            </a:r>
            <a:r>
              <a:rPr lang="en-US" dirty="0">
                <a:latin typeface="Times New Roman" panose="02020603050405020304" pitchFamily="18" charset="0"/>
                <a:cs typeface="Times New Roman" panose="02020603050405020304" pitchFamily="18" charset="0"/>
              </a:rPr>
              <a:t> location, regardless of either it is allocated to some process or it is free.</a:t>
            </a:r>
            <a:endParaRPr lang="en-US" altLang="zh-TW" sz="2800" b="1" dirty="0">
              <a:solidFill>
                <a:srgbClr val="FF0000"/>
              </a:solidFill>
              <a:latin typeface="Times New Roman" panose="02020603050405020304" pitchFamily="18" charset="0"/>
              <a:ea typeface="新細明體" charset="-120"/>
              <a:cs typeface="Times New Roman" panose="02020603050405020304" pitchFamily="18" charset="0"/>
            </a:endParaRP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Memory management in Operating System</a:t>
            </a:r>
          </a:p>
        </p:txBody>
      </p:sp>
    </p:spTree>
    <p:extLst>
      <p:ext uri="{BB962C8B-B14F-4D97-AF65-F5344CB8AC3E}">
        <p14:creationId xmlns:p14="http://schemas.microsoft.com/office/powerpoint/2010/main" val="2576650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410200"/>
          </a:xfrm>
        </p:spPr>
        <p:txBody>
          <a:bodyPr>
            <a:noAutofit/>
          </a:bodyPr>
          <a:lstStyle/>
          <a:p>
            <a:pPr algn="just" eaLnBrk="0" hangingPunct="0">
              <a:lnSpc>
                <a:spcPct val="150000"/>
              </a:lnSpc>
            </a:pPr>
            <a:r>
              <a:rPr lang="en-US" sz="2400" dirty="0">
                <a:latin typeface="Times New Roman" panose="02020603050405020304" pitchFamily="18" charset="0"/>
                <a:cs typeface="Times New Roman" panose="02020603050405020304" pitchFamily="18" charset="0"/>
              </a:rPr>
              <a:t>Main Memory refers to a physical memory that is the internal memory to the computer. Main memory is also known as RAM. </a:t>
            </a:r>
          </a:p>
          <a:p>
            <a:pPr>
              <a:lnSpc>
                <a:spcPct val="150000"/>
              </a:lnSpc>
              <a:spcBef>
                <a:spcPct val="50000"/>
              </a:spcBef>
            </a:pPr>
            <a:r>
              <a:rPr lang="en-US" sz="2400" dirty="0">
                <a:latin typeface="Times New Roman" panose="02020603050405020304" pitchFamily="18" charset="0"/>
                <a:cs typeface="Times New Roman" panose="02020603050405020304" pitchFamily="18" charset="0"/>
              </a:rPr>
              <a:t>Main memory holds the programs and instructions which are currently being executed by the CPU.</a:t>
            </a:r>
          </a:p>
          <a:p>
            <a:pPr>
              <a:lnSpc>
                <a:spcPct val="150000"/>
              </a:lnSpc>
              <a:spcBef>
                <a:spcPct val="50000"/>
              </a:spcBef>
            </a:pPr>
            <a:r>
              <a:rPr lang="en-US" sz="2400" dirty="0">
                <a:latin typeface="Times New Roman" panose="02020603050405020304" pitchFamily="18" charset="0"/>
                <a:cs typeface="Times New Roman" panose="02020603050405020304" pitchFamily="18" charset="0"/>
              </a:rPr>
              <a:t>It is the fast access storage device.</a:t>
            </a:r>
          </a:p>
          <a:p>
            <a:pPr>
              <a:lnSpc>
                <a:spcPct val="150000"/>
              </a:lnSpc>
              <a:spcBef>
                <a:spcPct val="50000"/>
              </a:spcBef>
            </a:pPr>
            <a:r>
              <a:rPr lang="en-US" sz="2400" dirty="0">
                <a:latin typeface="Times New Roman" panose="02020603050405020304" pitchFamily="18" charset="0"/>
                <a:cs typeface="Times New Roman" panose="02020603050405020304" pitchFamily="18" charset="0"/>
              </a:rPr>
              <a:t>It is read and write memory.</a:t>
            </a:r>
          </a:p>
          <a:p>
            <a:pPr>
              <a:lnSpc>
                <a:spcPct val="150000"/>
              </a:lnSpc>
              <a:spcBef>
                <a:spcPct val="50000"/>
              </a:spcBef>
            </a:pPr>
            <a:r>
              <a:rPr lang="en-US" sz="2400" dirty="0">
                <a:latin typeface="Times New Roman" panose="02020603050405020304" pitchFamily="18" charset="0"/>
                <a:cs typeface="Times New Roman" panose="02020603050405020304" pitchFamily="18" charset="0"/>
              </a:rPr>
              <a:t>It is a volatile memory.</a:t>
            </a:r>
          </a:p>
          <a:p>
            <a:pPr algn="just" eaLnBrk="0" hangingPunct="0">
              <a:lnSpc>
                <a:spcPct val="150000"/>
              </a:lnSpc>
            </a:pPr>
            <a:endParaRPr lang="en-US" altLang="zh-TW" sz="2400" b="1" dirty="0">
              <a:solidFill>
                <a:srgbClr val="FF0000"/>
              </a:solidFill>
              <a:latin typeface="Times New Roman" panose="02020603050405020304" pitchFamily="18" charset="0"/>
              <a:ea typeface="新細明體" charset="-120"/>
              <a:cs typeface="Times New Roman" panose="02020603050405020304" pitchFamily="18" charset="0"/>
            </a:endParaRP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200" b="1" dirty="0">
                <a:solidFill>
                  <a:schemeClr val="accent3">
                    <a:lumMod val="75000"/>
                  </a:schemeClr>
                </a:solidFill>
                <a:latin typeface="Times New Roman" pitchFamily="18" charset="0"/>
              </a:rPr>
              <a:t>Memory management in Operating System: Main Memory</a:t>
            </a:r>
          </a:p>
        </p:txBody>
      </p:sp>
    </p:spTree>
    <p:extLst>
      <p:ext uri="{BB962C8B-B14F-4D97-AF65-F5344CB8AC3E}">
        <p14:creationId xmlns:p14="http://schemas.microsoft.com/office/powerpoint/2010/main" val="2630065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410200"/>
          </a:xfrm>
        </p:spPr>
        <p:txBody>
          <a:bodyPr>
            <a:noAutofit/>
          </a:bodyPr>
          <a:lstStyle/>
          <a:p>
            <a:pPr algn="just">
              <a:lnSpc>
                <a:spcPct val="150000"/>
              </a:lnSpc>
              <a:spcBef>
                <a:spcPct val="50000"/>
              </a:spcBef>
              <a:buFontTx/>
              <a:buAutoNum type="arabicPeriod"/>
            </a:pPr>
            <a:r>
              <a:rPr lang="en-US" sz="2400" dirty="0">
                <a:latin typeface="Times New Roman" panose="02020603050405020304" pitchFamily="18" charset="0"/>
                <a:cs typeface="Times New Roman" panose="02020603050405020304" pitchFamily="18" charset="0"/>
              </a:rPr>
              <a:t>In a simple OS, only one program at a time is in the memory. To run a second program, the first one has to be removed and the second program placed in the memory.</a:t>
            </a:r>
          </a:p>
          <a:p>
            <a:pPr algn="just">
              <a:lnSpc>
                <a:spcPct val="150000"/>
              </a:lnSpc>
              <a:spcBef>
                <a:spcPct val="50000"/>
              </a:spcBef>
              <a:buFontTx/>
              <a:buAutoNum type="arabicPeriod"/>
            </a:pPr>
            <a:r>
              <a:rPr lang="en-US" sz="2400" dirty="0">
                <a:latin typeface="Times New Roman" panose="02020603050405020304" pitchFamily="18" charset="0"/>
                <a:cs typeface="Times New Roman" panose="02020603050405020304" pitchFamily="18" charset="0"/>
              </a:rPr>
              <a:t>Sophisticated OS allow multiple programs to be in the main memory at the same time.</a:t>
            </a:r>
          </a:p>
          <a:p>
            <a:pPr algn="just">
              <a:lnSpc>
                <a:spcPct val="150000"/>
              </a:lnSpc>
              <a:spcBef>
                <a:spcPct val="50000"/>
              </a:spcBef>
              <a:buFontTx/>
              <a:buAutoNum type="arabicPeriod"/>
            </a:pPr>
            <a:r>
              <a:rPr lang="en-US" sz="2400" dirty="0">
                <a:latin typeface="Times New Roman" panose="02020603050405020304" pitchFamily="18" charset="0"/>
                <a:cs typeface="Times New Roman" panose="02020603050405020304" pitchFamily="18" charset="0"/>
              </a:rPr>
              <a:t>To keep </a:t>
            </a:r>
            <a:r>
              <a:rPr lang="en-US" sz="2400" dirty="0" smtClean="0">
                <a:latin typeface="Times New Roman" panose="02020603050405020304" pitchFamily="18" charset="0"/>
                <a:cs typeface="Times New Roman" panose="02020603050405020304" pitchFamily="18" charset="0"/>
              </a:rPr>
              <a:t>them away from </a:t>
            </a:r>
            <a:r>
              <a:rPr lang="en-US" sz="2400" dirty="0">
                <a:latin typeface="Times New Roman" panose="02020603050405020304" pitchFamily="18" charset="0"/>
                <a:cs typeface="Times New Roman" panose="02020603050405020304" pitchFamily="18" charset="0"/>
              </a:rPr>
              <a:t>interfering with one another, some kind of protection mechanism is needed.</a:t>
            </a:r>
          </a:p>
          <a:p>
            <a:pPr algn="just">
              <a:lnSpc>
                <a:spcPct val="150000"/>
              </a:lnSpc>
              <a:spcBef>
                <a:spcPct val="50000"/>
              </a:spcBef>
              <a:buFontTx/>
              <a:buAutoNum type="arabicPeriod"/>
            </a:pPr>
            <a:r>
              <a:rPr lang="en-US" sz="2400" dirty="0">
                <a:latin typeface="Times New Roman" panose="02020603050405020304" pitchFamily="18" charset="0"/>
                <a:cs typeface="Times New Roman" panose="02020603050405020304" pitchFamily="18" charset="0"/>
              </a:rPr>
              <a:t>Important memory related issue is managing the </a:t>
            </a:r>
            <a:r>
              <a:rPr lang="en-US" sz="2400" b="1" dirty="0">
                <a:solidFill>
                  <a:srgbClr val="FF0000"/>
                </a:solidFill>
                <a:latin typeface="Times New Roman" panose="02020603050405020304" pitchFamily="18" charset="0"/>
                <a:cs typeface="Times New Roman" panose="02020603050405020304" pitchFamily="18" charset="0"/>
              </a:rPr>
              <a:t>address space of the processes.</a:t>
            </a: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200" b="1" dirty="0">
                <a:solidFill>
                  <a:schemeClr val="accent3">
                    <a:lumMod val="75000"/>
                  </a:schemeClr>
                </a:solidFill>
                <a:latin typeface="Times New Roman" pitchFamily="18" charset="0"/>
              </a:rPr>
              <a:t>Memory management in Operating System: How it is managed</a:t>
            </a:r>
          </a:p>
        </p:txBody>
      </p:sp>
    </p:spTree>
    <p:extLst>
      <p:ext uri="{BB962C8B-B14F-4D97-AF65-F5344CB8AC3E}">
        <p14:creationId xmlns:p14="http://schemas.microsoft.com/office/powerpoint/2010/main" val="2324087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715000"/>
          </a:xfrm>
        </p:spPr>
        <p:txBody>
          <a:bodyPr>
            <a:noAutofit/>
          </a:bodyPr>
          <a:lstStyle/>
          <a:p>
            <a:pPr marL="0" indent="0" algn="just">
              <a:lnSpc>
                <a:spcPct val="200000"/>
              </a:lnSpc>
              <a:spcBef>
                <a:spcPct val="50000"/>
              </a:spcBef>
              <a:buNone/>
            </a:pPr>
            <a:r>
              <a:rPr lang="en-US" sz="2800" b="1" u="sng" dirty="0">
                <a:latin typeface="Times New Roman" panose="02020603050405020304" pitchFamily="18" charset="0"/>
                <a:cs typeface="Times New Roman" panose="02020603050405020304" pitchFamily="18" charset="0"/>
              </a:rPr>
              <a:t>Address Space:</a:t>
            </a:r>
            <a:r>
              <a:rPr lang="en-US" sz="2800" dirty="0">
                <a:latin typeface="Times New Roman" pitchFamily="18" charset="0"/>
                <a:cs typeface="Times New Roman" panose="02020603050405020304" pitchFamily="18" charset="0"/>
              </a:rPr>
              <a:t> Contains data, registers including program counter, stack pointer and all other information </a:t>
            </a:r>
            <a:r>
              <a:rPr lang="en-US" sz="2800" dirty="0" smtClean="0">
                <a:latin typeface="Times New Roman" pitchFamily="18" charset="0"/>
                <a:cs typeface="Times New Roman" panose="02020603050405020304" pitchFamily="18" charset="0"/>
              </a:rPr>
              <a:t>needed </a:t>
            </a:r>
            <a:r>
              <a:rPr lang="en-US" sz="2800" dirty="0">
                <a:latin typeface="Times New Roman" pitchFamily="18" charset="0"/>
                <a:cs typeface="Times New Roman" panose="02020603050405020304" pitchFamily="18" charset="0"/>
              </a:rPr>
              <a:t>to run the program of the process</a:t>
            </a:r>
            <a:r>
              <a:rPr lang="en-US" sz="2800" dirty="0" smtClean="0">
                <a:latin typeface="Times New Roman" pitchFamily="18" charset="0"/>
                <a:cs typeface="Times New Roman" panose="02020603050405020304" pitchFamily="18" charset="0"/>
              </a:rPr>
              <a:t>.</a:t>
            </a:r>
          </a:p>
          <a:p>
            <a:pPr marL="0" indent="0" algn="just">
              <a:lnSpc>
                <a:spcPct val="200000"/>
              </a:lnSpc>
              <a:spcBef>
                <a:spcPct val="50000"/>
              </a:spcBef>
              <a:buNone/>
            </a:pPr>
            <a:r>
              <a:rPr lang="en-US" sz="2800" dirty="0">
                <a:latin typeface="Times New Roman" panose="02020603050405020304" pitchFamily="18" charset="0"/>
                <a:cs typeface="Times New Roman" panose="02020603050405020304" pitchFamily="18" charset="0"/>
              </a:rPr>
              <a:t>A </a:t>
            </a:r>
            <a:r>
              <a:rPr lang="en-US" sz="2800" b="1" dirty="0">
                <a:latin typeface="Times New Roman" panose="02020603050405020304" pitchFamily="18" charset="0"/>
                <a:cs typeface="Times New Roman" panose="02020603050405020304" pitchFamily="18" charset="0"/>
              </a:rPr>
              <a:t>program counter</a:t>
            </a:r>
            <a:r>
              <a:rPr lang="en-US" sz="2800" dirty="0">
                <a:latin typeface="Times New Roman" panose="02020603050405020304" pitchFamily="18" charset="0"/>
                <a:cs typeface="Times New Roman" panose="02020603050405020304" pitchFamily="18" charset="0"/>
              </a:rPr>
              <a:t> is a register in a computer processor that contains the address (location) of the instruction being executed at the current time.</a:t>
            </a:r>
          </a:p>
          <a:p>
            <a:pPr algn="just">
              <a:lnSpc>
                <a:spcPct val="200000"/>
              </a:lnSpc>
              <a:spcBef>
                <a:spcPct val="50000"/>
              </a:spcBef>
            </a:pPr>
            <a:r>
              <a:rPr lang="en-US" sz="2800" b="1" dirty="0">
                <a:solidFill>
                  <a:srgbClr val="FF0000"/>
                </a:solidFill>
                <a:latin typeface="Times New Roman" panose="02020603050405020304" pitchFamily="18" charset="0"/>
                <a:cs typeface="Times New Roman" panose="02020603050405020304" pitchFamily="18" charset="0"/>
              </a:rPr>
              <a:t>What if a process need more address space than the computer has main memory and the process wants to use it all</a:t>
            </a:r>
            <a:r>
              <a:rPr lang="en-US" sz="2800" b="1" dirty="0" smtClean="0">
                <a:solidFill>
                  <a:srgbClr val="FF0000"/>
                </a:solidFill>
                <a:latin typeface="Times New Roman" panose="02020603050405020304" pitchFamily="18" charset="0"/>
                <a:cs typeface="Times New Roman" panose="02020603050405020304" pitchFamily="18" charset="0"/>
              </a:rPr>
              <a:t>?</a:t>
            </a:r>
            <a:endParaRPr lang="en-US" sz="2800" b="1" dirty="0">
              <a:solidFill>
                <a:srgbClr val="FF0000"/>
              </a:solidFill>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200" b="1" dirty="0">
                <a:solidFill>
                  <a:schemeClr val="accent3">
                    <a:lumMod val="75000"/>
                  </a:schemeClr>
                </a:solidFill>
                <a:latin typeface="Times New Roman" pitchFamily="18" charset="0"/>
              </a:rPr>
              <a:t>Memory management in Operating System: Address space</a:t>
            </a:r>
          </a:p>
        </p:txBody>
      </p:sp>
    </p:spTree>
    <p:extLst>
      <p:ext uri="{BB962C8B-B14F-4D97-AF65-F5344CB8AC3E}">
        <p14:creationId xmlns:p14="http://schemas.microsoft.com/office/powerpoint/2010/main" val="3491353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715000"/>
          </a:xfrm>
        </p:spPr>
        <p:txBody>
          <a:bodyPr>
            <a:noAutofit/>
          </a:bodyPr>
          <a:lstStyle/>
          <a:p>
            <a:pPr marL="0" indent="0" algn="just">
              <a:lnSpc>
                <a:spcPct val="200000"/>
              </a:lnSpc>
              <a:spcBef>
                <a:spcPct val="50000"/>
              </a:spcBef>
              <a:buNone/>
            </a:pPr>
            <a:r>
              <a:rPr lang="en-US" sz="2800" dirty="0">
                <a:latin typeface="Times New Roman" panose="02020603050405020304" pitchFamily="18" charset="0"/>
                <a:cs typeface="Times New Roman" panose="02020603050405020304" pitchFamily="18" charset="0"/>
              </a:rPr>
              <a:t>A </a:t>
            </a:r>
            <a:r>
              <a:rPr lang="en-US" sz="2800" b="1" dirty="0">
                <a:latin typeface="Times New Roman" panose="02020603050405020304" pitchFamily="18" charset="0"/>
                <a:cs typeface="Times New Roman" panose="02020603050405020304" pitchFamily="18" charset="0"/>
              </a:rPr>
              <a:t>stack pointer</a:t>
            </a:r>
            <a:r>
              <a:rPr lang="en-US" sz="2800" dirty="0">
                <a:latin typeface="Times New Roman" panose="02020603050405020304" pitchFamily="18" charset="0"/>
                <a:cs typeface="Times New Roman" panose="02020603050405020304" pitchFamily="18" charset="0"/>
              </a:rPr>
              <a:t> is a small register that stores the address of the last program request in a </a:t>
            </a:r>
            <a:r>
              <a:rPr lang="en-US" sz="2800" b="1" dirty="0">
                <a:latin typeface="Times New Roman" panose="02020603050405020304" pitchFamily="18" charset="0"/>
                <a:cs typeface="Times New Roman" panose="02020603050405020304" pitchFamily="18" charset="0"/>
              </a:rPr>
              <a:t>stack</a:t>
            </a:r>
            <a:r>
              <a:rPr lang="en-US" sz="2800" dirty="0">
                <a:latin typeface="Times New Roman" panose="02020603050405020304" pitchFamily="18" charset="0"/>
                <a:cs typeface="Times New Roman" panose="02020603050405020304" pitchFamily="18" charset="0"/>
              </a:rPr>
              <a:t>. </a:t>
            </a:r>
            <a:endParaRPr lang="en-US" sz="2800" dirty="0" smtClean="0">
              <a:latin typeface="Times New Roman" panose="02020603050405020304" pitchFamily="18" charset="0"/>
              <a:cs typeface="Times New Roman" panose="02020603050405020304" pitchFamily="18" charset="0"/>
            </a:endParaRPr>
          </a:p>
          <a:p>
            <a:pPr marL="0" indent="0" algn="just">
              <a:lnSpc>
                <a:spcPct val="200000"/>
              </a:lnSpc>
              <a:spcBef>
                <a:spcPct val="50000"/>
              </a:spcBef>
              <a:buNone/>
            </a:pPr>
            <a:r>
              <a:rPr lang="en-US" sz="2800" dirty="0" smtClean="0">
                <a:latin typeface="Times New Roman" panose="02020603050405020304" pitchFamily="18" charset="0"/>
                <a:cs typeface="Times New Roman" panose="02020603050405020304" pitchFamily="18" charset="0"/>
              </a:rPr>
              <a:t>A</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stack</a:t>
            </a:r>
            <a:r>
              <a:rPr lang="en-US" sz="2800" dirty="0">
                <a:latin typeface="Times New Roman" panose="02020603050405020304" pitchFamily="18" charset="0"/>
                <a:cs typeface="Times New Roman" panose="02020603050405020304" pitchFamily="18" charset="0"/>
              </a:rPr>
              <a:t> is a specialized buffer which stores data from the top down. As new requests come in, they "push down" the older ones</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itchFamily="18" charset="0"/>
              <a:cs typeface="Times New Roman" panose="02020603050405020304" pitchFamily="18" charset="0"/>
            </a:endParaRPr>
          </a:p>
          <a:p>
            <a:pPr algn="just">
              <a:lnSpc>
                <a:spcPct val="200000"/>
              </a:lnSpc>
              <a:spcBef>
                <a:spcPct val="50000"/>
              </a:spcBef>
              <a:buFontTx/>
              <a:buAutoNum type="arabicPeriod"/>
            </a:pPr>
            <a:endParaRPr lang="en-US" sz="2800" b="1" dirty="0">
              <a:solidFill>
                <a:srgbClr val="FF0000"/>
              </a:solidFill>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200" b="1" dirty="0">
                <a:solidFill>
                  <a:schemeClr val="accent3">
                    <a:lumMod val="75000"/>
                  </a:schemeClr>
                </a:solidFill>
                <a:latin typeface="Times New Roman" pitchFamily="18" charset="0"/>
              </a:rPr>
              <a:t>Memory management in Operating System: Address space</a:t>
            </a:r>
          </a:p>
        </p:txBody>
      </p:sp>
    </p:spTree>
    <p:extLst>
      <p:ext uri="{BB962C8B-B14F-4D97-AF65-F5344CB8AC3E}">
        <p14:creationId xmlns:p14="http://schemas.microsoft.com/office/powerpoint/2010/main" val="2336750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715000"/>
          </a:xfrm>
        </p:spPr>
        <p:txBody>
          <a:bodyPr>
            <a:noAutofit/>
          </a:bodyPr>
          <a:lstStyle/>
          <a:p>
            <a:pPr marL="0" indent="0" algn="just">
              <a:lnSpc>
                <a:spcPct val="200000"/>
              </a:lnSpc>
              <a:spcBef>
                <a:spcPct val="50000"/>
              </a:spcBef>
              <a:buNone/>
            </a:pPr>
            <a:r>
              <a:rPr lang="en-US" sz="2800" b="1" dirty="0" smtClean="0">
                <a:solidFill>
                  <a:srgbClr val="FF0000"/>
                </a:solidFill>
                <a:latin typeface="Times New Roman" panose="02020603050405020304" pitchFamily="18" charset="0"/>
                <a:cs typeface="Times New Roman" panose="02020603050405020304" pitchFamily="18" charset="0"/>
              </a:rPr>
              <a:t>What </a:t>
            </a:r>
            <a:r>
              <a:rPr lang="en-US" sz="2800" b="1" dirty="0">
                <a:solidFill>
                  <a:srgbClr val="FF0000"/>
                </a:solidFill>
                <a:latin typeface="Times New Roman" panose="02020603050405020304" pitchFamily="18" charset="0"/>
                <a:cs typeface="Times New Roman" panose="02020603050405020304" pitchFamily="18" charset="0"/>
              </a:rPr>
              <a:t>if a process need more address space than the computer has main memory and the process wants to use it all?</a:t>
            </a:r>
          </a:p>
          <a:p>
            <a:pPr algn="just">
              <a:lnSpc>
                <a:spcPct val="200000"/>
              </a:lnSpc>
              <a:spcBef>
                <a:spcPct val="50000"/>
              </a:spcBef>
            </a:pPr>
            <a:endParaRPr lang="en-US" sz="2800" dirty="0">
              <a:latin typeface="Times New Roman" pitchFamily="18" charset="0"/>
              <a:cs typeface="Times New Roman" panose="02020603050405020304" pitchFamily="18" charset="0"/>
            </a:endParaRPr>
          </a:p>
          <a:p>
            <a:pPr algn="just">
              <a:lnSpc>
                <a:spcPct val="200000"/>
              </a:lnSpc>
              <a:spcBef>
                <a:spcPct val="50000"/>
              </a:spcBef>
              <a:buFontTx/>
              <a:buAutoNum type="arabicPeriod"/>
            </a:pPr>
            <a:endParaRPr lang="en-US" sz="2800" b="1" dirty="0">
              <a:solidFill>
                <a:srgbClr val="FF0000"/>
              </a:solidFill>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200" b="1" dirty="0">
                <a:solidFill>
                  <a:schemeClr val="accent3">
                    <a:lumMod val="75000"/>
                  </a:schemeClr>
                </a:solidFill>
                <a:latin typeface="Times New Roman" pitchFamily="18" charset="0"/>
              </a:rPr>
              <a:t>Memory management in Operating System: Address space</a:t>
            </a:r>
          </a:p>
        </p:txBody>
      </p:sp>
    </p:spTree>
    <p:extLst>
      <p:ext uri="{BB962C8B-B14F-4D97-AF65-F5344CB8AC3E}">
        <p14:creationId xmlns:p14="http://schemas.microsoft.com/office/powerpoint/2010/main" val="60597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715000"/>
          </a:xfrm>
        </p:spPr>
        <p:txBody>
          <a:bodyPr>
            <a:noAutofit/>
          </a:bodyPr>
          <a:lstStyle/>
          <a:p>
            <a:pPr algn="just">
              <a:lnSpc>
                <a:spcPct val="200000"/>
              </a:lnSpc>
              <a:spcBef>
                <a:spcPct val="50000"/>
              </a:spcBef>
            </a:pPr>
            <a:r>
              <a:rPr lang="en-US" sz="2800" dirty="0">
                <a:latin typeface="Times New Roman" panose="02020603050405020304" pitchFamily="18" charset="0"/>
                <a:cs typeface="Times New Roman" panose="02020603050405020304" pitchFamily="18" charset="0"/>
              </a:rPr>
              <a:t>Technique called </a:t>
            </a:r>
            <a:r>
              <a:rPr lang="en-US" sz="2800" b="1" dirty="0">
                <a:solidFill>
                  <a:srgbClr val="FF0000"/>
                </a:solidFill>
                <a:latin typeface="Times New Roman" panose="02020603050405020304" pitchFamily="18" charset="0"/>
                <a:cs typeface="Times New Roman" panose="02020603050405020304" pitchFamily="18" charset="0"/>
              </a:rPr>
              <a:t>virtual memory </a:t>
            </a:r>
            <a:r>
              <a:rPr lang="en-US" sz="2800" dirty="0">
                <a:latin typeface="Times New Roman" panose="02020603050405020304" pitchFamily="18" charset="0"/>
                <a:cs typeface="Times New Roman" panose="02020603050405020304" pitchFamily="18" charset="0"/>
              </a:rPr>
              <a:t>exists, in which the OS keeps part of the address space in the main memory(RAM) and its some part on the disk(Hard disk) and moves pieces back and forth between them as needed.</a:t>
            </a:r>
          </a:p>
          <a:p>
            <a:pPr algn="just">
              <a:lnSpc>
                <a:spcPct val="200000"/>
              </a:lnSpc>
              <a:spcBef>
                <a:spcPct val="50000"/>
              </a:spcBef>
              <a:buFontTx/>
              <a:buAutoNum type="arabicPeriod"/>
            </a:pPr>
            <a:endParaRPr lang="en-US" sz="2800" b="1" dirty="0">
              <a:solidFill>
                <a:srgbClr val="FF0000"/>
              </a:solidFill>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200" b="1" dirty="0">
                <a:solidFill>
                  <a:schemeClr val="accent3">
                    <a:lumMod val="75000"/>
                  </a:schemeClr>
                </a:solidFill>
                <a:latin typeface="Times New Roman" pitchFamily="18" charset="0"/>
              </a:rPr>
              <a:t>Memory management in Operating System: Virtual Memory</a:t>
            </a:r>
          </a:p>
        </p:txBody>
      </p:sp>
    </p:spTree>
    <p:extLst>
      <p:ext uri="{BB962C8B-B14F-4D97-AF65-F5344CB8AC3E}">
        <p14:creationId xmlns:p14="http://schemas.microsoft.com/office/powerpoint/2010/main" val="112932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2438400"/>
            <a:ext cx="9144000" cy="1143000"/>
          </a:xfrm>
        </p:spPr>
        <p:txBody>
          <a:bodyPr>
            <a:noAutofit/>
          </a:bodyPr>
          <a:lstStyle/>
          <a:p>
            <a:pPr>
              <a:spcBef>
                <a:spcPct val="50000"/>
              </a:spcBef>
              <a:defRPr/>
            </a:pPr>
            <a:r>
              <a:rPr lang="en-US" sz="4000" b="1" dirty="0">
                <a:solidFill>
                  <a:schemeClr val="accent3">
                    <a:lumMod val="75000"/>
                  </a:schemeClr>
                </a:solidFill>
                <a:latin typeface="Times New Roman" pitchFamily="18" charset="0"/>
              </a:rPr>
              <a:t>I/O management in Operating System</a:t>
            </a:r>
          </a:p>
        </p:txBody>
      </p:sp>
    </p:spTree>
    <p:extLst>
      <p:ext uri="{BB962C8B-B14F-4D97-AF65-F5344CB8AC3E}">
        <p14:creationId xmlns:p14="http://schemas.microsoft.com/office/powerpoint/2010/main" val="254598596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715000"/>
          </a:xfrm>
        </p:spPr>
        <p:txBody>
          <a:bodyPr>
            <a:noAutofit/>
          </a:bodyPr>
          <a:lstStyle/>
          <a:p>
            <a:pPr algn="just">
              <a:lnSpc>
                <a:spcPct val="200000"/>
              </a:lnSpc>
              <a:spcBef>
                <a:spcPct val="50000"/>
              </a:spcBef>
            </a:pPr>
            <a:r>
              <a:rPr lang="en-US" sz="2800" b="1" dirty="0">
                <a:solidFill>
                  <a:srgbClr val="FF0000"/>
                </a:solidFill>
                <a:latin typeface="Times New Roman" panose="02020603050405020304" pitchFamily="18" charset="0"/>
                <a:cs typeface="Times New Roman" panose="02020603050405020304" pitchFamily="18" charset="0"/>
              </a:rPr>
              <a:t>An I/O management system in OS is responsible to take an I/O request from the user and send it to the physical device and then take whatever response comes back from the device and send it to the application.</a:t>
            </a:r>
            <a:endParaRPr lang="en-US" sz="2400" b="1" dirty="0">
              <a:solidFill>
                <a:srgbClr val="FF0000"/>
              </a:solidFill>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200" b="1" dirty="0">
                <a:solidFill>
                  <a:schemeClr val="accent3">
                    <a:lumMod val="75000"/>
                  </a:schemeClr>
                </a:solidFill>
                <a:latin typeface="Times New Roman" pitchFamily="18" charset="0"/>
              </a:rPr>
              <a:t>I/O management in Operating System</a:t>
            </a:r>
          </a:p>
        </p:txBody>
      </p:sp>
    </p:spTree>
    <p:extLst>
      <p:ext uri="{BB962C8B-B14F-4D97-AF65-F5344CB8AC3E}">
        <p14:creationId xmlns:p14="http://schemas.microsoft.com/office/powerpoint/2010/main" val="3315835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715000"/>
          </a:xfrm>
        </p:spPr>
        <p:txBody>
          <a:bodyPr>
            <a:noAutofit/>
          </a:bodyPr>
          <a:lstStyle/>
          <a:p>
            <a:r>
              <a:rPr lang="en-US" sz="2800" dirty="0"/>
              <a:t>I/O devices can be divided into two categories </a:t>
            </a:r>
            <a:endParaRPr lang="en-US" sz="2800" b="1" dirty="0" smtClean="0"/>
          </a:p>
          <a:p>
            <a:r>
              <a:rPr lang="en-US" sz="2800" b="1" dirty="0" smtClean="0"/>
              <a:t>Block </a:t>
            </a:r>
            <a:r>
              <a:rPr lang="en-US" sz="2800" b="1" dirty="0"/>
              <a:t>devices</a:t>
            </a:r>
            <a:r>
              <a:rPr lang="en-US" sz="2800" dirty="0"/>
              <a:t> − A block device is one with which the driver communicates by sending entire blocks of data. For example, Hard disks, USB cameras, </a:t>
            </a:r>
            <a:r>
              <a:rPr lang="en-US" sz="2800" dirty="0" smtClean="0"/>
              <a:t>etc</a:t>
            </a:r>
            <a:r>
              <a:rPr lang="en-US" sz="2800" dirty="0"/>
              <a:t>.</a:t>
            </a:r>
          </a:p>
          <a:p>
            <a:r>
              <a:rPr lang="en-US" sz="2800" b="1" dirty="0"/>
              <a:t>Character devices</a:t>
            </a:r>
            <a:r>
              <a:rPr lang="en-US" sz="2800" dirty="0"/>
              <a:t> − A character device is one with which the driver communicates by sending and receiving single characters (bytes, octets). For example, serial ports, parallel ports, sounds cards </a:t>
            </a:r>
            <a:r>
              <a:rPr lang="en-US" sz="2800" dirty="0" smtClean="0"/>
              <a:t>etc.</a:t>
            </a:r>
            <a:endParaRPr lang="en-US" sz="2800" dirty="0"/>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200" b="1" dirty="0">
                <a:solidFill>
                  <a:schemeClr val="accent3">
                    <a:lumMod val="75000"/>
                  </a:schemeClr>
                </a:solidFill>
                <a:latin typeface="Times New Roman" pitchFamily="18" charset="0"/>
              </a:rPr>
              <a:t>I/O management in Operating System</a:t>
            </a:r>
          </a:p>
        </p:txBody>
      </p:sp>
    </p:spTree>
    <p:extLst>
      <p:ext uri="{BB962C8B-B14F-4D97-AF65-F5344CB8AC3E}">
        <p14:creationId xmlns:p14="http://schemas.microsoft.com/office/powerpoint/2010/main" val="578805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715000"/>
          </a:xfrm>
        </p:spPr>
        <p:txBody>
          <a:bodyPr>
            <a:noAutofit/>
          </a:bodyPr>
          <a:lstStyle/>
          <a:p>
            <a:pPr algn="just">
              <a:lnSpc>
                <a:spcPct val="200000"/>
              </a:lnSpc>
              <a:spcBef>
                <a:spcPct val="50000"/>
              </a:spcBef>
            </a:pPr>
            <a:endParaRPr lang="en-US" sz="2400" b="1" dirty="0">
              <a:solidFill>
                <a:srgbClr val="FF0000"/>
              </a:solidFill>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200" b="1" dirty="0">
                <a:solidFill>
                  <a:schemeClr val="accent3">
                    <a:lumMod val="75000"/>
                  </a:schemeClr>
                </a:solidFill>
                <a:latin typeface="Times New Roman" pitchFamily="18" charset="0"/>
              </a:rPr>
              <a:t>I/O management in Operating System</a:t>
            </a:r>
          </a:p>
        </p:txBody>
      </p:sp>
      <p:pic>
        <p:nvPicPr>
          <p:cNvPr id="2050" name="Picture 2" descr="Image result">
            <a:extLst>
              <a:ext uri="{FF2B5EF4-FFF2-40B4-BE49-F238E27FC236}">
                <a16:creationId xmlns:a16="http://schemas.microsoft.com/office/drawing/2014/main" xmlns="" id="{CE5429DA-9141-4BA3-8107-1E209E3FCC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447800"/>
            <a:ext cx="6400800" cy="4820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7287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2438400"/>
            <a:ext cx="9144000" cy="1143000"/>
          </a:xfrm>
        </p:spPr>
        <p:txBody>
          <a:bodyPr>
            <a:noAutofit/>
          </a:bodyPr>
          <a:lstStyle/>
          <a:p>
            <a:pPr>
              <a:spcBef>
                <a:spcPct val="50000"/>
              </a:spcBef>
              <a:defRPr/>
            </a:pPr>
            <a:r>
              <a:rPr lang="en-US" sz="4000" b="1" dirty="0">
                <a:solidFill>
                  <a:schemeClr val="accent3">
                    <a:lumMod val="75000"/>
                  </a:schemeClr>
                </a:solidFill>
                <a:latin typeface="Times New Roman" pitchFamily="18" charset="0"/>
              </a:rPr>
              <a:t>File management in Operating System</a:t>
            </a:r>
          </a:p>
        </p:txBody>
      </p:sp>
    </p:spTree>
    <p:extLst>
      <p:ext uri="{BB962C8B-B14F-4D97-AF65-F5344CB8AC3E}">
        <p14:creationId xmlns:p14="http://schemas.microsoft.com/office/powerpoint/2010/main" val="12127809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14400"/>
            <a:ext cx="9144000" cy="5943600"/>
          </a:xfrm>
        </p:spPr>
        <p:txBody>
          <a:bodyPr>
            <a:noAutofit/>
          </a:bodyPr>
          <a:lstStyle/>
          <a:p>
            <a:pPr algn="just">
              <a:lnSpc>
                <a:spcPct val="200000"/>
              </a:lnSpc>
              <a:spcBef>
                <a:spcPct val="50000"/>
              </a:spcBef>
            </a:pPr>
            <a:r>
              <a:rPr lang="en-US" sz="2400" b="1" dirty="0">
                <a:latin typeface="Times New Roman" panose="02020603050405020304" pitchFamily="18" charset="0"/>
                <a:cs typeface="Times New Roman" panose="02020603050405020304" pitchFamily="18" charset="0"/>
              </a:rPr>
              <a:t>Definition:</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The system that an </a:t>
            </a:r>
            <a:r>
              <a:rPr lang="en-US" sz="2400" b="1" dirty="0">
                <a:solidFill>
                  <a:srgbClr val="FF0000"/>
                </a:solidFill>
                <a:latin typeface="Times New Roman" panose="02020603050405020304" pitchFamily="18" charset="0"/>
                <a:cs typeface="Times New Roman" panose="02020603050405020304" pitchFamily="18" charset="0"/>
              </a:rPr>
              <a:t>operating system</a:t>
            </a:r>
            <a:r>
              <a:rPr lang="en-US" sz="2400" dirty="0">
                <a:solidFill>
                  <a:srgbClr val="FF0000"/>
                </a:solidFill>
                <a:latin typeface="Times New Roman" panose="02020603050405020304" pitchFamily="18" charset="0"/>
                <a:cs typeface="Times New Roman" panose="02020603050405020304" pitchFamily="18" charset="0"/>
              </a:rPr>
              <a:t> or program uses to organize and keep </a:t>
            </a:r>
            <a:r>
              <a:rPr lang="en-US" sz="2400" dirty="0" smtClean="0">
                <a:solidFill>
                  <a:srgbClr val="FF0000"/>
                </a:solidFill>
                <a:latin typeface="Times New Roman" panose="02020603050405020304" pitchFamily="18" charset="0"/>
                <a:cs typeface="Times New Roman" panose="02020603050405020304" pitchFamily="18" charset="0"/>
              </a:rPr>
              <a:t>track of files </a:t>
            </a:r>
            <a:r>
              <a:rPr lang="en-US" sz="2400" dirty="0">
                <a:solidFill>
                  <a:srgbClr val="FF0000"/>
                </a:solidFill>
                <a:latin typeface="Times New Roman" panose="02020603050405020304" pitchFamily="18" charset="0"/>
                <a:cs typeface="Times New Roman" panose="02020603050405020304" pitchFamily="18" charset="0"/>
              </a:rPr>
              <a:t>is called file management system of </a:t>
            </a:r>
            <a:r>
              <a:rPr lang="en-US" sz="2400" dirty="0" smtClean="0">
                <a:solidFill>
                  <a:srgbClr val="FF0000"/>
                </a:solidFill>
                <a:latin typeface="Times New Roman" panose="02020603050405020304" pitchFamily="18" charset="0"/>
                <a:cs typeface="Times New Roman" panose="02020603050405020304" pitchFamily="18" charset="0"/>
              </a:rPr>
              <a:t>O.S.</a:t>
            </a:r>
          </a:p>
          <a:p>
            <a:pPr algn="just">
              <a:lnSpc>
                <a:spcPct val="200000"/>
              </a:lnSpc>
              <a:spcBef>
                <a:spcPct val="50000"/>
              </a:spcBef>
            </a:pPr>
            <a:r>
              <a:rPr lang="en-US" sz="2400" dirty="0"/>
              <a:t> </a:t>
            </a:r>
            <a:r>
              <a:rPr lang="en-US" sz="2400" dirty="0">
                <a:solidFill>
                  <a:srgbClr val="FF0000"/>
                </a:solidFill>
                <a:latin typeface="Times New Roman" panose="02020603050405020304" pitchFamily="18" charset="0"/>
                <a:cs typeface="Times New Roman" panose="02020603050405020304" pitchFamily="18" charset="0"/>
              </a:rPr>
              <a:t>For example, a </a:t>
            </a:r>
            <a:r>
              <a:rPr lang="en-US" sz="2400" dirty="0">
                <a:solidFill>
                  <a:srgbClr val="FF0000"/>
                </a:solidFill>
                <a:latin typeface="Times New Roman" panose="02020603050405020304" pitchFamily="18" charset="0"/>
                <a:cs typeface="Times New Roman" panose="02020603050405020304" pitchFamily="18" charset="0"/>
                <a:hlinkClick r:id="rId2"/>
              </a:rPr>
              <a:t>hierarchical</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hlinkClick r:id="rId3"/>
              </a:rPr>
              <a:t>file system </a:t>
            </a:r>
            <a:r>
              <a:rPr lang="en-US" sz="2400" dirty="0">
                <a:solidFill>
                  <a:srgbClr val="FF0000"/>
                </a:solidFill>
                <a:latin typeface="Times New Roman" panose="02020603050405020304" pitchFamily="18" charset="0"/>
                <a:cs typeface="Times New Roman" panose="02020603050405020304" pitchFamily="18" charset="0"/>
              </a:rPr>
              <a:t>is one that uses </a:t>
            </a:r>
            <a:r>
              <a:rPr lang="en-US" sz="2400" dirty="0">
                <a:solidFill>
                  <a:srgbClr val="FF0000"/>
                </a:solidFill>
                <a:latin typeface="Times New Roman" panose="02020603050405020304" pitchFamily="18" charset="0"/>
                <a:cs typeface="Times New Roman" panose="02020603050405020304" pitchFamily="18" charset="0"/>
                <a:hlinkClick r:id="rId4"/>
              </a:rPr>
              <a:t>directories</a:t>
            </a:r>
            <a:r>
              <a:rPr lang="en-US" sz="2400" dirty="0">
                <a:solidFill>
                  <a:srgbClr val="FF0000"/>
                </a:solidFill>
                <a:latin typeface="Times New Roman" panose="02020603050405020304" pitchFamily="18" charset="0"/>
                <a:cs typeface="Times New Roman" panose="02020603050405020304" pitchFamily="18" charset="0"/>
              </a:rPr>
              <a:t> to organize files into a </a:t>
            </a:r>
            <a:r>
              <a:rPr lang="en-US" sz="2400" dirty="0">
                <a:solidFill>
                  <a:srgbClr val="FF0000"/>
                </a:solidFill>
                <a:latin typeface="Times New Roman" panose="02020603050405020304" pitchFamily="18" charset="0"/>
                <a:cs typeface="Times New Roman" panose="02020603050405020304" pitchFamily="18" charset="0"/>
                <a:hlinkClick r:id="rId5"/>
              </a:rPr>
              <a:t>tree structure</a:t>
            </a:r>
            <a:r>
              <a:rPr lang="en-US" sz="2400" dirty="0">
                <a:solidFill>
                  <a:srgbClr val="FF0000"/>
                </a:solidFill>
                <a:latin typeface="Times New Roman" panose="02020603050405020304" pitchFamily="18" charset="0"/>
                <a:cs typeface="Times New Roman" panose="02020603050405020304" pitchFamily="18" charset="0"/>
              </a:rPr>
              <a:t>.</a:t>
            </a:r>
          </a:p>
          <a:p>
            <a:pPr algn="just">
              <a:lnSpc>
                <a:spcPct val="200000"/>
              </a:lnSpc>
              <a:spcBef>
                <a:spcPct val="50000"/>
              </a:spcBef>
            </a:pPr>
            <a:r>
              <a:rPr lang="en-US" sz="2000" b="1" dirty="0">
                <a:solidFill>
                  <a:srgbClr val="FF0000"/>
                </a:solidFill>
                <a:latin typeface="Times New Roman" panose="02020603050405020304" pitchFamily="18" charset="0"/>
                <a:cs typeface="Times New Roman" panose="02020603050405020304" pitchFamily="18" charset="0"/>
              </a:rPr>
              <a:t>Any examples</a:t>
            </a:r>
            <a:r>
              <a:rPr lang="en-US" sz="2000" b="1" dirty="0" smtClean="0">
                <a:solidFill>
                  <a:srgbClr val="FF0000"/>
                </a:solidFill>
                <a:latin typeface="Times New Roman" panose="02020603050405020304" pitchFamily="18" charset="0"/>
                <a:cs typeface="Times New Roman" panose="02020603050405020304" pitchFamily="18" charset="0"/>
              </a:rPr>
              <a:t>?</a:t>
            </a:r>
          </a:p>
          <a:p>
            <a:pPr algn="just">
              <a:lnSpc>
                <a:spcPct val="200000"/>
              </a:lnSpc>
              <a:spcBef>
                <a:spcPct val="50000"/>
              </a:spcBef>
            </a:pPr>
            <a:r>
              <a:rPr lang="en-US" sz="2000" dirty="0"/>
              <a:t>Ext2, Ext3, Ext4, </a:t>
            </a:r>
            <a:r>
              <a:rPr lang="en-US" sz="2000" dirty="0" err="1"/>
              <a:t>BtrFS</a:t>
            </a:r>
            <a:r>
              <a:rPr lang="en-US" sz="2000" dirty="0" smtClean="0"/>
              <a:t>, NTFS, FAT 32</a:t>
            </a:r>
            <a:endParaRPr lang="en-US" sz="2000" b="1" dirty="0">
              <a:solidFill>
                <a:srgbClr val="FF0000"/>
              </a:solidFill>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File management in Operating System</a:t>
            </a:r>
          </a:p>
        </p:txBody>
      </p:sp>
    </p:spTree>
    <p:extLst>
      <p:ext uri="{BB962C8B-B14F-4D97-AF65-F5344CB8AC3E}">
        <p14:creationId xmlns:p14="http://schemas.microsoft.com/office/powerpoint/2010/main" val="739879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85800"/>
            <a:ext cx="9144000" cy="6172200"/>
          </a:xfrm>
        </p:spPr>
        <p:txBody>
          <a:bodyPr>
            <a:noAutofit/>
          </a:bodyPr>
          <a:lstStyle/>
          <a:p>
            <a:pPr algn="just">
              <a:spcBef>
                <a:spcPct val="50000"/>
              </a:spcBef>
            </a:pPr>
            <a:r>
              <a:rPr lang="en-US" sz="2400" b="1" dirty="0">
                <a:latin typeface="Times New Roman" panose="02020603050405020304" pitchFamily="18" charset="0"/>
                <a:cs typeface="Times New Roman" panose="02020603050405020304" pitchFamily="18" charset="0"/>
              </a:rPr>
              <a:t>For example opening a file in specific folder.</a:t>
            </a:r>
          </a:p>
          <a:p>
            <a:pPr algn="just">
              <a:spcBef>
                <a:spcPct val="50000"/>
              </a:spcBef>
            </a:pPr>
            <a:r>
              <a:rPr lang="en-US" sz="2400" b="1" dirty="0">
                <a:latin typeface="Times New Roman" panose="02020603050405020304" pitchFamily="18" charset="0"/>
                <a:cs typeface="Times New Roman" panose="02020603050405020304" pitchFamily="18" charset="0"/>
              </a:rPr>
              <a:t>OS keeps and show the whole hierarchy. </a:t>
            </a: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762000"/>
          </a:xfrm>
        </p:spPr>
        <p:txBody>
          <a:bodyPr>
            <a:noAutofit/>
          </a:bodyPr>
          <a:lstStyle/>
          <a:p>
            <a:pPr>
              <a:spcBef>
                <a:spcPct val="50000"/>
              </a:spcBef>
              <a:defRPr/>
            </a:pPr>
            <a:r>
              <a:rPr lang="en-US" sz="3200" b="1" dirty="0">
                <a:solidFill>
                  <a:schemeClr val="accent3">
                    <a:lumMod val="75000"/>
                  </a:schemeClr>
                </a:solidFill>
                <a:latin typeface="Times New Roman" pitchFamily="18" charset="0"/>
              </a:rPr>
              <a:t>File management in Operating System: An example</a:t>
            </a:r>
          </a:p>
        </p:txBody>
      </p:sp>
      <p:pic>
        <p:nvPicPr>
          <p:cNvPr id="3074" name="Picture 2" descr="Image result for file management in os">
            <a:extLst>
              <a:ext uri="{FF2B5EF4-FFF2-40B4-BE49-F238E27FC236}">
                <a16:creationId xmlns:a16="http://schemas.microsoft.com/office/drawing/2014/main" xmlns="" id="{D136B465-6D06-4C94-BFCB-82000E0EF3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7313" y="1828800"/>
            <a:ext cx="6429375" cy="47767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4568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2438400"/>
            <a:ext cx="9144000" cy="1143000"/>
          </a:xfrm>
        </p:spPr>
        <p:txBody>
          <a:bodyPr>
            <a:noAutofit/>
          </a:bodyPr>
          <a:lstStyle/>
          <a:p>
            <a:pPr>
              <a:spcBef>
                <a:spcPct val="50000"/>
              </a:spcBef>
              <a:defRPr/>
            </a:pPr>
            <a:r>
              <a:rPr lang="en-US" sz="4000" b="1" dirty="0">
                <a:solidFill>
                  <a:schemeClr val="accent3">
                    <a:lumMod val="75000"/>
                  </a:schemeClr>
                </a:solidFill>
                <a:latin typeface="Times New Roman" pitchFamily="18" charset="0"/>
              </a:rPr>
              <a:t>Security Management in Operating System</a:t>
            </a:r>
          </a:p>
        </p:txBody>
      </p:sp>
    </p:spTree>
    <p:extLst>
      <p:ext uri="{BB962C8B-B14F-4D97-AF65-F5344CB8AC3E}">
        <p14:creationId xmlns:p14="http://schemas.microsoft.com/office/powerpoint/2010/main" val="35185635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85800"/>
            <a:ext cx="9144000" cy="6172200"/>
          </a:xfrm>
        </p:spPr>
        <p:txBody>
          <a:bodyPr>
            <a:noAutofit/>
          </a:bodyPr>
          <a:lstStyle/>
          <a:p>
            <a:pPr algn="just">
              <a:lnSpc>
                <a:spcPct val="150000"/>
              </a:lnSpc>
              <a:spcBef>
                <a:spcPct val="50000"/>
              </a:spcBef>
            </a:pPr>
            <a:r>
              <a:rPr lang="en-US" sz="2800" b="1" u="sng" dirty="0">
                <a:latin typeface="Times New Roman" panose="02020603050405020304" pitchFamily="18" charset="0"/>
                <a:cs typeface="Times New Roman" panose="02020603050405020304" pitchFamily="18" charset="0"/>
              </a:rPr>
              <a:t>Definition:</a:t>
            </a:r>
            <a:r>
              <a:rPr lang="en-US" sz="2800" dirty="0">
                <a:latin typeface="Times New Roman" panose="02020603050405020304" pitchFamily="18" charset="0"/>
                <a:cs typeface="Times New Roman" panose="02020603050405020304" pitchFamily="18" charset="0"/>
              </a:rPr>
              <a:t> </a:t>
            </a:r>
            <a:r>
              <a:rPr lang="en-US" sz="2800" b="1" dirty="0">
                <a:solidFill>
                  <a:srgbClr val="FF0000"/>
                </a:solidFill>
                <a:latin typeface="Times New Roman" panose="02020603050405020304" pitchFamily="18" charset="0"/>
                <a:cs typeface="Times New Roman" panose="02020603050405020304" pitchFamily="18" charset="0"/>
              </a:rPr>
              <a:t>Operating system security (OS security) is the process of ensuring OS integrity, confidentiality and availability. </a:t>
            </a:r>
          </a:p>
          <a:p>
            <a:pPr algn="just">
              <a:lnSpc>
                <a:spcPct val="150000"/>
              </a:lnSpc>
              <a:spcBef>
                <a:spcPct val="50000"/>
              </a:spcBef>
            </a:pPr>
            <a:r>
              <a:rPr lang="en-US" sz="2800" dirty="0">
                <a:latin typeface="Times New Roman" panose="02020603050405020304" pitchFamily="18" charset="0"/>
                <a:cs typeface="Times New Roman" panose="02020603050405020304" pitchFamily="18" charset="0"/>
              </a:rPr>
              <a:t>OS security refers to </a:t>
            </a:r>
            <a:r>
              <a:rPr lang="en-US" sz="2800" b="1" dirty="0">
                <a:latin typeface="Times New Roman" panose="02020603050405020304" pitchFamily="18" charset="0"/>
                <a:cs typeface="Times New Roman" panose="02020603050405020304" pitchFamily="18" charset="0"/>
              </a:rPr>
              <a:t>specified</a:t>
            </a:r>
            <a:r>
              <a:rPr lang="en-US" sz="2800" dirty="0">
                <a:latin typeface="Times New Roman" panose="02020603050405020304" pitchFamily="18" charset="0"/>
                <a:cs typeface="Times New Roman" panose="02020603050405020304" pitchFamily="18" charset="0"/>
              </a:rPr>
              <a:t> steps or measures used to protect the OS from threats, viruses, worms, malware or remote hacker intrusions.</a:t>
            </a:r>
          </a:p>
          <a:p>
            <a:pPr algn="just">
              <a:lnSpc>
                <a:spcPct val="150000"/>
              </a:lnSpc>
              <a:spcBef>
                <a:spcPct val="50000"/>
              </a:spcBef>
            </a:pPr>
            <a:r>
              <a:rPr lang="en-US" sz="2800" b="1" dirty="0">
                <a:latin typeface="Times New Roman" panose="02020603050405020304" pitchFamily="18" charset="0"/>
                <a:cs typeface="Times New Roman" panose="02020603050405020304" pitchFamily="18" charset="0"/>
              </a:rPr>
              <a:t>Both system and application software are available for this purpose.</a:t>
            </a: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762000"/>
          </a:xfrm>
        </p:spPr>
        <p:txBody>
          <a:bodyPr>
            <a:noAutofit/>
          </a:bodyPr>
          <a:lstStyle/>
          <a:p>
            <a:pPr>
              <a:spcBef>
                <a:spcPct val="50000"/>
              </a:spcBef>
              <a:defRPr/>
            </a:pPr>
            <a:r>
              <a:rPr lang="en-US" sz="3200" b="1" dirty="0">
                <a:solidFill>
                  <a:schemeClr val="accent3">
                    <a:lumMod val="75000"/>
                  </a:schemeClr>
                </a:solidFill>
                <a:latin typeface="Times New Roman" pitchFamily="18" charset="0"/>
              </a:rPr>
              <a:t>Security Management in Operating System</a:t>
            </a:r>
          </a:p>
        </p:txBody>
      </p:sp>
    </p:spTree>
    <p:extLst>
      <p:ext uri="{BB962C8B-B14F-4D97-AF65-F5344CB8AC3E}">
        <p14:creationId xmlns:p14="http://schemas.microsoft.com/office/powerpoint/2010/main" val="146447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85800"/>
            <a:ext cx="9144000" cy="6172200"/>
          </a:xfrm>
        </p:spPr>
        <p:txBody>
          <a:bodyPr>
            <a:noAutofit/>
          </a:bodyPr>
          <a:lstStyle/>
          <a:p>
            <a:pPr>
              <a:lnSpc>
                <a:spcPct val="150000"/>
              </a:lnSpc>
              <a:spcBef>
                <a:spcPct val="50000"/>
              </a:spcBef>
            </a:pPr>
            <a:r>
              <a:rPr lang="en-US" sz="2800" dirty="0"/>
              <a:t>Measures undertaken to </a:t>
            </a:r>
            <a:r>
              <a:rPr lang="en-US" sz="2800" dirty="0" smtClean="0"/>
              <a:t>ensure confidentiality are designed to </a:t>
            </a:r>
            <a:r>
              <a:rPr lang="en-US" sz="2800" dirty="0"/>
              <a:t>prevent sensitive information from reaching the wrong people</a:t>
            </a:r>
            <a:r>
              <a:rPr lang="en-US" sz="2800" dirty="0" smtClean="0"/>
              <a:t>, while </a:t>
            </a:r>
            <a:r>
              <a:rPr lang="en-US" sz="2800" dirty="0"/>
              <a:t>making sure that the right people can in fact get </a:t>
            </a:r>
            <a:r>
              <a:rPr lang="en-US" sz="2800" dirty="0" smtClean="0"/>
              <a:t>it</a:t>
            </a:r>
            <a:r>
              <a:rPr lang="en-US" sz="2800" dirty="0"/>
              <a:t>.</a:t>
            </a:r>
            <a:endParaRPr lang="en-US" sz="2800" dirty="0" smtClean="0"/>
          </a:p>
          <a:p>
            <a:pPr>
              <a:lnSpc>
                <a:spcPct val="150000"/>
              </a:lnSpc>
              <a:spcBef>
                <a:spcPct val="50000"/>
              </a:spcBef>
            </a:pPr>
            <a:r>
              <a:rPr lang="en-US" sz="2800" dirty="0" smtClean="0"/>
              <a:t>Access </a:t>
            </a:r>
            <a:r>
              <a:rPr lang="en-US" sz="2800" dirty="0"/>
              <a:t>must be restricted to those authorized to view the data in question</a:t>
            </a:r>
            <a:endParaRPr lang="en-US" sz="2800" b="1" dirty="0">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762000"/>
          </a:xfrm>
        </p:spPr>
        <p:txBody>
          <a:bodyPr>
            <a:noAutofit/>
          </a:bodyPr>
          <a:lstStyle/>
          <a:p>
            <a:pPr>
              <a:spcBef>
                <a:spcPct val="50000"/>
              </a:spcBef>
              <a:defRPr/>
            </a:pPr>
            <a:r>
              <a:rPr lang="en-US" sz="3200" b="1" dirty="0">
                <a:solidFill>
                  <a:schemeClr val="accent3">
                    <a:lumMod val="75000"/>
                  </a:schemeClr>
                </a:solidFill>
                <a:latin typeface="Times New Roman" pitchFamily="18" charset="0"/>
              </a:rPr>
              <a:t>Security Management in Operating </a:t>
            </a:r>
            <a:r>
              <a:rPr lang="en-US" sz="3200" b="1" dirty="0" smtClean="0">
                <a:solidFill>
                  <a:schemeClr val="accent3">
                    <a:lumMod val="75000"/>
                  </a:schemeClr>
                </a:solidFill>
                <a:latin typeface="Times New Roman" pitchFamily="18" charset="0"/>
              </a:rPr>
              <a:t>System: Confidentiality</a:t>
            </a:r>
            <a:endParaRPr lang="en-US" sz="3200" b="1" dirty="0">
              <a:solidFill>
                <a:schemeClr val="accent3">
                  <a:lumMod val="75000"/>
                </a:schemeClr>
              </a:solidFill>
              <a:latin typeface="Times New Roman" pitchFamily="18" charset="0"/>
            </a:endParaRPr>
          </a:p>
        </p:txBody>
      </p:sp>
    </p:spTree>
    <p:extLst>
      <p:ext uri="{BB962C8B-B14F-4D97-AF65-F5344CB8AC3E}">
        <p14:creationId xmlns:p14="http://schemas.microsoft.com/office/powerpoint/2010/main" val="1222469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85800"/>
            <a:ext cx="9144000" cy="6172200"/>
          </a:xfrm>
        </p:spPr>
        <p:txBody>
          <a:bodyPr>
            <a:noAutofit/>
          </a:bodyPr>
          <a:lstStyle/>
          <a:p>
            <a:pPr>
              <a:lnSpc>
                <a:spcPct val="150000"/>
              </a:lnSpc>
              <a:spcBef>
                <a:spcPct val="50000"/>
              </a:spcBef>
            </a:pPr>
            <a:r>
              <a:rPr lang="en-US" sz="2800" dirty="0" smtClean="0"/>
              <a:t>Integrity involves </a:t>
            </a:r>
            <a:r>
              <a:rPr lang="en-US" sz="2800" dirty="0"/>
              <a:t>maintaining the consistency, accuracy, and trustworthiness of data over its entire life </a:t>
            </a:r>
            <a:r>
              <a:rPr lang="en-US" sz="2800" dirty="0" smtClean="0"/>
              <a:t>cycle. </a:t>
            </a:r>
            <a:r>
              <a:rPr lang="en-US" sz="2800" dirty="0"/>
              <a:t>Data must not be changed in transit, and steps must be taken to ensure that data cannot be altered by unauthorized </a:t>
            </a:r>
            <a:r>
              <a:rPr lang="en-US" sz="2800" dirty="0" smtClean="0"/>
              <a:t>people.</a:t>
            </a:r>
            <a:endParaRPr lang="en-US" sz="2800" b="1" dirty="0">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762000"/>
          </a:xfrm>
        </p:spPr>
        <p:txBody>
          <a:bodyPr>
            <a:noAutofit/>
          </a:bodyPr>
          <a:lstStyle/>
          <a:p>
            <a:pPr>
              <a:spcBef>
                <a:spcPct val="50000"/>
              </a:spcBef>
              <a:defRPr/>
            </a:pPr>
            <a:r>
              <a:rPr lang="en-US" sz="3200" b="1" dirty="0">
                <a:solidFill>
                  <a:schemeClr val="accent3">
                    <a:lumMod val="75000"/>
                  </a:schemeClr>
                </a:solidFill>
                <a:latin typeface="Times New Roman" pitchFamily="18" charset="0"/>
              </a:rPr>
              <a:t>Security Management in Operating </a:t>
            </a:r>
            <a:r>
              <a:rPr lang="en-US" sz="3200" b="1" dirty="0" smtClean="0">
                <a:solidFill>
                  <a:schemeClr val="accent3">
                    <a:lumMod val="75000"/>
                  </a:schemeClr>
                </a:solidFill>
                <a:latin typeface="Times New Roman" pitchFamily="18" charset="0"/>
              </a:rPr>
              <a:t>System: Integrity</a:t>
            </a:r>
            <a:endParaRPr lang="en-US" sz="3200" b="1" dirty="0">
              <a:solidFill>
                <a:schemeClr val="accent3">
                  <a:lumMod val="75000"/>
                </a:schemeClr>
              </a:solidFill>
              <a:latin typeface="Times New Roman" pitchFamily="18" charset="0"/>
            </a:endParaRPr>
          </a:p>
        </p:txBody>
      </p:sp>
    </p:spTree>
    <p:extLst>
      <p:ext uri="{BB962C8B-B14F-4D97-AF65-F5344CB8AC3E}">
        <p14:creationId xmlns:p14="http://schemas.microsoft.com/office/powerpoint/2010/main" val="2557264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85800"/>
            <a:ext cx="9144000" cy="6172200"/>
          </a:xfrm>
        </p:spPr>
        <p:txBody>
          <a:bodyPr>
            <a:noAutofit/>
          </a:bodyPr>
          <a:lstStyle/>
          <a:p>
            <a:pPr>
              <a:lnSpc>
                <a:spcPct val="150000"/>
              </a:lnSpc>
              <a:spcBef>
                <a:spcPct val="50000"/>
              </a:spcBef>
            </a:pPr>
            <a:r>
              <a:rPr lang="en-US" sz="2800" dirty="0"/>
              <a:t>Availability is best ensured by rigorously maintaining </a:t>
            </a:r>
            <a:r>
              <a:rPr lang="en-US" sz="2800" dirty="0" smtClean="0"/>
              <a:t>all hardware, </a:t>
            </a:r>
            <a:r>
              <a:rPr lang="en-US" sz="2800" dirty="0"/>
              <a:t>performing hardware repairs immediately when needed and maintaining a correctly functioning operating system environment that is free of software conflicts.</a:t>
            </a:r>
            <a:endParaRPr lang="en-US" sz="2800" b="1" dirty="0">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762000"/>
          </a:xfrm>
        </p:spPr>
        <p:txBody>
          <a:bodyPr>
            <a:noAutofit/>
          </a:bodyPr>
          <a:lstStyle/>
          <a:p>
            <a:pPr>
              <a:spcBef>
                <a:spcPct val="50000"/>
              </a:spcBef>
              <a:defRPr/>
            </a:pPr>
            <a:r>
              <a:rPr lang="en-US" sz="3200" b="1" dirty="0">
                <a:solidFill>
                  <a:schemeClr val="accent3">
                    <a:lumMod val="75000"/>
                  </a:schemeClr>
                </a:solidFill>
                <a:latin typeface="Times New Roman" pitchFamily="18" charset="0"/>
              </a:rPr>
              <a:t>Security Management in Operating </a:t>
            </a:r>
            <a:r>
              <a:rPr lang="en-US" sz="3200" b="1" dirty="0" smtClean="0">
                <a:solidFill>
                  <a:schemeClr val="accent3">
                    <a:lumMod val="75000"/>
                  </a:schemeClr>
                </a:solidFill>
                <a:latin typeface="Times New Roman" pitchFamily="18" charset="0"/>
              </a:rPr>
              <a:t>System: Availability</a:t>
            </a:r>
            <a:endParaRPr lang="en-US" sz="3200" b="1" dirty="0">
              <a:solidFill>
                <a:schemeClr val="accent3">
                  <a:lumMod val="75000"/>
                </a:schemeClr>
              </a:solidFill>
              <a:latin typeface="Times New Roman" pitchFamily="18" charset="0"/>
            </a:endParaRPr>
          </a:p>
        </p:txBody>
      </p:sp>
    </p:spTree>
    <p:extLst>
      <p:ext uri="{BB962C8B-B14F-4D97-AF65-F5344CB8AC3E}">
        <p14:creationId xmlns:p14="http://schemas.microsoft.com/office/powerpoint/2010/main" val="3862206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descr="C:\Users\Muhammad Adnan Malik\Desktop\empty-fuel-gage.gif"/>
          <p:cNvPicPr>
            <a:picLocks noChangeAspect="1" noChangeArrowheads="1"/>
          </p:cNvPicPr>
          <p:nvPr/>
        </p:nvPicPr>
        <p:blipFill>
          <a:blip r:embed="rId2"/>
          <a:srcRect/>
          <a:stretch>
            <a:fillRect/>
          </a:stretch>
        </p:blipFill>
        <p:spPr bwMode="auto">
          <a:xfrm>
            <a:off x="0" y="0"/>
            <a:ext cx="9144000" cy="6858000"/>
          </a:xfrm>
          <a:prstGeom prst="rect">
            <a:avLst/>
          </a:prstGeom>
          <a:noFill/>
        </p:spPr>
      </p:pic>
    </p:spTree>
    <p:extLst>
      <p:ext uri="{BB962C8B-B14F-4D97-AF65-F5344CB8AC3E}">
        <p14:creationId xmlns:p14="http://schemas.microsoft.com/office/powerpoint/2010/main" val="27904379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3432</TotalTime>
  <Words>1255</Words>
  <Application>Microsoft Office PowerPoint</Application>
  <PresentationFormat>On-screen Show (4:3)</PresentationFormat>
  <Paragraphs>130</Paragraphs>
  <Slides>44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Arial</vt:lpstr>
      <vt:lpstr>Calibri</vt:lpstr>
      <vt:lpstr>新細明體</vt:lpstr>
      <vt:lpstr>Times New Roman</vt:lpstr>
      <vt:lpstr>Wingdings</vt:lpstr>
      <vt:lpstr>Office Theme</vt:lpstr>
      <vt:lpstr>PowerPoint Presentation</vt:lpstr>
      <vt:lpstr>PowerPoint Presentation</vt:lpstr>
      <vt:lpstr>Types of interfaces between human and computer</vt:lpstr>
      <vt:lpstr>CLI Interface: DOS OS</vt:lpstr>
      <vt:lpstr>GUI(Graphical User Interface) Interface</vt:lpstr>
      <vt:lpstr>GUI(Graphical User Interface) Interface</vt:lpstr>
      <vt:lpstr>GUI(Graphical User Interface) Interface</vt:lpstr>
      <vt:lpstr>PowerPoint Presentation</vt:lpstr>
      <vt:lpstr>Operating System Concepts</vt:lpstr>
      <vt:lpstr>Process in Operating System</vt:lpstr>
      <vt:lpstr>Process in Operating System</vt:lpstr>
      <vt:lpstr>Process in Operating System</vt:lpstr>
      <vt:lpstr>Process in Operating System</vt:lpstr>
      <vt:lpstr>Process in Operating System</vt:lpstr>
      <vt:lpstr>Process in Operating System</vt:lpstr>
      <vt:lpstr>Process Termination  in Operating System</vt:lpstr>
      <vt:lpstr>Deadlocks in Operating System</vt:lpstr>
      <vt:lpstr>Deadlocks in Operating System</vt:lpstr>
      <vt:lpstr>Deadlocks in Operating System</vt:lpstr>
      <vt:lpstr>Deadlocks in Operating System</vt:lpstr>
      <vt:lpstr>Deadlocks in Operating System</vt:lpstr>
      <vt:lpstr>Deadlocks in Operating System: An example</vt:lpstr>
      <vt:lpstr>Deadlocks in Operating System</vt:lpstr>
      <vt:lpstr>Memory management in Operating System</vt:lpstr>
      <vt:lpstr>Memory management in Operating System</vt:lpstr>
      <vt:lpstr>Memory management in Operating System: Main Memory</vt:lpstr>
      <vt:lpstr>Memory management in Operating System: How it is managed</vt:lpstr>
      <vt:lpstr>Memory management in Operating System: Address space</vt:lpstr>
      <vt:lpstr>Memory management in Operating System: Address space</vt:lpstr>
      <vt:lpstr>Memory management in Operating System: Address space</vt:lpstr>
      <vt:lpstr>Memory management in Operating System: Virtual Memory</vt:lpstr>
      <vt:lpstr>I/O management in Operating System</vt:lpstr>
      <vt:lpstr>I/O management in Operating System</vt:lpstr>
      <vt:lpstr>I/O management in Operating System</vt:lpstr>
      <vt:lpstr>I/O management in Operating System</vt:lpstr>
      <vt:lpstr>File management in Operating System</vt:lpstr>
      <vt:lpstr>File management in Operating System</vt:lpstr>
      <vt:lpstr>File management in Operating System: An example</vt:lpstr>
      <vt:lpstr>Security Management in Operating System</vt:lpstr>
      <vt:lpstr>Security Management in Operating System</vt:lpstr>
      <vt:lpstr>Security Management in Operating System: Confidentiality</vt:lpstr>
      <vt:lpstr>Security Management in Operating System: Integrity</vt:lpstr>
      <vt:lpstr>Security Management in Operating System: Availability</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ADDNAN</dc:creator>
  <cp:lastModifiedBy>Shahmir</cp:lastModifiedBy>
  <cp:revision>141</cp:revision>
  <dcterms:created xsi:type="dcterms:W3CDTF">2006-08-16T00:00:00Z</dcterms:created>
  <dcterms:modified xsi:type="dcterms:W3CDTF">2019-04-01T00:40:12Z</dcterms:modified>
</cp:coreProperties>
</file>