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433" r:id="rId3"/>
    <p:sldId id="470" r:id="rId4"/>
    <p:sldId id="435" r:id="rId5"/>
    <p:sldId id="436" r:id="rId6"/>
    <p:sldId id="437" r:id="rId7"/>
    <p:sldId id="438" r:id="rId8"/>
    <p:sldId id="471" r:id="rId9"/>
    <p:sldId id="472" r:id="rId10"/>
    <p:sldId id="440" r:id="rId11"/>
    <p:sldId id="439" r:id="rId12"/>
    <p:sldId id="441" r:id="rId13"/>
    <p:sldId id="442" r:id="rId14"/>
    <p:sldId id="444" r:id="rId15"/>
    <p:sldId id="443" r:id="rId16"/>
    <p:sldId id="446" r:id="rId17"/>
    <p:sldId id="445" r:id="rId18"/>
    <p:sldId id="450" r:id="rId19"/>
    <p:sldId id="447" r:id="rId20"/>
    <p:sldId id="448" r:id="rId21"/>
    <p:sldId id="449" r:id="rId22"/>
    <p:sldId id="451" r:id="rId23"/>
    <p:sldId id="452" r:id="rId24"/>
    <p:sldId id="453" r:id="rId25"/>
    <p:sldId id="454" r:id="rId26"/>
    <p:sldId id="462" r:id="rId27"/>
    <p:sldId id="463" r:id="rId28"/>
    <p:sldId id="464" r:id="rId29"/>
    <p:sldId id="455" r:id="rId30"/>
    <p:sldId id="456" r:id="rId31"/>
    <p:sldId id="457" r:id="rId32"/>
    <p:sldId id="458" r:id="rId33"/>
    <p:sldId id="459" r:id="rId34"/>
    <p:sldId id="465" r:id="rId35"/>
    <p:sldId id="466" r:id="rId36"/>
    <p:sldId id="467" r:id="rId37"/>
    <p:sldId id="461" r:id="rId38"/>
    <p:sldId id="460" r:id="rId39"/>
    <p:sldId id="356"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18" autoAdjust="0"/>
    <p:restoredTop sz="94434" autoAdjust="0"/>
  </p:normalViewPr>
  <p:slideViewPr>
    <p:cSldViewPr>
      <p:cViewPr varScale="1">
        <p:scale>
          <a:sx n="61" d="100"/>
          <a:sy n="61" d="100"/>
        </p:scale>
        <p:origin x="1308" y="78"/>
      </p:cViewPr>
      <p:guideLst>
        <p:guide orient="horz" pos="2160"/>
        <p:guide pos="2880"/>
      </p:guideLst>
    </p:cSldViewPr>
  </p:slideViewPr>
  <p:outlineViewPr>
    <p:cViewPr>
      <p:scale>
        <a:sx n="33" d="100"/>
        <a:sy n="33" d="100"/>
      </p:scale>
      <p:origin x="0" y="-805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5BB1CA-D4D1-4052-BB55-2B7D3E8029F1}" type="datetimeFigureOut">
              <a:rPr lang="en-US" smtClean="0"/>
              <a:pPr/>
              <a:t>11/25/2025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5A5784-93A2-494A-AA95-91D34290EABC}" type="slidenum">
              <a:rPr lang="en-US" smtClean="0"/>
              <a:pPr/>
              <a:t>‹#›</a:t>
            </a:fld>
            <a:endParaRPr lang="en-US"/>
          </a:p>
        </p:txBody>
      </p:sp>
    </p:spTree>
    <p:extLst>
      <p:ext uri="{BB962C8B-B14F-4D97-AF65-F5344CB8AC3E}">
        <p14:creationId xmlns:p14="http://schemas.microsoft.com/office/powerpoint/2010/main" val="2019657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838200"/>
          </a:xfrm>
        </p:spPr>
        <p:txBody>
          <a:bodyPr/>
          <a:lstStyle/>
          <a:p>
            <a:r>
              <a:rPr lang="en-US"/>
              <a:t>Click to edit Master title style</a:t>
            </a:r>
          </a:p>
        </p:txBody>
      </p:sp>
      <p:sp>
        <p:nvSpPr>
          <p:cNvPr id="3" name="Text Placeholder 2"/>
          <p:cNvSpPr>
            <a:spLocks noGrp="1"/>
          </p:cNvSpPr>
          <p:nvPr>
            <p:ph type="body" sz="half" idx="1"/>
          </p:nvPr>
        </p:nvSpPr>
        <p:spPr>
          <a:xfrm>
            <a:off x="457200" y="2057400"/>
            <a:ext cx="4038600" cy="4068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057400"/>
            <a:ext cx="4038600" cy="4068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72D039A8-6B2D-46B2-9F06-B3F4BB0F330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2863" y="42863"/>
            <a:ext cx="9066212" cy="6773862"/>
          </a:xfrm>
          <a:prstGeom prst="rect">
            <a:avLst/>
          </a:prstGeom>
          <a:solidFill>
            <a:srgbClr val="CC9900"/>
          </a:solidFill>
          <a:ln w="76200">
            <a:solidFill>
              <a:srgbClr val="006600"/>
            </a:solidFill>
            <a:miter lim="800000"/>
            <a:headEnd/>
            <a:tailEnd/>
          </a:ln>
        </p:spPr>
        <p:txBody>
          <a:bodyPr wrap="none" anchor="ctr"/>
          <a:lstStyle/>
          <a:p>
            <a:pPr algn="ctr"/>
            <a:endParaRPr lang="en-US" sz="2400"/>
          </a:p>
        </p:txBody>
      </p:sp>
      <p:pic>
        <p:nvPicPr>
          <p:cNvPr id="3075" name="Picture 3" descr="C:\My Pictures\surveyart.bmp"/>
          <p:cNvPicPr>
            <a:picLocks noChangeAspect="1" noChangeArrowheads="1"/>
          </p:cNvPicPr>
          <p:nvPr/>
        </p:nvPicPr>
        <p:blipFill>
          <a:blip r:embed="rId2"/>
          <a:srcRect/>
          <a:stretch>
            <a:fillRect/>
          </a:stretch>
        </p:blipFill>
        <p:spPr bwMode="auto">
          <a:xfrm>
            <a:off x="381000" y="304800"/>
            <a:ext cx="8382000" cy="6286500"/>
          </a:xfrm>
          <a:prstGeom prst="rect">
            <a:avLst/>
          </a:prstGeom>
          <a:noFill/>
          <a:ln w="9525">
            <a:noFill/>
            <a:miter lim="800000"/>
            <a:headEnd/>
            <a:tailEnd/>
          </a:ln>
        </p:spPr>
      </p:pic>
      <p:sp>
        <p:nvSpPr>
          <p:cNvPr id="24580" name="Text Box 4"/>
          <p:cNvSpPr txBox="1">
            <a:spLocks noChangeArrowheads="1"/>
          </p:cNvSpPr>
          <p:nvPr/>
        </p:nvSpPr>
        <p:spPr bwMode="auto">
          <a:xfrm>
            <a:off x="42863" y="920679"/>
            <a:ext cx="9058274" cy="1200329"/>
          </a:xfrm>
          <a:prstGeom prst="rect">
            <a:avLst/>
          </a:prstGeom>
          <a:noFill/>
          <a:ln w="9525">
            <a:noFill/>
            <a:miter lim="800000"/>
            <a:headEnd/>
            <a:tailEnd/>
          </a:ln>
          <a:effectLst>
            <a:outerShdw dist="63500" dir="2212194" algn="ctr" rotWithShape="0">
              <a:srgbClr val="663300"/>
            </a:outerShdw>
          </a:effectLst>
        </p:spPr>
        <p:txBody>
          <a:bodyPr wrap="square">
            <a:spAutoFit/>
          </a:bodyPr>
          <a:lstStyle/>
          <a:p>
            <a:pPr algn="ctr">
              <a:defRPr/>
            </a:pPr>
            <a:r>
              <a:rPr lang="en-US" sz="7200" b="1" dirty="0">
                <a:solidFill>
                  <a:schemeClr val="bg1"/>
                </a:solidFill>
              </a:rPr>
              <a:t>Operating Systems</a:t>
            </a:r>
          </a:p>
        </p:txBody>
      </p:sp>
      <p:sp>
        <p:nvSpPr>
          <p:cNvPr id="24582" name="AutoShape 6"/>
          <p:cNvSpPr>
            <a:spLocks noChangeArrowheads="1"/>
          </p:cNvSpPr>
          <p:nvPr/>
        </p:nvSpPr>
        <p:spPr bwMode="auto">
          <a:xfrm>
            <a:off x="1409700" y="2098699"/>
            <a:ext cx="6324600" cy="3456682"/>
          </a:xfrm>
          <a:prstGeom prst="flowChartDecision">
            <a:avLst/>
          </a:prstGeom>
          <a:solidFill>
            <a:schemeClr val="bg1"/>
          </a:solidFill>
          <a:ln w="76200">
            <a:solidFill>
              <a:srgbClr val="CC9900"/>
            </a:solidFill>
            <a:miter lim="800000"/>
            <a:headEnd/>
            <a:tailEnd/>
          </a:ln>
          <a:effectLst>
            <a:prstShdw prst="shdw17" dist="17961" dir="13500000">
              <a:schemeClr val="tx1"/>
            </a:prstShdw>
          </a:effectLst>
        </p:spPr>
        <p:txBody>
          <a:bodyPr wrap="none" anchor="ctr"/>
          <a:lstStyle/>
          <a:p>
            <a:pPr algn="ctr">
              <a:defRPr/>
            </a:pPr>
            <a:r>
              <a:rPr lang="en-US" sz="2400" b="1" i="1" dirty="0">
                <a:solidFill>
                  <a:srgbClr val="7030A0"/>
                </a:solidFill>
              </a:rPr>
              <a:t>Lecture#5</a:t>
            </a:r>
          </a:p>
          <a:p>
            <a:pPr algn="ctr">
              <a:defRPr/>
            </a:pPr>
            <a:r>
              <a:rPr lang="en-US" sz="2400" b="1" dirty="0">
                <a:solidFill>
                  <a:srgbClr val="7030A0"/>
                </a:solidFill>
              </a:rPr>
              <a:t>Deadlocks,</a:t>
            </a:r>
          </a:p>
          <a:p>
            <a:pPr algn="ctr">
              <a:defRPr/>
            </a:pPr>
            <a:r>
              <a:rPr lang="en-US" sz="2400" b="1" dirty="0">
                <a:solidFill>
                  <a:srgbClr val="7030A0"/>
                </a:solidFill>
              </a:rPr>
              <a:t>Resources and its Types,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DEADLOCK</a:t>
            </a:r>
          </a:p>
        </p:txBody>
      </p:sp>
    </p:spTree>
    <p:extLst>
      <p:ext uri="{BB962C8B-B14F-4D97-AF65-F5344CB8AC3E}">
        <p14:creationId xmlns:p14="http://schemas.microsoft.com/office/powerpoint/2010/main" val="1087423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algn="just">
              <a:lnSpc>
                <a:spcPct val="150000"/>
              </a:lnSpc>
            </a:pPr>
            <a:r>
              <a:rPr lang="en-US" sz="2400" b="1" dirty="0">
                <a:latin typeface="Times New Roman" pitchFamily="18" charset="0"/>
                <a:cs typeface="Times New Roman" pitchFamily="18" charset="0"/>
              </a:rPr>
              <a:t>In this section we will now study some important concepts related to deadlocks.</a:t>
            </a:r>
          </a:p>
          <a:p>
            <a:pPr algn="just">
              <a:lnSpc>
                <a:spcPct val="150000"/>
              </a:lnSpc>
            </a:pPr>
            <a:r>
              <a:rPr lang="en-US" sz="2400" b="1" dirty="0">
                <a:latin typeface="Times New Roman" pitchFamily="18" charset="0"/>
                <a:cs typeface="Times New Roman" pitchFamily="18" charset="0"/>
              </a:rPr>
              <a:t>This is also a major problem that an O.S has to solve.</a:t>
            </a:r>
          </a:p>
          <a:p>
            <a:pPr algn="just">
              <a:lnSpc>
                <a:spcPct val="150000"/>
              </a:lnSpc>
            </a:pPr>
            <a:r>
              <a:rPr lang="en-US" sz="2400" b="1" dirty="0">
                <a:latin typeface="Times New Roman" pitchFamily="18" charset="0"/>
                <a:cs typeface="Times New Roman" pitchFamily="18" charset="0"/>
              </a:rPr>
              <a:t>Recall how a deadlock occurs.</a:t>
            </a:r>
          </a:p>
          <a:p>
            <a:pPr algn="just">
              <a:lnSpc>
                <a:spcPct val="150000"/>
              </a:lnSpc>
            </a:pPr>
            <a:r>
              <a:rPr lang="en-US" sz="2400" dirty="0">
                <a:solidFill>
                  <a:srgbClr val="FF0000"/>
                </a:solidFill>
                <a:latin typeface="Times New Roman" panose="02020603050405020304" pitchFamily="18" charset="0"/>
                <a:cs typeface="Times New Roman" panose="02020603050405020304" pitchFamily="18" charset="0"/>
              </a:rPr>
              <a:t>A </a:t>
            </a:r>
            <a:r>
              <a:rPr lang="en-US" sz="2400" b="1" dirty="0">
                <a:solidFill>
                  <a:srgbClr val="FF0000"/>
                </a:solidFill>
                <a:latin typeface="Times New Roman" panose="02020603050405020304" pitchFamily="18" charset="0"/>
                <a:cs typeface="Times New Roman" panose="02020603050405020304" pitchFamily="18" charset="0"/>
              </a:rPr>
              <a:t>deadlock</a:t>
            </a:r>
            <a:r>
              <a:rPr lang="en-US" sz="2400" dirty="0">
                <a:solidFill>
                  <a:srgbClr val="FF0000"/>
                </a:solidFill>
                <a:latin typeface="Times New Roman" panose="02020603050405020304" pitchFamily="18" charset="0"/>
                <a:cs typeface="Times New Roman" panose="02020603050405020304" pitchFamily="18" charset="0"/>
              </a:rPr>
              <a:t> is a situation in which two computer programs sharing the same resource are preventing each other from accessing the resource, resulting in both programs ceasing to function. </a:t>
            </a:r>
          </a:p>
          <a:p>
            <a:pPr marL="0" indent="0" algn="just" eaLnBrk="0" hangingPunct="0">
              <a:lnSpc>
                <a:spcPct val="200000"/>
              </a:lnSpc>
              <a:buNone/>
            </a:pPr>
            <a:r>
              <a:rPr lang="en-US" altLang="zh-TW" sz="2400" dirty="0">
                <a:solidFill>
                  <a:srgbClr val="FF0000"/>
                </a:solidFill>
                <a:latin typeface="Times New Roman" panose="02020603050405020304" pitchFamily="18" charset="0"/>
                <a:ea typeface="新細明體" charset="-120"/>
                <a:cs typeface="Times New Roman" panose="02020603050405020304" pitchFamily="18" charset="0"/>
              </a:rPr>
              <a:t>Everyone is waiting for an event, which will never occur. </a:t>
            </a:r>
          </a:p>
          <a:p>
            <a:pPr marL="0" indent="0" algn="just" eaLnBrk="0" hangingPunct="0">
              <a:lnSpc>
                <a:spcPct val="200000"/>
              </a:lnSpc>
              <a:buNone/>
            </a:pPr>
            <a:r>
              <a:rPr lang="en-US" altLang="zh-TW" sz="2400" dirty="0">
                <a:solidFill>
                  <a:srgbClr val="FF0000"/>
                </a:solidFill>
                <a:latin typeface="Times New Roman" panose="02020603050405020304" pitchFamily="18" charset="0"/>
                <a:ea typeface="新細明體" charset="-120"/>
                <a:cs typeface="Times New Roman" panose="02020603050405020304" pitchFamily="18" charset="0"/>
              </a:rPr>
              <a:t>For example, Taking soup at a party,</a:t>
            </a:r>
          </a:p>
          <a:p>
            <a:pPr algn="just">
              <a:lnSpc>
                <a:spcPct val="150000"/>
              </a:lnSpc>
            </a:pPr>
            <a:endParaRPr lang="en-US" sz="2400" b="1" dirty="0">
              <a:latin typeface="Times New Roman" pitchFamily="18" charset="0"/>
              <a:cs typeface="Times New Roman"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DEADLOCK</a:t>
            </a:r>
          </a:p>
        </p:txBody>
      </p:sp>
    </p:spTree>
    <p:extLst>
      <p:ext uri="{BB962C8B-B14F-4D97-AF65-F5344CB8AC3E}">
        <p14:creationId xmlns:p14="http://schemas.microsoft.com/office/powerpoint/2010/main" val="20622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RESOURCE</a:t>
            </a:r>
          </a:p>
        </p:txBody>
      </p:sp>
    </p:spTree>
    <p:extLst>
      <p:ext uri="{BB962C8B-B14F-4D97-AF65-F5344CB8AC3E}">
        <p14:creationId xmlns:p14="http://schemas.microsoft.com/office/powerpoint/2010/main" val="2133111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228600" indent="-228600" algn="just">
              <a:lnSpc>
                <a:spcPct val="150000"/>
              </a:lnSpc>
              <a:buFont typeface="Wingdings" pitchFamily="2" charset="2"/>
              <a:buChar char="§"/>
              <a:defRPr/>
            </a:pPr>
            <a:r>
              <a:rPr lang="en-US" sz="3600" dirty="0">
                <a:latin typeface="Times New Roman" panose="02020603050405020304" pitchFamily="18" charset="0"/>
                <a:cs typeface="Times New Roman" panose="02020603050405020304" pitchFamily="18" charset="0"/>
              </a:rPr>
              <a:t> A resource is anything that can be used by only a  single process at any instance of time.</a:t>
            </a:r>
          </a:p>
          <a:p>
            <a:pPr marL="228600" indent="-228600" algn="just">
              <a:lnSpc>
                <a:spcPct val="150000"/>
              </a:lnSpc>
              <a:buFont typeface="Wingdings" pitchFamily="2" charset="2"/>
              <a:buChar char="§"/>
              <a:defRPr/>
            </a:pPr>
            <a:r>
              <a:rPr lang="en-US" sz="3600" dirty="0">
                <a:latin typeface="Times New Roman" panose="02020603050405020304" pitchFamily="18" charset="0"/>
                <a:cs typeface="Times New Roman" panose="02020603050405020304" pitchFamily="18" charset="0"/>
              </a:rPr>
              <a:t>A resource can be the hardware device or a piece of information.</a:t>
            </a:r>
          </a:p>
          <a:p>
            <a:pPr marL="228600" indent="-228600" algn="just">
              <a:lnSpc>
                <a:spcPct val="150000"/>
              </a:lnSpc>
              <a:buFont typeface="Wingdings" pitchFamily="2" charset="2"/>
              <a:buChar char="§"/>
              <a:defRPr/>
            </a:pPr>
            <a:r>
              <a:rPr lang="en-US" sz="3600" dirty="0">
                <a:latin typeface="Times New Roman" panose="02020603050405020304" pitchFamily="18" charset="0"/>
                <a:cs typeface="Times New Roman" panose="02020603050405020304" pitchFamily="18" charset="0"/>
              </a:rPr>
              <a:t>For example a printer is a hardware resource.</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RESOURCE</a:t>
            </a:r>
          </a:p>
        </p:txBody>
      </p:sp>
    </p:spTree>
    <p:extLst>
      <p:ext uri="{BB962C8B-B14F-4D97-AF65-F5344CB8AC3E}">
        <p14:creationId xmlns:p14="http://schemas.microsoft.com/office/powerpoint/2010/main" val="283181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0" indent="0" algn="just">
              <a:lnSpc>
                <a:spcPct val="150000"/>
              </a:lnSpc>
              <a:buNone/>
              <a:defRPr/>
            </a:pPr>
            <a:endParaRPr lang="en-US" sz="3600"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TYPES OF RESOURCE </a:t>
            </a:r>
          </a:p>
        </p:txBody>
      </p:sp>
      <p:sp>
        <p:nvSpPr>
          <p:cNvPr id="4" name="Rounded Rectangle 5">
            <a:extLst>
              <a:ext uri="{FF2B5EF4-FFF2-40B4-BE49-F238E27FC236}">
                <a16:creationId xmlns:a16="http://schemas.microsoft.com/office/drawing/2014/main" id="{67C7B348-2AE7-416E-BD16-62DA5FF345F1}"/>
              </a:ext>
            </a:extLst>
          </p:cNvPr>
          <p:cNvSpPr/>
          <p:nvPr/>
        </p:nvSpPr>
        <p:spPr>
          <a:xfrm>
            <a:off x="2857500" y="2102644"/>
            <a:ext cx="3143250" cy="642938"/>
          </a:xfrm>
          <a:prstGeom prst="round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chemeClr val="bg1"/>
                </a:solidFill>
                <a:latin typeface="Times New Roman" panose="02020603050405020304" pitchFamily="18" charset="0"/>
                <a:cs typeface="Times New Roman" panose="02020603050405020304" pitchFamily="18" charset="0"/>
              </a:rPr>
              <a:t>Types of Resources</a:t>
            </a:r>
          </a:p>
        </p:txBody>
      </p:sp>
      <p:sp>
        <p:nvSpPr>
          <p:cNvPr id="5" name="Rounded Rectangle 6">
            <a:extLst>
              <a:ext uri="{FF2B5EF4-FFF2-40B4-BE49-F238E27FC236}">
                <a16:creationId xmlns:a16="http://schemas.microsoft.com/office/drawing/2014/main" id="{89200D3E-90B2-4D3F-83FD-2AF8CC55EA7E}"/>
              </a:ext>
            </a:extLst>
          </p:cNvPr>
          <p:cNvSpPr/>
          <p:nvPr/>
        </p:nvSpPr>
        <p:spPr>
          <a:xfrm>
            <a:off x="571500" y="4102894"/>
            <a:ext cx="3500438" cy="107156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tx1"/>
                </a:solidFill>
              </a:rPr>
              <a:t>Preemptable Resource</a:t>
            </a:r>
          </a:p>
        </p:txBody>
      </p:sp>
      <p:sp>
        <p:nvSpPr>
          <p:cNvPr id="6" name="Rounded Rectangle 7">
            <a:extLst>
              <a:ext uri="{FF2B5EF4-FFF2-40B4-BE49-F238E27FC236}">
                <a16:creationId xmlns:a16="http://schemas.microsoft.com/office/drawing/2014/main" id="{C6877221-BB98-40E0-B781-E9235B04AABA}"/>
              </a:ext>
            </a:extLst>
          </p:cNvPr>
          <p:cNvSpPr/>
          <p:nvPr/>
        </p:nvSpPr>
        <p:spPr>
          <a:xfrm>
            <a:off x="4764991" y="4102894"/>
            <a:ext cx="4143375" cy="1071563"/>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solidFill>
                  <a:schemeClr val="tx1"/>
                </a:solidFill>
              </a:rPr>
              <a:t>Non-</a:t>
            </a:r>
            <a:r>
              <a:rPr lang="en-US" sz="2800" dirty="0" err="1">
                <a:solidFill>
                  <a:schemeClr val="tx1"/>
                </a:solidFill>
              </a:rPr>
              <a:t>Preemptable</a:t>
            </a:r>
            <a:r>
              <a:rPr lang="en-US" sz="2800" dirty="0">
                <a:solidFill>
                  <a:schemeClr val="tx1"/>
                </a:solidFill>
              </a:rPr>
              <a:t> Resource</a:t>
            </a:r>
          </a:p>
        </p:txBody>
      </p:sp>
      <p:cxnSp>
        <p:nvCxnSpPr>
          <p:cNvPr id="7" name="Straight Arrow Connector 6">
            <a:extLst>
              <a:ext uri="{FF2B5EF4-FFF2-40B4-BE49-F238E27FC236}">
                <a16:creationId xmlns:a16="http://schemas.microsoft.com/office/drawing/2014/main" id="{6FDD3D92-9BBA-4839-BCE1-D609DAD4FD8D}"/>
              </a:ext>
            </a:extLst>
          </p:cNvPr>
          <p:cNvCxnSpPr>
            <a:stCxn id="4" idx="2"/>
            <a:endCxn id="5" idx="0"/>
          </p:cNvCxnSpPr>
          <p:nvPr/>
        </p:nvCxnSpPr>
        <p:spPr>
          <a:xfrm flipH="1">
            <a:off x="2321719" y="2745582"/>
            <a:ext cx="2107406" cy="135731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9" name="Straight Arrow Connector 8">
            <a:extLst>
              <a:ext uri="{FF2B5EF4-FFF2-40B4-BE49-F238E27FC236}">
                <a16:creationId xmlns:a16="http://schemas.microsoft.com/office/drawing/2014/main" id="{5558C3AB-953D-48EC-942C-3782E85007E4}"/>
              </a:ext>
            </a:extLst>
          </p:cNvPr>
          <p:cNvCxnSpPr/>
          <p:nvPr/>
        </p:nvCxnSpPr>
        <p:spPr>
          <a:xfrm rot="16200000" flipH="1">
            <a:off x="4852938" y="2334419"/>
            <a:ext cx="1357312" cy="217963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25421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3" presetClass="entr" presetSubtype="1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0" indent="0" algn="just">
              <a:buNone/>
              <a:defRPr/>
            </a:pPr>
            <a:r>
              <a:rPr lang="en-US" sz="2800" b="1" u="sng" dirty="0">
                <a:latin typeface="Times New Roman" panose="02020603050405020304" pitchFamily="18" charset="0"/>
                <a:cs typeface="Times New Roman" panose="02020603050405020304" pitchFamily="18" charset="0"/>
              </a:rPr>
              <a:t>Preemptable Resource :</a:t>
            </a:r>
          </a:p>
          <a:p>
            <a:pPr algn="just">
              <a:defRPr/>
            </a:pPr>
            <a:r>
              <a:rPr lang="en-US" sz="2800" b="1" dirty="0">
                <a:latin typeface="Times New Roman" panose="02020603050405020304" pitchFamily="18" charset="0"/>
                <a:cs typeface="Times New Roman" panose="02020603050405020304" pitchFamily="18" charset="0"/>
              </a:rPr>
              <a:t>It is one that can be taken away from the process owing it. </a:t>
            </a:r>
          </a:p>
          <a:p>
            <a:pPr algn="just">
              <a:defRPr/>
            </a:pPr>
            <a:r>
              <a:rPr lang="en-US" sz="2800" dirty="0">
                <a:latin typeface="Times New Roman" panose="02020603050405020304" pitchFamily="18" charset="0"/>
                <a:cs typeface="Times New Roman" panose="02020603050405020304" pitchFamily="18" charset="0"/>
              </a:rPr>
              <a:t>Main memory (RAM) is an example of preemptable resource</a:t>
            </a:r>
            <a:r>
              <a:rPr lang="en-US" sz="2800" i="1" dirty="0">
                <a:latin typeface="Times New Roman" panose="02020603050405020304" pitchFamily="18" charset="0"/>
                <a:cs typeface="Times New Roman" panose="02020603050405020304" pitchFamily="18" charset="0"/>
              </a:rPr>
              <a:t>.</a:t>
            </a:r>
          </a:p>
          <a:p>
            <a:pPr marL="0" indent="0" algn="just">
              <a:buNone/>
              <a:defRPr/>
            </a:pPr>
            <a:endParaRPr lang="en-US" sz="2800" i="1" dirty="0">
              <a:latin typeface="Times New Roman" panose="02020603050405020304" pitchFamily="18" charset="0"/>
              <a:cs typeface="Times New Roman" panose="02020603050405020304" pitchFamily="18" charset="0"/>
            </a:endParaRPr>
          </a:p>
          <a:p>
            <a:pPr marL="0" indent="0" algn="just">
              <a:buNone/>
              <a:defRPr/>
            </a:pPr>
            <a:r>
              <a:rPr lang="en-US" sz="2800" b="1" u="sng" dirty="0">
                <a:latin typeface="Times New Roman" panose="02020603050405020304" pitchFamily="18" charset="0"/>
                <a:cs typeface="Times New Roman" panose="02020603050405020304" pitchFamily="18" charset="0"/>
              </a:rPr>
              <a:t>Non-Preemptable Resource:</a:t>
            </a:r>
          </a:p>
          <a:p>
            <a:pPr algn="just">
              <a:defRPr/>
            </a:pPr>
            <a:r>
              <a:rPr lang="en-US" sz="2800" b="1" dirty="0">
                <a:latin typeface="Times New Roman" panose="02020603050405020304" pitchFamily="18" charset="0"/>
                <a:cs typeface="Times New Roman" panose="02020603050405020304" pitchFamily="18" charset="0"/>
              </a:rPr>
              <a:t>It is one that cannot be taken away from the process owing it.</a:t>
            </a:r>
          </a:p>
          <a:p>
            <a:pPr algn="just">
              <a:defRPr/>
            </a:pPr>
            <a:r>
              <a:rPr lang="en-US" sz="2800" dirty="0">
                <a:latin typeface="Times New Roman" panose="02020603050405020304" pitchFamily="18" charset="0"/>
                <a:cs typeface="Times New Roman" panose="02020603050405020304" pitchFamily="18" charset="0"/>
              </a:rPr>
              <a:t>CD-ROM, Tape Drives, Printers </a:t>
            </a:r>
            <a:r>
              <a:rPr lang="en-US" sz="2800" dirty="0" err="1">
                <a:latin typeface="Times New Roman" panose="02020603050405020304" pitchFamily="18" charset="0"/>
                <a:cs typeface="Times New Roman" panose="02020603050405020304" pitchFamily="18" charset="0"/>
              </a:rPr>
              <a:t>etc</a:t>
            </a:r>
            <a:r>
              <a:rPr lang="en-US" sz="2800" dirty="0">
                <a:latin typeface="Times New Roman" panose="02020603050405020304" pitchFamily="18" charset="0"/>
                <a:cs typeface="Times New Roman" panose="02020603050405020304" pitchFamily="18" charset="0"/>
              </a:rPr>
              <a:t> are the examples of non-preemptable resources.</a:t>
            </a:r>
          </a:p>
          <a:p>
            <a:pPr marL="228600" indent="-228600" algn="just">
              <a:lnSpc>
                <a:spcPct val="150000"/>
              </a:lnSpc>
              <a:buFont typeface="Wingdings" pitchFamily="2" charset="2"/>
              <a:buChar char="§"/>
              <a:defRPr/>
            </a:pPr>
            <a:endParaRPr lang="en-US" sz="2800"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RESOURCE</a:t>
            </a:r>
          </a:p>
        </p:txBody>
      </p:sp>
    </p:spTree>
    <p:extLst>
      <p:ext uri="{BB962C8B-B14F-4D97-AF65-F5344CB8AC3E}">
        <p14:creationId xmlns:p14="http://schemas.microsoft.com/office/powerpoint/2010/main" val="380247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r>
              <a:rPr lang="en-US" dirty="0"/>
              <a:t>Computer systems are full of resources that can be used only by one process at a time. Common examples include printers, tape drives for backing up company data, and slots in the system.</a:t>
            </a:r>
          </a:p>
          <a:p>
            <a:r>
              <a:rPr lang="en-US" dirty="0"/>
              <a:t>Consequently, all operating systems have the ability to (temporarily) grant a process exclusive access to certain resources.</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DEADLOCK</a:t>
            </a:r>
          </a:p>
        </p:txBody>
      </p:sp>
    </p:spTree>
    <p:extLst>
      <p:ext uri="{BB962C8B-B14F-4D97-AF65-F5344CB8AC3E}">
        <p14:creationId xmlns:p14="http://schemas.microsoft.com/office/powerpoint/2010/main" val="1539175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r>
              <a:rPr lang="en-US" dirty="0"/>
              <a:t>In a multiprogramming system, a number of processes compete for limited number of resources. </a:t>
            </a:r>
          </a:p>
          <a:p>
            <a:r>
              <a:rPr lang="en-US" dirty="0"/>
              <a:t>If a resource is not available at that instance then the process enters into waiting state. </a:t>
            </a:r>
          </a:p>
          <a:p>
            <a:r>
              <a:rPr lang="en-US" dirty="0"/>
              <a:t>If a process is unable to change its waiting state indefinitely because the resources required by it are held by other waiting process, then the system is said to be in deadlock state. </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DEADLOCK</a:t>
            </a:r>
          </a:p>
        </p:txBody>
      </p:sp>
    </p:spTree>
    <p:extLst>
      <p:ext uri="{BB962C8B-B14F-4D97-AF65-F5344CB8AC3E}">
        <p14:creationId xmlns:p14="http://schemas.microsoft.com/office/powerpoint/2010/main" val="1270641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SQUENCE OF STEPS TO USE A RESOURCE</a:t>
            </a:r>
          </a:p>
        </p:txBody>
      </p:sp>
    </p:spTree>
    <p:extLst>
      <p:ext uri="{BB962C8B-B14F-4D97-AF65-F5344CB8AC3E}">
        <p14:creationId xmlns:p14="http://schemas.microsoft.com/office/powerpoint/2010/main" val="3421725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0" indent="0">
              <a:lnSpc>
                <a:spcPct val="150000"/>
              </a:lnSpc>
              <a:buNone/>
              <a:defRPr/>
            </a:pPr>
            <a:r>
              <a:rPr lang="en-US" sz="3600" b="1" dirty="0">
                <a:latin typeface="Times New Roman" panose="02020603050405020304" pitchFamily="18" charset="0"/>
                <a:cs typeface="Times New Roman" panose="02020603050405020304" pitchFamily="18" charset="0"/>
              </a:rPr>
              <a:t>Step-1:</a:t>
            </a:r>
            <a:r>
              <a:rPr lang="en-US" sz="3600" b="1" dirty="0">
                <a:solidFill>
                  <a:schemeClr val="tx2">
                    <a:lumMod val="60000"/>
                    <a:lumOff val="40000"/>
                  </a:schemeClr>
                </a:solidFill>
                <a:latin typeface="Times New Roman" panose="02020603050405020304" pitchFamily="18" charset="0"/>
                <a:cs typeface="Times New Roman" panose="02020603050405020304" pitchFamily="18" charset="0"/>
              </a:rPr>
              <a:t>Request the resource</a:t>
            </a:r>
          </a:p>
          <a:p>
            <a:pPr marL="0" indent="0">
              <a:lnSpc>
                <a:spcPct val="150000"/>
              </a:lnSpc>
              <a:buNone/>
              <a:defRPr/>
            </a:pPr>
            <a:r>
              <a:rPr lang="en-US" sz="3600" b="1" dirty="0">
                <a:latin typeface="Times New Roman" panose="02020603050405020304" pitchFamily="18" charset="0"/>
                <a:cs typeface="Times New Roman" panose="02020603050405020304" pitchFamily="18" charset="0"/>
              </a:rPr>
              <a:t>Step-2:</a:t>
            </a:r>
            <a:r>
              <a:rPr lang="en-US" sz="3600" b="1" dirty="0">
                <a:solidFill>
                  <a:schemeClr val="tx2">
                    <a:lumMod val="60000"/>
                    <a:lumOff val="40000"/>
                  </a:schemeClr>
                </a:solidFill>
                <a:latin typeface="Times New Roman" panose="02020603050405020304" pitchFamily="18" charset="0"/>
                <a:cs typeface="Times New Roman" panose="02020603050405020304" pitchFamily="18" charset="0"/>
              </a:rPr>
              <a:t>Use the resource</a:t>
            </a:r>
          </a:p>
          <a:p>
            <a:pPr marL="0" indent="0">
              <a:lnSpc>
                <a:spcPct val="150000"/>
              </a:lnSpc>
              <a:buNone/>
              <a:defRPr/>
            </a:pPr>
            <a:r>
              <a:rPr lang="en-US" sz="3600" b="1" dirty="0">
                <a:latin typeface="Times New Roman" panose="02020603050405020304" pitchFamily="18" charset="0"/>
                <a:cs typeface="Times New Roman" panose="02020603050405020304" pitchFamily="18" charset="0"/>
              </a:rPr>
              <a:t>Step-3:</a:t>
            </a:r>
            <a:r>
              <a:rPr lang="en-US" sz="3600" b="1" dirty="0">
                <a:solidFill>
                  <a:schemeClr val="tx2">
                    <a:lumMod val="60000"/>
                    <a:lumOff val="40000"/>
                  </a:schemeClr>
                </a:solidFill>
                <a:latin typeface="Times New Roman" panose="02020603050405020304" pitchFamily="18" charset="0"/>
                <a:cs typeface="Times New Roman" panose="02020603050405020304" pitchFamily="18" charset="0"/>
              </a:rPr>
              <a:t>Release the resource</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200" b="1" dirty="0">
                <a:solidFill>
                  <a:schemeClr val="accent3">
                    <a:lumMod val="75000"/>
                  </a:schemeClr>
                </a:solidFill>
                <a:latin typeface="Times New Roman" panose="02020603050405020304" pitchFamily="18" charset="0"/>
                <a:cs typeface="Times New Roman" panose="02020603050405020304" pitchFamily="18" charset="0"/>
              </a:rPr>
              <a:t>SEQUENCE OF STEPS TO USE A RESOURCE</a:t>
            </a:r>
          </a:p>
        </p:txBody>
      </p:sp>
    </p:spTree>
    <p:extLst>
      <p:ext uri="{BB962C8B-B14F-4D97-AF65-F5344CB8AC3E}">
        <p14:creationId xmlns:p14="http://schemas.microsoft.com/office/powerpoint/2010/main" val="1768238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0" indent="0" algn="just">
              <a:lnSpc>
                <a:spcPct val="150000"/>
              </a:lnSpc>
              <a:buNone/>
              <a:defRPr/>
            </a:pPr>
            <a:r>
              <a:rPr lang="en-US" sz="3600" b="1" dirty="0">
                <a:solidFill>
                  <a:srgbClr val="FF0000"/>
                </a:solidFill>
                <a:latin typeface="Times New Roman" panose="02020603050405020304" pitchFamily="18" charset="0"/>
                <a:cs typeface="Times New Roman" panose="02020603050405020304" pitchFamily="18" charset="0"/>
              </a:rPr>
              <a:t>Example: </a:t>
            </a:r>
            <a:r>
              <a:rPr lang="en-US" sz="3600" b="1" dirty="0">
                <a:latin typeface="Times New Roman" panose="02020603050405020304" pitchFamily="18" charset="0"/>
                <a:cs typeface="Times New Roman" panose="02020603050405020304" pitchFamily="18" charset="0"/>
              </a:rPr>
              <a:t>A job is sent to the printer. Once the job is completed for current document, it will be set free and will become available for the new one.</a:t>
            </a:r>
            <a:endParaRPr lang="en-US" sz="3600" b="1" dirty="0">
              <a:solidFill>
                <a:schemeClr val="tx2">
                  <a:lumMod val="60000"/>
                  <a:lumOff val="40000"/>
                </a:schemeClr>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200" b="1" dirty="0">
                <a:solidFill>
                  <a:schemeClr val="accent3">
                    <a:lumMod val="75000"/>
                  </a:schemeClr>
                </a:solidFill>
                <a:latin typeface="Times New Roman" panose="02020603050405020304" pitchFamily="18" charset="0"/>
                <a:cs typeface="Times New Roman" panose="02020603050405020304" pitchFamily="18" charset="0"/>
              </a:rPr>
              <a:t>SQUENCE OF STEPS TO USE A RESOURCE</a:t>
            </a:r>
          </a:p>
        </p:txBody>
      </p:sp>
    </p:spTree>
    <p:extLst>
      <p:ext uri="{BB962C8B-B14F-4D97-AF65-F5344CB8AC3E}">
        <p14:creationId xmlns:p14="http://schemas.microsoft.com/office/powerpoint/2010/main" val="4248659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Conditions /States In Deadlock</a:t>
            </a:r>
          </a:p>
        </p:txBody>
      </p:sp>
    </p:spTree>
    <p:extLst>
      <p:ext uri="{BB962C8B-B14F-4D97-AF65-F5344CB8AC3E}">
        <p14:creationId xmlns:p14="http://schemas.microsoft.com/office/powerpoint/2010/main" val="3546197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0" indent="0">
              <a:lnSpc>
                <a:spcPct val="150000"/>
              </a:lnSpc>
              <a:buNone/>
              <a:defRPr/>
            </a:pPr>
            <a:r>
              <a:rPr lang="en-US" dirty="0">
                <a:latin typeface="Times New Roman" panose="02020603050405020304" pitchFamily="18" charset="0"/>
                <a:cs typeface="Times New Roman" panose="02020603050405020304" pitchFamily="18" charset="0"/>
              </a:rPr>
              <a:t>There are four conditions or states of deadlock:</a:t>
            </a:r>
          </a:p>
          <a:p>
            <a:pPr marL="514350" indent="-514350" algn="just">
              <a:lnSpc>
                <a:spcPct val="150000"/>
              </a:lnSpc>
              <a:buFont typeface="+mj-lt"/>
              <a:buAutoNum type="arabicPeriod"/>
              <a:defRPr/>
            </a:pPr>
            <a:r>
              <a:rPr lang="en-US" b="1" dirty="0">
                <a:solidFill>
                  <a:schemeClr val="tx2">
                    <a:lumMod val="60000"/>
                    <a:lumOff val="40000"/>
                  </a:schemeClr>
                </a:solidFill>
                <a:latin typeface="Times New Roman" panose="02020603050405020304" pitchFamily="18" charset="0"/>
                <a:cs typeface="Times New Roman" panose="02020603050405020304" pitchFamily="18" charset="0"/>
              </a:rPr>
              <a:t>Exclusion Condition</a:t>
            </a:r>
          </a:p>
          <a:p>
            <a:pPr marL="514350" indent="-514350" algn="just">
              <a:lnSpc>
                <a:spcPct val="150000"/>
              </a:lnSpc>
              <a:buFont typeface="+mj-lt"/>
              <a:buAutoNum type="arabicPeriod"/>
              <a:defRPr/>
            </a:pPr>
            <a:r>
              <a:rPr lang="en-US" b="1" dirty="0">
                <a:solidFill>
                  <a:schemeClr val="tx2">
                    <a:lumMod val="60000"/>
                    <a:lumOff val="40000"/>
                  </a:schemeClr>
                </a:solidFill>
                <a:latin typeface="Times New Roman" panose="02020603050405020304" pitchFamily="18" charset="0"/>
                <a:cs typeface="Times New Roman" panose="02020603050405020304" pitchFamily="18" charset="0"/>
              </a:rPr>
              <a:t>Hold and Wait Condition</a:t>
            </a:r>
          </a:p>
          <a:p>
            <a:pPr marL="514350" indent="-514350" algn="just">
              <a:lnSpc>
                <a:spcPct val="150000"/>
              </a:lnSpc>
              <a:buFont typeface="+mj-lt"/>
              <a:buAutoNum type="arabicPeriod"/>
              <a:defRPr/>
            </a:pPr>
            <a:r>
              <a:rPr lang="en-US" b="1" dirty="0">
                <a:solidFill>
                  <a:schemeClr val="tx2">
                    <a:lumMod val="60000"/>
                    <a:lumOff val="40000"/>
                  </a:schemeClr>
                </a:solidFill>
                <a:latin typeface="Times New Roman" panose="02020603050405020304" pitchFamily="18" charset="0"/>
                <a:cs typeface="Times New Roman" panose="02020603050405020304" pitchFamily="18" charset="0"/>
              </a:rPr>
              <a:t>Non-Preemptive Condition</a:t>
            </a:r>
          </a:p>
          <a:p>
            <a:pPr marL="514350" indent="-514350" algn="just">
              <a:lnSpc>
                <a:spcPct val="150000"/>
              </a:lnSpc>
              <a:buFont typeface="+mj-lt"/>
              <a:buAutoNum type="arabicPeriod"/>
              <a:defRPr/>
            </a:pPr>
            <a:r>
              <a:rPr lang="en-US" b="1" dirty="0">
                <a:solidFill>
                  <a:schemeClr val="tx2">
                    <a:lumMod val="60000"/>
                    <a:lumOff val="40000"/>
                  </a:schemeClr>
                </a:solidFill>
                <a:latin typeface="Times New Roman" panose="02020603050405020304" pitchFamily="18" charset="0"/>
                <a:cs typeface="Times New Roman" panose="02020603050405020304" pitchFamily="18" charset="0"/>
              </a:rPr>
              <a:t>Circular Wait Condition</a:t>
            </a:r>
          </a:p>
          <a:p>
            <a:pPr marL="0" indent="0">
              <a:lnSpc>
                <a:spcPct val="150000"/>
              </a:lnSpc>
              <a:buNone/>
              <a:defRPr/>
            </a:pPr>
            <a:endParaRPr lang="en-US" dirty="0">
              <a:latin typeface="Times New Roman" panose="02020603050405020304" pitchFamily="18" charset="0"/>
              <a:cs typeface="Times New Roman" panose="02020603050405020304" pitchFamily="18" charset="0"/>
            </a:endParaRPr>
          </a:p>
          <a:p>
            <a:pPr marL="0" indent="0">
              <a:lnSpc>
                <a:spcPct val="150000"/>
              </a:lnSpc>
              <a:buNone/>
              <a:defRPr/>
            </a:pPr>
            <a:endParaRPr lang="en-US"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Conditions For Creating Deadlock</a:t>
            </a:r>
          </a:p>
        </p:txBody>
      </p:sp>
    </p:spTree>
    <p:extLst>
      <p:ext uri="{BB962C8B-B14F-4D97-AF65-F5344CB8AC3E}">
        <p14:creationId xmlns:p14="http://schemas.microsoft.com/office/powerpoint/2010/main" val="178012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33400"/>
            <a:ext cx="9144000" cy="6324600"/>
          </a:xfrm>
        </p:spPr>
        <p:txBody>
          <a:bodyPr>
            <a:noAutofit/>
          </a:bodyPr>
          <a:lstStyle/>
          <a:p>
            <a:pPr marL="0" indent="0">
              <a:lnSpc>
                <a:spcPct val="200000"/>
              </a:lnSpc>
              <a:buNone/>
              <a:defRPr/>
            </a:pPr>
            <a:r>
              <a:rPr lang="en-US" sz="2800" b="1" u="sng" dirty="0">
                <a:solidFill>
                  <a:srgbClr val="00B0F0"/>
                </a:solidFill>
                <a:latin typeface="Times New Roman" panose="02020603050405020304" pitchFamily="18" charset="0"/>
                <a:cs typeface="Times New Roman" panose="02020603050405020304" pitchFamily="18" charset="0"/>
              </a:rPr>
              <a:t>Exclusion Condition</a:t>
            </a:r>
          </a:p>
          <a:p>
            <a:pPr marL="0" indent="0" algn="just">
              <a:lnSpc>
                <a:spcPct val="200000"/>
              </a:lnSpc>
              <a:buNone/>
              <a:defRPr/>
            </a:pPr>
            <a:r>
              <a:rPr lang="en-US" sz="2800" b="1" u="sng" dirty="0">
                <a:latin typeface="Times New Roman" panose="02020603050405020304" pitchFamily="18" charset="0"/>
                <a:cs typeface="Times New Roman" panose="02020603050405020304" pitchFamily="18" charset="0"/>
              </a:rPr>
              <a:t>Definition:</a:t>
            </a:r>
            <a:r>
              <a:rPr lang="en-US" sz="2800" dirty="0">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Only one process at a time can use a resource.</a:t>
            </a:r>
          </a:p>
          <a:p>
            <a:pPr algn="just">
              <a:lnSpc>
                <a:spcPct val="200000"/>
              </a:lnSpc>
              <a:defRPr/>
            </a:pPr>
            <a:r>
              <a:rPr lang="en-US" sz="2800" dirty="0">
                <a:latin typeface="Times New Roman" panose="02020603050405020304" pitchFamily="18" charset="0"/>
                <a:cs typeface="Times New Roman" panose="02020603050405020304" pitchFamily="18" charset="0"/>
              </a:rPr>
              <a:t>If other process requests that resource, the requesting process must be blocked / delayed until the resource has been released.</a:t>
            </a:r>
          </a:p>
          <a:p>
            <a:pPr algn="just">
              <a:lnSpc>
                <a:spcPct val="200000"/>
              </a:lnSpc>
              <a:defRPr/>
            </a:pPr>
            <a:r>
              <a:rPr lang="en-US" sz="2800" dirty="0">
                <a:latin typeface="Times New Roman" panose="02020603050405020304" pitchFamily="18" charset="0"/>
                <a:cs typeface="Times New Roman" panose="02020603050405020304" pitchFamily="18" charset="0"/>
              </a:rPr>
              <a:t>Mutual exclusion: at least one process must be held in a non-sharable mode. </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Conditions For Creating Deadlock</a:t>
            </a:r>
          </a:p>
        </p:txBody>
      </p:sp>
    </p:spTree>
    <p:extLst>
      <p:ext uri="{BB962C8B-B14F-4D97-AF65-F5344CB8AC3E}">
        <p14:creationId xmlns:p14="http://schemas.microsoft.com/office/powerpoint/2010/main" val="1916929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33400"/>
            <a:ext cx="9144000" cy="6324600"/>
          </a:xfrm>
        </p:spPr>
        <p:txBody>
          <a:bodyPr>
            <a:noAutofit/>
          </a:bodyPr>
          <a:lstStyle/>
          <a:p>
            <a:pPr marL="0" indent="0" algn="just">
              <a:lnSpc>
                <a:spcPct val="200000"/>
              </a:lnSpc>
              <a:buNone/>
              <a:defRPr/>
            </a:pPr>
            <a:r>
              <a:rPr lang="en-US" b="1" u="sng" dirty="0">
                <a:solidFill>
                  <a:srgbClr val="00B0F0"/>
                </a:solidFill>
                <a:latin typeface="Times New Roman" panose="02020603050405020304" pitchFamily="18" charset="0"/>
                <a:cs typeface="Times New Roman" panose="02020603050405020304" pitchFamily="18" charset="0"/>
              </a:rPr>
              <a:t>Hold and Wait Condition</a:t>
            </a:r>
          </a:p>
          <a:p>
            <a:pPr marL="0" indent="0" algn="just">
              <a:lnSpc>
                <a:spcPct val="200000"/>
              </a:lnSpc>
              <a:buNone/>
              <a:defRPr/>
            </a:pPr>
            <a:r>
              <a:rPr lang="en-US" b="1" u="sng"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Processes currently holding resources can request new resources that are being held by other processes, but it will have to wait for it. </a:t>
            </a:r>
          </a:p>
          <a:p>
            <a:pPr algn="just">
              <a:lnSpc>
                <a:spcPct val="200000"/>
              </a:lnSpc>
              <a:defRPr/>
            </a:pPr>
            <a:r>
              <a:rPr lang="en-US" b="1" dirty="0">
                <a:latin typeface="Times New Roman" panose="02020603050405020304" pitchFamily="18" charset="0"/>
                <a:cs typeface="Times New Roman" panose="02020603050405020304" pitchFamily="18" charset="0"/>
              </a:rPr>
              <a:t>It is therefore called “hold” and wait state</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Conditions For Creating Deadlock</a:t>
            </a:r>
          </a:p>
        </p:txBody>
      </p:sp>
    </p:spTree>
    <p:extLst>
      <p:ext uri="{BB962C8B-B14F-4D97-AF65-F5344CB8AC3E}">
        <p14:creationId xmlns:p14="http://schemas.microsoft.com/office/powerpoint/2010/main" val="205429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5800"/>
            <a:ext cx="9144000" cy="6059760"/>
          </a:xfrm>
        </p:spPr>
        <p:txBody>
          <a:bodyPr>
            <a:noAutofit/>
          </a:bodyPr>
          <a:lstStyle/>
          <a:p>
            <a:pPr marL="0" indent="0" algn="just">
              <a:lnSpc>
                <a:spcPct val="150000"/>
              </a:lnSpc>
              <a:buNone/>
              <a:defRPr/>
            </a:pPr>
            <a:r>
              <a:rPr lang="en-US" sz="2800" b="1" u="sng" dirty="0">
                <a:solidFill>
                  <a:schemeClr val="tx2">
                    <a:lumMod val="60000"/>
                    <a:lumOff val="40000"/>
                  </a:schemeClr>
                </a:solidFill>
                <a:latin typeface="Times New Roman" panose="02020603050405020304" pitchFamily="18" charset="0"/>
                <a:cs typeface="Times New Roman" panose="02020603050405020304" pitchFamily="18" charset="0"/>
              </a:rPr>
              <a:t>Non-Preemptive Condition</a:t>
            </a:r>
          </a:p>
          <a:p>
            <a:pPr algn="just">
              <a:lnSpc>
                <a:spcPct val="150000"/>
              </a:lnSpc>
              <a:defRPr/>
            </a:pPr>
            <a:r>
              <a:rPr lang="en-US" sz="2800" b="1" dirty="0">
                <a:solidFill>
                  <a:srgbClr val="FF0000"/>
                </a:solidFill>
                <a:latin typeface="Times New Roman" panose="02020603050405020304" pitchFamily="18" charset="0"/>
                <a:cs typeface="Times New Roman" panose="02020603050405020304" pitchFamily="18" charset="0"/>
              </a:rPr>
              <a:t>Resources already allocated to a process cannot be taken away.</a:t>
            </a:r>
          </a:p>
          <a:p>
            <a:pPr algn="just">
              <a:lnSpc>
                <a:spcPct val="150000"/>
              </a:lnSpc>
              <a:defRPr/>
            </a:pPr>
            <a:r>
              <a:rPr lang="en-US" sz="2800" b="1" dirty="0">
                <a:solidFill>
                  <a:srgbClr val="FF0000"/>
                </a:solidFill>
                <a:latin typeface="Times New Roman" panose="02020603050405020304" pitchFamily="18" charset="0"/>
                <a:cs typeface="Times New Roman" panose="02020603050405020304" pitchFamily="18" charset="0"/>
              </a:rPr>
              <a:t>Explanation: Resources cannot be removed from the processes. These resources must be used to completion or released voluntarily by the process holding it.</a:t>
            </a:r>
          </a:p>
          <a:p>
            <a:pPr marL="0" indent="0" algn="just">
              <a:lnSpc>
                <a:spcPct val="150000"/>
              </a:lnSpc>
              <a:buNone/>
              <a:defRPr/>
            </a:pPr>
            <a:r>
              <a:rPr lang="en-US" sz="2800" b="1" u="sng" dirty="0">
                <a:solidFill>
                  <a:schemeClr val="tx2">
                    <a:lumMod val="60000"/>
                    <a:lumOff val="40000"/>
                  </a:schemeClr>
                </a:solidFill>
                <a:latin typeface="Times New Roman" panose="02020603050405020304" pitchFamily="18" charset="0"/>
                <a:cs typeface="Times New Roman" panose="02020603050405020304" pitchFamily="18" charset="0"/>
              </a:rPr>
              <a:t>Circular Wait Condition</a:t>
            </a:r>
          </a:p>
          <a:p>
            <a:pPr algn="just">
              <a:lnSpc>
                <a:spcPct val="150000"/>
              </a:lnSpc>
              <a:defRPr/>
            </a:pPr>
            <a:r>
              <a:rPr lang="en-US" sz="2800" b="1" dirty="0">
                <a:solidFill>
                  <a:srgbClr val="FF0000"/>
                </a:solidFill>
                <a:latin typeface="Times New Roman" panose="02020603050405020304" pitchFamily="18" charset="0"/>
                <a:cs typeface="Times New Roman" panose="02020603050405020304" pitchFamily="18" charset="0"/>
              </a:rPr>
              <a:t>There must be a circular chain of two or more processes, each is waiting for the resource held by the next process.</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Conditions For Creating Deadlock</a:t>
            </a:r>
          </a:p>
        </p:txBody>
      </p:sp>
    </p:spTree>
    <p:extLst>
      <p:ext uri="{BB962C8B-B14F-4D97-AF65-F5344CB8AC3E}">
        <p14:creationId xmlns:p14="http://schemas.microsoft.com/office/powerpoint/2010/main" val="36528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algn="just">
              <a:lnSpc>
                <a:spcPct val="150000"/>
              </a:lnSpc>
              <a:defRPr/>
            </a:pPr>
            <a:r>
              <a:rPr lang="en-US" sz="4000" b="1" dirty="0">
                <a:solidFill>
                  <a:srgbClr val="FF0000"/>
                </a:solidFill>
                <a:latin typeface="Times New Roman" panose="02020603050405020304" pitchFamily="18" charset="0"/>
                <a:cs typeface="Times New Roman" panose="02020603050405020304" pitchFamily="18" charset="0"/>
              </a:rPr>
              <a:t>If all the four above conditions occurs at a same time, a deadlock can occur</a:t>
            </a:r>
          </a:p>
          <a:p>
            <a:pPr algn="just">
              <a:lnSpc>
                <a:spcPct val="150000"/>
              </a:lnSpc>
              <a:defRPr/>
            </a:pPr>
            <a:r>
              <a:rPr lang="en-US" sz="4000" b="1" dirty="0">
                <a:solidFill>
                  <a:srgbClr val="FF0000"/>
                </a:solidFill>
                <a:latin typeface="Times New Roman" panose="02020603050405020304" pitchFamily="18" charset="0"/>
                <a:cs typeface="Times New Roman" panose="02020603050405020304" pitchFamily="18" charset="0"/>
              </a:rPr>
              <a:t>Above four conditions are necessary to cause a deadlock.</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Important</a:t>
            </a:r>
          </a:p>
        </p:txBody>
      </p:sp>
    </p:spTree>
    <p:extLst>
      <p:ext uri="{BB962C8B-B14F-4D97-AF65-F5344CB8AC3E}">
        <p14:creationId xmlns:p14="http://schemas.microsoft.com/office/powerpoint/2010/main" val="3179202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Strategies to deal with deadlocks</a:t>
            </a:r>
          </a:p>
        </p:txBody>
      </p:sp>
    </p:spTree>
    <p:extLst>
      <p:ext uri="{BB962C8B-B14F-4D97-AF65-F5344CB8AC3E}">
        <p14:creationId xmlns:p14="http://schemas.microsoft.com/office/powerpoint/2010/main" val="3462358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0" indent="0" algn="just">
              <a:lnSpc>
                <a:spcPct val="150000"/>
              </a:lnSpc>
              <a:buNone/>
              <a:defRPr/>
            </a:pPr>
            <a:r>
              <a:rPr lang="en-US" sz="3600" dirty="0">
                <a:latin typeface="Times New Roman" panose="02020603050405020304" pitchFamily="18" charset="0"/>
                <a:cs typeface="Times New Roman" panose="02020603050405020304" pitchFamily="18" charset="0"/>
              </a:rPr>
              <a:t>There are three ways to deal with deadlocks.</a:t>
            </a:r>
          </a:p>
          <a:p>
            <a:pPr marL="514350" indent="-514350" algn="just">
              <a:lnSpc>
                <a:spcPct val="150000"/>
              </a:lnSpc>
              <a:buFont typeface="+mj-lt"/>
              <a:buAutoNum type="arabicPeriod"/>
              <a:defRPr/>
            </a:pPr>
            <a:r>
              <a:rPr lang="en-US" b="1" dirty="0">
                <a:solidFill>
                  <a:schemeClr val="accent1">
                    <a:lumMod val="75000"/>
                  </a:schemeClr>
                </a:solidFill>
                <a:latin typeface="Times New Roman" panose="02020603050405020304" pitchFamily="18" charset="0"/>
                <a:cs typeface="Times New Roman" panose="02020603050405020304" pitchFamily="18" charset="0"/>
              </a:rPr>
              <a:t>Detection and recovery</a:t>
            </a:r>
          </a:p>
          <a:p>
            <a:pPr marL="514350" indent="-514350" algn="just">
              <a:lnSpc>
                <a:spcPct val="150000"/>
              </a:lnSpc>
              <a:buFont typeface="+mj-lt"/>
              <a:buAutoNum type="arabicPeriod"/>
              <a:defRPr/>
            </a:pPr>
            <a:r>
              <a:rPr lang="en-US" b="1" dirty="0">
                <a:solidFill>
                  <a:schemeClr val="accent1">
                    <a:lumMod val="75000"/>
                  </a:schemeClr>
                </a:solidFill>
                <a:latin typeface="Times New Roman" panose="02020603050405020304" pitchFamily="18" charset="0"/>
                <a:cs typeface="Times New Roman" panose="02020603050405020304" pitchFamily="18" charset="0"/>
              </a:rPr>
              <a:t>Deadlock avoidance by allocation</a:t>
            </a:r>
          </a:p>
          <a:p>
            <a:pPr marL="514350" indent="-514350" algn="just">
              <a:lnSpc>
                <a:spcPct val="150000"/>
              </a:lnSpc>
              <a:buFont typeface="+mj-lt"/>
              <a:buAutoNum type="arabicPeriod"/>
              <a:defRPr/>
            </a:pPr>
            <a:r>
              <a:rPr lang="en-US" b="1" dirty="0">
                <a:solidFill>
                  <a:schemeClr val="accent1">
                    <a:lumMod val="75000"/>
                  </a:schemeClr>
                </a:solidFill>
                <a:latin typeface="Times New Roman" panose="02020603050405020304" pitchFamily="18" charset="0"/>
                <a:cs typeface="Times New Roman" panose="02020603050405020304" pitchFamily="18" charset="0"/>
              </a:rPr>
              <a:t>Prevention</a:t>
            </a:r>
            <a:endParaRPr lang="en-US" sz="36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Strategies to deal with deadlocks</a:t>
            </a:r>
          </a:p>
        </p:txBody>
      </p:sp>
    </p:spTree>
    <p:extLst>
      <p:ext uri="{BB962C8B-B14F-4D97-AF65-F5344CB8AC3E}">
        <p14:creationId xmlns:p14="http://schemas.microsoft.com/office/powerpoint/2010/main" val="413712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514350" indent="-514350" algn="just">
              <a:lnSpc>
                <a:spcPct val="150000"/>
              </a:lnSpc>
              <a:buFont typeface="+mj-lt"/>
              <a:buAutoNum type="arabicPeriod"/>
              <a:defRPr/>
            </a:pPr>
            <a:r>
              <a:rPr lang="en-US" b="1" dirty="0">
                <a:solidFill>
                  <a:schemeClr val="accent1">
                    <a:lumMod val="75000"/>
                  </a:schemeClr>
                </a:solidFill>
                <a:latin typeface="Times New Roman" panose="02020603050405020304" pitchFamily="18" charset="0"/>
                <a:cs typeface="Times New Roman" panose="02020603050405020304" pitchFamily="18" charset="0"/>
              </a:rPr>
              <a:t>Detection and recovery: </a:t>
            </a:r>
          </a:p>
          <a:p>
            <a:pPr lvl="1" algn="just">
              <a:lnSpc>
                <a:spcPct val="150000"/>
              </a:lnSpc>
              <a:defRPr/>
            </a:pPr>
            <a:r>
              <a:rPr lang="en-US" b="1" dirty="0">
                <a:solidFill>
                  <a:srgbClr val="FF0000"/>
                </a:solidFill>
                <a:latin typeface="Times New Roman" panose="02020603050405020304" pitchFamily="18" charset="0"/>
                <a:cs typeface="Times New Roman" panose="02020603050405020304" pitchFamily="18" charset="0"/>
              </a:rPr>
              <a:t>Let deadlocks occur, detect them and take action.</a:t>
            </a:r>
          </a:p>
          <a:p>
            <a:pPr lvl="1" algn="just">
              <a:lnSpc>
                <a:spcPct val="150000"/>
              </a:lnSpc>
              <a:defRPr/>
            </a:pPr>
            <a:r>
              <a:rPr lang="en-US" altLang="en-US" b="1" dirty="0">
                <a:latin typeface="Times New Roman" panose="02020603050405020304" pitchFamily="18" charset="0"/>
                <a:cs typeface="Times New Roman" panose="02020603050405020304" pitchFamily="18" charset="0"/>
              </a:rPr>
              <a:t>Grant resource requests when possible,  but periodically check for the presence of deadlock and then take action to recover from it</a:t>
            </a: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marL="514350" indent="-514350" algn="just">
              <a:lnSpc>
                <a:spcPct val="150000"/>
              </a:lnSpc>
              <a:buFont typeface="+mj-lt"/>
              <a:buAutoNum type="arabicPeriod"/>
              <a:defRPr/>
            </a:pPr>
            <a:r>
              <a:rPr lang="en-US" b="1" dirty="0">
                <a:solidFill>
                  <a:schemeClr val="accent1">
                    <a:lumMod val="75000"/>
                  </a:schemeClr>
                </a:solidFill>
                <a:latin typeface="Times New Roman" panose="02020603050405020304" pitchFamily="18" charset="0"/>
                <a:cs typeface="Times New Roman" panose="02020603050405020304" pitchFamily="18" charset="0"/>
              </a:rPr>
              <a:t>Deadlock avoidance by allocation:</a:t>
            </a:r>
          </a:p>
          <a:p>
            <a:pPr marL="914400" lvl="1" indent="-514350" algn="just">
              <a:lnSpc>
                <a:spcPct val="150000"/>
              </a:lnSpc>
              <a:defRPr/>
            </a:pPr>
            <a:r>
              <a:rPr lang="en-US" altLang="en-US" b="1" dirty="0">
                <a:solidFill>
                  <a:srgbClr val="FF0000"/>
                </a:solidFill>
                <a:latin typeface="Times New Roman" panose="02020603050405020304" pitchFamily="18" charset="0"/>
                <a:cs typeface="Times New Roman" panose="02020603050405020304" pitchFamily="18" charset="0"/>
              </a:rPr>
              <a:t>Carefully Allocate the resources to each process so that deadlock cannot occur.</a:t>
            </a:r>
          </a:p>
          <a:p>
            <a:pPr marL="914400" lvl="1" indent="-514350" algn="just">
              <a:lnSpc>
                <a:spcPct val="150000"/>
              </a:lnSpc>
              <a:buFont typeface="+mj-lt"/>
              <a:buAutoNum type="arabicPeriod"/>
              <a:defRPr/>
            </a:pPr>
            <a:endParaRPr lang="en-US"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Strategies to deal with deadlocks</a:t>
            </a:r>
          </a:p>
        </p:txBody>
      </p:sp>
    </p:spTree>
    <p:extLst>
      <p:ext uri="{BB962C8B-B14F-4D97-AF65-F5344CB8AC3E}">
        <p14:creationId xmlns:p14="http://schemas.microsoft.com/office/powerpoint/2010/main" val="216979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514350" indent="-514350" algn="just">
              <a:lnSpc>
                <a:spcPct val="150000"/>
              </a:lnSpc>
              <a:buFont typeface="+mj-lt"/>
              <a:buAutoNum type="arabicPeriod"/>
              <a:defRPr/>
            </a:pPr>
            <a:r>
              <a:rPr lang="en-US" b="1" dirty="0">
                <a:solidFill>
                  <a:schemeClr val="accent1">
                    <a:lumMod val="75000"/>
                  </a:schemeClr>
                </a:solidFill>
                <a:latin typeface="Times New Roman" panose="02020603050405020304" pitchFamily="18" charset="0"/>
                <a:cs typeface="Times New Roman" panose="02020603050405020304" pitchFamily="18" charset="0"/>
              </a:rPr>
              <a:t>Prevention: </a:t>
            </a:r>
          </a:p>
          <a:p>
            <a:pPr marL="914400" lvl="1" indent="-514350">
              <a:lnSpc>
                <a:spcPct val="150000"/>
              </a:lnSpc>
              <a:defRPr/>
            </a:pPr>
            <a:r>
              <a:rPr lang="en-US" sz="3200" b="1" dirty="0">
                <a:solidFill>
                  <a:srgbClr val="FF0000"/>
                </a:solidFill>
                <a:latin typeface="Times New Roman" panose="02020603050405020304" pitchFamily="18" charset="0"/>
                <a:cs typeface="Times New Roman" panose="02020603050405020304" pitchFamily="18" charset="0"/>
              </a:rPr>
              <a:t>Negating or preventing one of the four conditions necessary to cause a deadlock.</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Strategies to deal with deadlocks</a:t>
            </a:r>
          </a:p>
        </p:txBody>
      </p:sp>
    </p:spTree>
    <p:extLst>
      <p:ext uri="{BB962C8B-B14F-4D97-AF65-F5344CB8AC3E}">
        <p14:creationId xmlns:p14="http://schemas.microsoft.com/office/powerpoint/2010/main" val="124682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Safe and Unsafe State in Deadlock</a:t>
            </a:r>
          </a:p>
        </p:txBody>
      </p:sp>
    </p:spTree>
    <p:extLst>
      <p:ext uri="{BB962C8B-B14F-4D97-AF65-F5344CB8AC3E}">
        <p14:creationId xmlns:p14="http://schemas.microsoft.com/office/powerpoint/2010/main" val="3675098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algn="just">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Safe Condition: </a:t>
            </a:r>
            <a:r>
              <a:rPr lang="en-US" dirty="0">
                <a:latin typeface="Times New Roman" panose="02020603050405020304" pitchFamily="18" charset="0"/>
                <a:cs typeface="Times New Roman" panose="02020603050405020304" pitchFamily="18" charset="0"/>
              </a:rPr>
              <a:t>A state of a process </a:t>
            </a:r>
            <a:r>
              <a:rPr lang="en-US" b="1" dirty="0">
                <a:latin typeface="Times New Roman" panose="02020603050405020304" pitchFamily="18" charset="0"/>
                <a:cs typeface="Times New Roman" panose="02020603050405020304" pitchFamily="18" charset="0"/>
              </a:rPr>
              <a:t>or</a:t>
            </a:r>
            <a:r>
              <a:rPr lang="en-US" dirty="0">
                <a:latin typeface="Times New Roman" panose="02020603050405020304" pitchFamily="18" charset="0"/>
                <a:cs typeface="Times New Roman" panose="02020603050405020304" pitchFamily="18" charset="0"/>
              </a:rPr>
              <a:t> system of processes is said to be </a:t>
            </a:r>
            <a:r>
              <a:rPr lang="en-US" b="1" dirty="0">
                <a:solidFill>
                  <a:srgbClr val="FF0000"/>
                </a:solidFill>
                <a:latin typeface="Times New Roman" panose="02020603050405020304" pitchFamily="18" charset="0"/>
                <a:cs typeface="Times New Roman" panose="02020603050405020304" pitchFamily="18" charset="0"/>
              </a:rPr>
              <a:t>safe</a:t>
            </a:r>
            <a:r>
              <a:rPr lang="en-US" dirty="0">
                <a:latin typeface="Times New Roman" panose="02020603050405020304" pitchFamily="18" charset="0"/>
                <a:cs typeface="Times New Roman" panose="02020603050405020304" pitchFamily="18" charset="0"/>
              </a:rPr>
              <a:t> if it is not deadlocked and there is some scheduling order in which every process can run to completion.</a:t>
            </a:r>
          </a:p>
          <a:p>
            <a:pPr algn="just">
              <a:lnSpc>
                <a:spcPct val="150000"/>
              </a:lnSpc>
              <a:defRPr/>
            </a:pPr>
            <a:r>
              <a:rPr lang="en-US" dirty="0">
                <a:latin typeface="Times New Roman" panose="02020603050405020304" pitchFamily="18" charset="0"/>
                <a:cs typeface="Times New Roman" panose="02020603050405020304" pitchFamily="18" charset="0"/>
              </a:rPr>
              <a:t>Safe state is that in which system can guarantee that all processes will finish.</a:t>
            </a:r>
            <a:endParaRPr lang="en-US"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Safe and Unsafe State in Deadlock</a:t>
            </a:r>
          </a:p>
        </p:txBody>
      </p:sp>
    </p:spTree>
    <p:extLst>
      <p:ext uri="{BB962C8B-B14F-4D97-AF65-F5344CB8AC3E}">
        <p14:creationId xmlns:p14="http://schemas.microsoft.com/office/powerpoint/2010/main" val="329915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algn="just">
              <a:lnSpc>
                <a:spcPct val="150000"/>
              </a:lnSpc>
              <a:defRPr/>
            </a:pPr>
            <a:r>
              <a:rPr lang="en-US" b="1" dirty="0">
                <a:solidFill>
                  <a:schemeClr val="accent1">
                    <a:lumMod val="75000"/>
                  </a:schemeClr>
                </a:solidFill>
                <a:latin typeface="Times New Roman" panose="02020603050405020304" pitchFamily="18" charset="0"/>
                <a:cs typeface="Times New Roman" panose="02020603050405020304" pitchFamily="18" charset="0"/>
              </a:rPr>
              <a:t>Unsafe Condition</a:t>
            </a:r>
            <a:r>
              <a:rPr lang="en-US" dirty="0">
                <a:latin typeface="Times New Roman" panose="02020603050405020304" pitchFamily="18" charset="0"/>
                <a:cs typeface="Times New Roman" panose="02020603050405020304" pitchFamily="18" charset="0"/>
              </a:rPr>
              <a:t> A state of a process </a:t>
            </a:r>
            <a:r>
              <a:rPr lang="en-US" b="1" dirty="0">
                <a:latin typeface="Times New Roman" panose="02020603050405020304" pitchFamily="18" charset="0"/>
                <a:cs typeface="Times New Roman" panose="02020603050405020304" pitchFamily="18" charset="0"/>
              </a:rPr>
              <a:t>or </a:t>
            </a:r>
            <a:r>
              <a:rPr lang="en-US" dirty="0">
                <a:latin typeface="Times New Roman" panose="02020603050405020304" pitchFamily="18" charset="0"/>
                <a:cs typeface="Times New Roman" panose="02020603050405020304" pitchFamily="18" charset="0"/>
              </a:rPr>
              <a:t>system of processes said to be </a:t>
            </a:r>
            <a:r>
              <a:rPr lang="en-US" b="1" dirty="0">
                <a:solidFill>
                  <a:srgbClr val="FF0000"/>
                </a:solidFill>
                <a:latin typeface="Times New Roman" panose="02020603050405020304" pitchFamily="18" charset="0"/>
                <a:cs typeface="Times New Roman" panose="02020603050405020304" pitchFamily="18" charset="0"/>
              </a:rPr>
              <a:t>Un-safe</a:t>
            </a:r>
            <a:r>
              <a:rPr lang="en-US" dirty="0">
                <a:latin typeface="Times New Roman" panose="02020603050405020304" pitchFamily="18" charset="0"/>
                <a:cs typeface="Times New Roman" panose="02020603050405020304" pitchFamily="18" charset="0"/>
              </a:rPr>
              <a:t> if it is deadlocked and there is some scheduling order in which every process cannot run to completion. </a:t>
            </a:r>
          </a:p>
          <a:p>
            <a:pPr algn="just">
              <a:lnSpc>
                <a:spcPct val="150000"/>
              </a:lnSpc>
              <a:defRPr/>
            </a:pPr>
            <a:r>
              <a:rPr lang="en-US" dirty="0">
                <a:latin typeface="Times New Roman" panose="02020603050405020304" pitchFamily="18" charset="0"/>
                <a:cs typeface="Times New Roman" panose="02020603050405020304" pitchFamily="18" charset="0"/>
              </a:rPr>
              <a:t>Un-safe state is that in which system cannot guarantee that all processes will finish.</a:t>
            </a:r>
          </a:p>
          <a:p>
            <a:pPr marL="514350" indent="-514350" algn="just">
              <a:lnSpc>
                <a:spcPct val="150000"/>
              </a:lnSpc>
              <a:buFont typeface="+mj-lt"/>
              <a:buAutoNum type="arabicPeriod"/>
              <a:defRPr/>
            </a:pPr>
            <a:endParaRPr lang="en-US"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Safe and Unsafe State in Deadlock</a:t>
            </a:r>
          </a:p>
        </p:txBody>
      </p:sp>
    </p:spTree>
    <p:extLst>
      <p:ext uri="{BB962C8B-B14F-4D97-AF65-F5344CB8AC3E}">
        <p14:creationId xmlns:p14="http://schemas.microsoft.com/office/powerpoint/2010/main" val="56022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buClr>
                <a:schemeClr val="tx1"/>
              </a:buClr>
            </a:pPr>
            <a:r>
              <a:rPr lang="en-US" sz="4800" b="1" dirty="0">
                <a:solidFill>
                  <a:schemeClr val="accent3">
                    <a:lumMod val="75000"/>
                  </a:schemeClr>
                </a:solidFill>
                <a:latin typeface="Times New Roman" panose="02020603050405020304" pitchFamily="18" charset="0"/>
                <a:cs typeface="Times New Roman" panose="02020603050405020304" pitchFamily="18" charset="0"/>
              </a:rPr>
              <a:t>Starvation</a:t>
            </a:r>
          </a:p>
        </p:txBody>
      </p:sp>
    </p:spTree>
    <p:extLst>
      <p:ext uri="{BB962C8B-B14F-4D97-AF65-F5344CB8AC3E}">
        <p14:creationId xmlns:p14="http://schemas.microsoft.com/office/powerpoint/2010/main" val="121145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200000"/>
              </a:lnSpc>
              <a:buNone/>
              <a:defRPr/>
            </a:pPr>
            <a:r>
              <a:rPr lang="en-US" sz="3200" b="1" u="sng" dirty="0">
                <a:latin typeface="Times New Roman" panose="02020603050405020304" pitchFamily="18" charset="0"/>
                <a:cs typeface="Times New Roman" panose="02020603050405020304" pitchFamily="18" charset="0"/>
              </a:rPr>
              <a:t>Definition:</a:t>
            </a:r>
            <a:r>
              <a:rPr lang="en-US" sz="3200" b="1" dirty="0">
                <a:latin typeface="Times New Roman" panose="02020603050405020304" pitchFamily="18" charset="0"/>
                <a:cs typeface="Times New Roman" panose="02020603050405020304" pitchFamily="18" charset="0"/>
              </a:rPr>
              <a:t> </a:t>
            </a:r>
            <a:r>
              <a:rPr lang="en-US" altLang="en-US" sz="3200" dirty="0">
                <a:solidFill>
                  <a:srgbClr val="FF0000"/>
                </a:solidFill>
                <a:latin typeface="Times New Roman" panose="02020603050405020304" pitchFamily="18" charset="0"/>
                <a:cs typeface="Times New Roman" panose="02020603050405020304" pitchFamily="18" charset="0"/>
              </a:rPr>
              <a:t>One or more programs are in starvation, when each of them is waiting for resources for a long period of time that are occupied by programs.</a:t>
            </a:r>
          </a:p>
          <a:p>
            <a:pPr marL="857250" lvl="1" indent="-457200" algn="just">
              <a:lnSpc>
                <a:spcPct val="200000"/>
              </a:lnSpc>
              <a:buFont typeface="Arial" panose="020B0604020202020204" pitchFamily="34" charset="0"/>
              <a:buChar char="•"/>
              <a:defRPr/>
            </a:pPr>
            <a:r>
              <a:rPr lang="en-US" altLang="en-US" sz="3200" b="1" dirty="0">
                <a:latin typeface="Times New Roman" panose="02020603050405020304" pitchFamily="18" charset="0"/>
                <a:cs typeface="Times New Roman" panose="02020603050405020304" pitchFamily="18" charset="0"/>
              </a:rPr>
              <a:t>FCFS scheduler can face this problem.</a:t>
            </a:r>
          </a:p>
          <a:p>
            <a:pPr marL="857250" lvl="1" indent="-457200" algn="just">
              <a:lnSpc>
                <a:spcPct val="200000"/>
              </a:lnSpc>
              <a:buFont typeface="Arial" panose="020B0604020202020204" pitchFamily="34" charset="0"/>
              <a:buChar char="•"/>
              <a:defRPr/>
            </a:pPr>
            <a:endParaRPr lang="en-US" altLang="en-US" sz="3200" dirty="0">
              <a:solidFill>
                <a:srgbClr val="FF0000"/>
              </a:solidFill>
              <a:latin typeface="Times New Roman" panose="02020603050405020304" pitchFamily="18" charset="0"/>
              <a:cs typeface="Times New Roman" panose="02020603050405020304" pitchFamily="18" charset="0"/>
            </a:endParaRPr>
          </a:p>
          <a:p>
            <a:pPr marL="857250" lvl="1" indent="-457200" algn="just">
              <a:lnSpc>
                <a:spcPct val="200000"/>
              </a:lnSpc>
              <a:defRPr/>
            </a:pPr>
            <a:endParaRPr lang="en-US" altLang="en-US" sz="3200" dirty="0">
              <a:latin typeface="Times New Roman" panose="02020603050405020304" pitchFamily="18" charset="0"/>
              <a:cs typeface="Times New Roman" panose="02020603050405020304" pitchFamily="18" charset="0"/>
            </a:endParaRPr>
          </a:p>
          <a:p>
            <a:pPr marL="400050" lvl="1" indent="0" algn="just">
              <a:lnSpc>
                <a:spcPct val="200000"/>
              </a:lnSpc>
              <a:buNone/>
              <a:defRPr/>
            </a:pPr>
            <a:endParaRPr lang="en-US" altLang="en-US" sz="3200" b="1" u="sng"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Starvation</a:t>
            </a:r>
          </a:p>
        </p:txBody>
      </p:sp>
    </p:spTree>
    <p:extLst>
      <p:ext uri="{BB962C8B-B14F-4D97-AF65-F5344CB8AC3E}">
        <p14:creationId xmlns:p14="http://schemas.microsoft.com/office/powerpoint/2010/main" val="160706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algn="just">
              <a:lnSpc>
                <a:spcPct val="150000"/>
              </a:lnSpc>
            </a:pPr>
            <a:r>
              <a:rPr lang="en-US" altLang="en-US" sz="2800" dirty="0">
                <a:latin typeface="Times New Roman" panose="02020603050405020304" pitchFamily="18" charset="0"/>
                <a:cs typeface="Times New Roman" panose="02020603050405020304" pitchFamily="18" charset="0"/>
              </a:rPr>
              <a:t>This mostly happens when the process which requires less time slot is waiting for the large process to finish and to release the resources but the large process holding the resources for long time and the process that requires small time slot goes on waiting. </a:t>
            </a:r>
          </a:p>
          <a:p>
            <a:pPr algn="just">
              <a:lnSpc>
                <a:spcPct val="150000"/>
              </a:lnSpc>
            </a:pPr>
            <a:r>
              <a:rPr lang="en-US" altLang="en-US" sz="2800" dirty="0">
                <a:latin typeface="Times New Roman" panose="02020603050405020304" pitchFamily="18" charset="0"/>
                <a:cs typeface="Times New Roman" panose="02020603050405020304" pitchFamily="18" charset="0"/>
              </a:rPr>
              <a:t>Such situation is starvation for small process  </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Starvation</a:t>
            </a:r>
          </a:p>
        </p:txBody>
      </p:sp>
    </p:spTree>
    <p:extLst>
      <p:ext uri="{BB962C8B-B14F-4D97-AF65-F5344CB8AC3E}">
        <p14:creationId xmlns:p14="http://schemas.microsoft.com/office/powerpoint/2010/main" val="124257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Deadlock Avoidance Algorithm:</a:t>
            </a:r>
          </a:p>
          <a:p>
            <a:pPr algn="ct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Banker’s Algorithm</a:t>
            </a:r>
          </a:p>
        </p:txBody>
      </p:sp>
    </p:spTree>
    <p:extLst>
      <p:ext uri="{BB962C8B-B14F-4D97-AF65-F5344CB8AC3E}">
        <p14:creationId xmlns:p14="http://schemas.microsoft.com/office/powerpoint/2010/main" val="1393052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514350" indent="-514350" algn="just">
              <a:lnSpc>
                <a:spcPct val="200000"/>
              </a:lnSpc>
              <a:buFont typeface="+mj-lt"/>
              <a:buAutoNum type="arabicPeriod"/>
              <a:defRPr/>
            </a:pPr>
            <a:r>
              <a:rPr lang="en-US" sz="2800" dirty="0">
                <a:latin typeface="Times New Roman" panose="02020603050405020304" pitchFamily="18" charset="0"/>
                <a:cs typeface="Times New Roman" panose="02020603050405020304" pitchFamily="18" charset="0"/>
              </a:rPr>
              <a:t>The </a:t>
            </a:r>
            <a:r>
              <a:rPr lang="en-US" sz="2800" b="1" dirty="0">
                <a:solidFill>
                  <a:srgbClr val="FF0000"/>
                </a:solidFill>
                <a:latin typeface="Times New Roman" panose="02020603050405020304" pitchFamily="18" charset="0"/>
                <a:cs typeface="Times New Roman" panose="02020603050405020304" pitchFamily="18" charset="0"/>
              </a:rPr>
              <a:t>Banker's algorithm</a:t>
            </a:r>
            <a:r>
              <a:rPr lang="en-US" sz="2800" dirty="0">
                <a:latin typeface="Times New Roman" panose="02020603050405020304" pitchFamily="18" charset="0"/>
                <a:cs typeface="Times New Roman" panose="02020603050405020304" pitchFamily="18" charset="0"/>
              </a:rPr>
              <a:t>, sometimes referred to as the detection algorithm, is a resource allocation and deadlock avoidance that tests for safety of a process and then declares system as </a:t>
            </a:r>
            <a:r>
              <a:rPr lang="en-US" sz="2800" b="1" dirty="0">
                <a:solidFill>
                  <a:srgbClr val="FF0000"/>
                </a:solidFill>
                <a:latin typeface="Times New Roman" panose="02020603050405020304" pitchFamily="18" charset="0"/>
                <a:cs typeface="Times New Roman" panose="02020603050405020304" pitchFamily="18" charset="0"/>
              </a:rPr>
              <a:t>safe </a:t>
            </a:r>
            <a:r>
              <a:rPr lang="en-US" sz="2800" dirty="0">
                <a:latin typeface="Times New Roman" panose="02020603050405020304" pitchFamily="18" charset="0"/>
                <a:cs typeface="Times New Roman" panose="02020603050405020304" pitchFamily="18" charset="0"/>
              </a:rPr>
              <a:t>or </a:t>
            </a:r>
            <a:r>
              <a:rPr lang="en-US" sz="2800" b="1" dirty="0">
                <a:solidFill>
                  <a:srgbClr val="FF0000"/>
                </a:solidFill>
                <a:latin typeface="Times New Roman" panose="02020603050405020304" pitchFamily="18" charset="0"/>
                <a:cs typeface="Times New Roman" panose="02020603050405020304" pitchFamily="18" charset="0"/>
              </a:rPr>
              <a:t>un-safe</a:t>
            </a:r>
            <a:r>
              <a:rPr lang="en-US" sz="2800" dirty="0">
                <a:latin typeface="Times New Roman" panose="02020603050405020304" pitchFamily="18" charset="0"/>
                <a:cs typeface="Times New Roman" panose="02020603050405020304" pitchFamily="18" charset="0"/>
              </a:rPr>
              <a:t>.</a:t>
            </a:r>
          </a:p>
          <a:p>
            <a:pPr marL="514350" indent="-514350" algn="just">
              <a:lnSpc>
                <a:spcPct val="200000"/>
              </a:lnSpc>
              <a:buFont typeface="+mj-lt"/>
              <a:buAutoNum type="arabicPeriod"/>
              <a:defRPr/>
            </a:pPr>
            <a:r>
              <a:rPr lang="en-US" sz="2800" b="1" dirty="0">
                <a:solidFill>
                  <a:srgbClr val="FF0000"/>
                </a:solidFill>
                <a:latin typeface="Times New Roman" panose="02020603050405020304" pitchFamily="18" charset="0"/>
                <a:cs typeface="Times New Roman" panose="02020603050405020304" pitchFamily="18" charset="0"/>
              </a:rPr>
              <a:t>This algorithm is used where multiple instances of a same resource type is used.</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Banker’s Algorithm</a:t>
            </a:r>
          </a:p>
        </p:txBody>
      </p:sp>
    </p:spTree>
    <p:extLst>
      <p:ext uri="{BB962C8B-B14F-4D97-AF65-F5344CB8AC3E}">
        <p14:creationId xmlns:p14="http://schemas.microsoft.com/office/powerpoint/2010/main" val="186816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200000"/>
              </a:lnSpc>
              <a:buNone/>
              <a:defRPr/>
            </a:pPr>
            <a:r>
              <a:rPr lang="en-US" b="1" dirty="0">
                <a:latin typeface="Times New Roman" panose="02020603050405020304" pitchFamily="18" charset="0"/>
                <a:cs typeface="Times New Roman" panose="02020603050405020304" pitchFamily="18" charset="0"/>
              </a:rPr>
              <a:t>Multiple instances of same resource:</a:t>
            </a:r>
          </a:p>
          <a:p>
            <a:pPr marL="400050" lvl="1" indent="0" algn="just">
              <a:lnSpc>
                <a:spcPct val="200000"/>
              </a:lnSpc>
              <a:buNone/>
              <a:defRPr/>
            </a:pPr>
            <a:r>
              <a:rPr lang="en-US" b="1" dirty="0">
                <a:latin typeface="Times New Roman" panose="02020603050405020304" pitchFamily="18" charset="0"/>
                <a:cs typeface="Times New Roman" panose="02020603050405020304" pitchFamily="18" charset="0"/>
              </a:rPr>
              <a:t>For example multiple printers connected to </a:t>
            </a:r>
            <a:r>
              <a:rPr lang="en-US" b="1">
                <a:latin typeface="Times New Roman" panose="02020603050405020304" pitchFamily="18" charset="0"/>
                <a:cs typeface="Times New Roman" panose="02020603050405020304" pitchFamily="18" charset="0"/>
              </a:rPr>
              <a:t>same computer is </a:t>
            </a:r>
            <a:r>
              <a:rPr lang="en-US" b="1" dirty="0">
                <a:latin typeface="Times New Roman" panose="02020603050405020304" pitchFamily="18" charset="0"/>
                <a:cs typeface="Times New Roman" panose="02020603050405020304" pitchFamily="18" charset="0"/>
              </a:rPr>
              <a:t>the multiple instances of same resource(i.e. printer.)</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Banker’s Algorithm</a:t>
            </a:r>
          </a:p>
        </p:txBody>
      </p:sp>
    </p:spTree>
    <p:extLst>
      <p:ext uri="{BB962C8B-B14F-4D97-AF65-F5344CB8AC3E}">
        <p14:creationId xmlns:p14="http://schemas.microsoft.com/office/powerpoint/2010/main" val="3644328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200000"/>
              </a:lnSpc>
              <a:buNone/>
              <a:defRPr/>
            </a:pPr>
            <a:r>
              <a:rPr lang="en-US" b="1" dirty="0">
                <a:latin typeface="Times New Roman" panose="02020603050405020304" pitchFamily="18" charset="0"/>
                <a:cs typeface="Times New Roman" panose="02020603050405020304" pitchFamily="18" charset="0"/>
              </a:rPr>
              <a:t>Consider following example:</a:t>
            </a:r>
          </a:p>
          <a:p>
            <a:pPr>
              <a:lnSpc>
                <a:spcPct val="200000"/>
              </a:lnSpc>
            </a:pPr>
            <a:r>
              <a:rPr lang="en-US" altLang="en-US" sz="2400" b="1" dirty="0">
                <a:latin typeface="Times New Roman" panose="02020603050405020304" pitchFamily="18" charset="0"/>
                <a:cs typeface="Times New Roman" panose="02020603050405020304" pitchFamily="18" charset="0"/>
              </a:rPr>
              <a:t>There are 5 processes </a:t>
            </a:r>
            <a:r>
              <a:rPr lang="en-US" altLang="en-US" sz="2400" b="1" i="1" dirty="0">
                <a:latin typeface="Times New Roman" panose="02020603050405020304" pitchFamily="18" charset="0"/>
                <a:cs typeface="Times New Roman" panose="02020603050405020304" pitchFamily="18" charset="0"/>
              </a:rPr>
              <a:t>P</a:t>
            </a:r>
            <a:r>
              <a:rPr lang="en-US" altLang="en-US" sz="2400" b="1" baseline="-25000" dirty="0">
                <a:latin typeface="Times New Roman" panose="02020603050405020304" pitchFamily="18" charset="0"/>
                <a:cs typeface="Times New Roman" panose="02020603050405020304" pitchFamily="18" charset="0"/>
              </a:rPr>
              <a:t>0 </a:t>
            </a:r>
            <a:r>
              <a:rPr lang="en-US" altLang="en-US" sz="2400" b="1" dirty="0">
                <a:latin typeface="Times New Roman" panose="02020603050405020304" pitchFamily="18" charset="0"/>
                <a:cs typeface="Times New Roman" panose="02020603050405020304" pitchFamily="18" charset="0"/>
              </a:rPr>
              <a:t>through </a:t>
            </a:r>
            <a:r>
              <a:rPr lang="en-US" altLang="en-US" sz="2400" b="1" i="1" dirty="0">
                <a:latin typeface="Times New Roman" panose="02020603050405020304" pitchFamily="18" charset="0"/>
                <a:cs typeface="Times New Roman" panose="02020603050405020304" pitchFamily="18" charset="0"/>
              </a:rPr>
              <a:t>P</a:t>
            </a:r>
            <a:r>
              <a:rPr lang="en-US" altLang="en-US" sz="2400" b="1" baseline="-25000" dirty="0">
                <a:latin typeface="Times New Roman" panose="02020603050405020304" pitchFamily="18" charset="0"/>
                <a:cs typeface="Times New Roman" panose="02020603050405020304" pitchFamily="18" charset="0"/>
              </a:rPr>
              <a:t>4</a:t>
            </a:r>
            <a:r>
              <a:rPr lang="en-US" altLang="en-US" sz="2400" b="1" dirty="0">
                <a:latin typeface="Times New Roman" panose="02020603050405020304" pitchFamily="18" charset="0"/>
                <a:cs typeface="Times New Roman" panose="02020603050405020304" pitchFamily="18" charset="0"/>
              </a:rPr>
              <a:t> </a:t>
            </a:r>
          </a:p>
          <a:p>
            <a:pPr>
              <a:lnSpc>
                <a:spcPct val="200000"/>
              </a:lnSpc>
            </a:pPr>
            <a:r>
              <a:rPr lang="en-US" altLang="en-US" sz="2400" b="1" dirty="0">
                <a:latin typeface="Times New Roman" panose="02020603050405020304" pitchFamily="18" charset="0"/>
                <a:cs typeface="Times New Roman" panose="02020603050405020304" pitchFamily="18" charset="0"/>
              </a:rPr>
              <a:t>There are 3 resource types: </a:t>
            </a:r>
            <a:r>
              <a:rPr lang="en-US" altLang="en-US" sz="2400" b="1" i="1" dirty="0">
                <a:latin typeface="Times New Roman" panose="02020603050405020304" pitchFamily="18" charset="0"/>
                <a:cs typeface="Times New Roman" panose="02020603050405020304" pitchFamily="18" charset="0"/>
              </a:rPr>
              <a:t>A,</a:t>
            </a:r>
            <a:r>
              <a:rPr lang="en-US" altLang="en-US" sz="2400" b="1" dirty="0">
                <a:latin typeface="Times New Roman" panose="02020603050405020304" pitchFamily="18" charset="0"/>
                <a:cs typeface="Times New Roman" panose="02020603050405020304" pitchFamily="18" charset="0"/>
              </a:rPr>
              <a:t> B, C</a:t>
            </a:r>
          </a:p>
          <a:p>
            <a:pPr>
              <a:lnSpc>
                <a:spcPct val="200000"/>
              </a:lnSpc>
            </a:pPr>
            <a:r>
              <a:rPr lang="en-US" altLang="en-US" sz="2400" b="1" dirty="0">
                <a:latin typeface="Times New Roman" panose="02020603050405020304" pitchFamily="18" charset="0"/>
                <a:cs typeface="Times New Roman" panose="02020603050405020304" pitchFamily="18" charset="0"/>
              </a:rPr>
              <a:t>Instances</a:t>
            </a:r>
            <a:r>
              <a:rPr lang="en-US" altLang="en-US" sz="2400" b="1" i="1" dirty="0">
                <a:latin typeface="Times New Roman" panose="02020603050405020304" pitchFamily="18" charset="0"/>
                <a:cs typeface="Times New Roman" panose="02020603050405020304" pitchFamily="18" charset="0"/>
              </a:rPr>
              <a:t>: A</a:t>
            </a:r>
            <a:r>
              <a:rPr lang="en-US" altLang="en-US" sz="2400" b="1" dirty="0">
                <a:latin typeface="Times New Roman" panose="02020603050405020304" pitchFamily="18" charset="0"/>
                <a:cs typeface="Times New Roman" panose="02020603050405020304" pitchFamily="18" charset="0"/>
              </a:rPr>
              <a:t> (10 units), </a:t>
            </a:r>
            <a:r>
              <a:rPr lang="en-US" altLang="en-US" sz="2400" b="1" i="1" dirty="0">
                <a:latin typeface="Times New Roman" panose="02020603050405020304" pitchFamily="18" charset="0"/>
                <a:cs typeface="Times New Roman" panose="02020603050405020304" pitchFamily="18" charset="0"/>
              </a:rPr>
              <a:t>B</a:t>
            </a:r>
            <a:r>
              <a:rPr lang="en-US" altLang="en-US" sz="2400" b="1" dirty="0">
                <a:latin typeface="Times New Roman" panose="02020603050405020304" pitchFamily="18" charset="0"/>
                <a:cs typeface="Times New Roman" panose="02020603050405020304" pitchFamily="18" charset="0"/>
              </a:rPr>
              <a:t> (5 units), and </a:t>
            </a:r>
            <a:r>
              <a:rPr lang="en-US" altLang="en-US" sz="2400" b="1" i="1" dirty="0">
                <a:latin typeface="Times New Roman" panose="02020603050405020304" pitchFamily="18" charset="0"/>
                <a:cs typeface="Times New Roman" panose="02020603050405020304" pitchFamily="18" charset="0"/>
              </a:rPr>
              <a:t>C</a:t>
            </a:r>
            <a:r>
              <a:rPr lang="en-US" altLang="en-US" sz="2400" b="1" dirty="0">
                <a:latin typeface="Times New Roman" panose="02020603050405020304" pitchFamily="18" charset="0"/>
                <a:cs typeface="Times New Roman" panose="02020603050405020304" pitchFamily="18" charset="0"/>
              </a:rPr>
              <a:t> (7 units).</a:t>
            </a:r>
          </a:p>
          <a:p>
            <a:pPr>
              <a:lnSpc>
                <a:spcPct val="200000"/>
              </a:lnSpc>
            </a:pPr>
            <a:r>
              <a:rPr lang="en-US" altLang="en-US" sz="2400" b="1" dirty="0">
                <a:latin typeface="Times New Roman" panose="02020603050405020304" pitchFamily="18" charset="0"/>
                <a:cs typeface="Times New Roman" panose="02020603050405020304" pitchFamily="18" charset="0"/>
              </a:rPr>
              <a:t>Find “Need” and determine which processes are safe and which are not. </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spTree>
    <p:extLst>
      <p:ext uri="{BB962C8B-B14F-4D97-AF65-F5344CB8AC3E}">
        <p14:creationId xmlns:p14="http://schemas.microsoft.com/office/powerpoint/2010/main" val="423868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200000"/>
              </a:lnSpc>
              <a:buNone/>
              <a:defRPr/>
            </a:pPr>
            <a:r>
              <a:rPr lang="en-US" b="1" dirty="0">
                <a:latin typeface="Times New Roman" panose="02020603050405020304" pitchFamily="18" charset="0"/>
                <a:cs typeface="Times New Roman" panose="02020603050405020304" pitchFamily="18" charset="0"/>
              </a:rPr>
              <a:t>Given following Table:</a:t>
            </a:r>
          </a:p>
          <a:p>
            <a:pPr marL="400050" lvl="1" indent="0" algn="just">
              <a:lnSpc>
                <a:spcPct val="200000"/>
              </a:lnSpc>
              <a:buNone/>
              <a:defRPr/>
            </a:pPr>
            <a:endParaRPr lang="en-US"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a16="http://schemas.microsoft.com/office/drawing/2014/main" id="{4A2A4BAF-ADE9-4671-91E3-945512C8E9F3}"/>
              </a:ext>
            </a:extLst>
          </p:cNvPr>
          <p:cNvGraphicFramePr>
            <a:graphicFrameLocks noGrp="1"/>
          </p:cNvGraphicFramePr>
          <p:nvPr>
            <p:extLst>
              <p:ext uri="{D42A27DB-BD31-4B8C-83A1-F6EECF244321}">
                <p14:modId xmlns:p14="http://schemas.microsoft.com/office/powerpoint/2010/main" val="2979686471"/>
              </p:ext>
            </p:extLst>
          </p:nvPr>
        </p:nvGraphicFramePr>
        <p:xfrm>
          <a:off x="990600" y="2438400"/>
          <a:ext cx="7467600" cy="3581403"/>
        </p:xfrm>
        <a:graphic>
          <a:graphicData uri="http://schemas.openxmlformats.org/drawingml/2006/table">
            <a:tbl>
              <a:tblPr firstRow="1" bandRow="1">
                <a:tableStyleId>{5940675A-B579-460E-94D1-54222C63F5DA}</a:tableStyleId>
              </a:tblPr>
              <a:tblGrid>
                <a:gridCol w="1295400">
                  <a:extLst>
                    <a:ext uri="{9D8B030D-6E8A-4147-A177-3AD203B41FA5}">
                      <a16:colId xmlns:a16="http://schemas.microsoft.com/office/drawing/2014/main" val="2908865961"/>
                    </a:ext>
                  </a:extLst>
                </a:gridCol>
                <a:gridCol w="1691640">
                  <a:extLst>
                    <a:ext uri="{9D8B030D-6E8A-4147-A177-3AD203B41FA5}">
                      <a16:colId xmlns:a16="http://schemas.microsoft.com/office/drawing/2014/main" val="1617579748"/>
                    </a:ext>
                  </a:extLst>
                </a:gridCol>
                <a:gridCol w="1493520">
                  <a:extLst>
                    <a:ext uri="{9D8B030D-6E8A-4147-A177-3AD203B41FA5}">
                      <a16:colId xmlns:a16="http://schemas.microsoft.com/office/drawing/2014/main" val="4235394219"/>
                    </a:ext>
                  </a:extLst>
                </a:gridCol>
                <a:gridCol w="1493520">
                  <a:extLst>
                    <a:ext uri="{9D8B030D-6E8A-4147-A177-3AD203B41FA5}">
                      <a16:colId xmlns:a16="http://schemas.microsoft.com/office/drawing/2014/main" val="1099261521"/>
                    </a:ext>
                  </a:extLst>
                </a:gridCol>
                <a:gridCol w="1493520">
                  <a:extLst>
                    <a:ext uri="{9D8B030D-6E8A-4147-A177-3AD203B41FA5}">
                      <a16:colId xmlns:a16="http://schemas.microsoft.com/office/drawing/2014/main" val="322951685"/>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Allocation</a:t>
                      </a:r>
                    </a:p>
                  </a:txBody>
                  <a:tcPr/>
                </a:tc>
                <a:tc>
                  <a:txBody>
                    <a:bodyPr/>
                    <a:lstStyle/>
                    <a:p>
                      <a:pPr algn="ctr"/>
                      <a:r>
                        <a:rPr lang="en-US" sz="2400" b="1" dirty="0">
                          <a:latin typeface="Times New Roman" panose="02020603050405020304" pitchFamily="18" charset="0"/>
                          <a:cs typeface="Times New Roman" panose="02020603050405020304" pitchFamily="18" charset="0"/>
                        </a:rPr>
                        <a:t>Max</a:t>
                      </a:r>
                    </a:p>
                  </a:txBody>
                  <a:tcPr/>
                </a:tc>
                <a:tc>
                  <a:txBody>
                    <a:bodyPr/>
                    <a:lstStyle/>
                    <a:p>
                      <a:pPr algn="ctr"/>
                      <a:r>
                        <a:rPr lang="en-US" sz="2400" b="1" dirty="0">
                          <a:latin typeface="Times New Roman" panose="02020603050405020304" pitchFamily="18" charset="0"/>
                          <a:cs typeface="Times New Roman" panose="02020603050405020304" pitchFamily="18" charset="0"/>
                        </a:rPr>
                        <a:t>Available</a:t>
                      </a:r>
                    </a:p>
                  </a:txBody>
                  <a:tcPr/>
                </a:tc>
                <a:tc>
                  <a:txBody>
                    <a:bodyPr/>
                    <a:lstStyle/>
                    <a:p>
                      <a:pPr algn="ctr"/>
                      <a:r>
                        <a:rPr lang="en-US" sz="2400" b="1" dirty="0">
                          <a:latin typeface="Times New Roman" panose="02020603050405020304" pitchFamily="18" charset="0"/>
                          <a:cs typeface="Times New Roman" panose="02020603050405020304" pitchFamily="18" charset="0"/>
                        </a:rPr>
                        <a:t>Need=?</a:t>
                      </a:r>
                    </a:p>
                  </a:txBody>
                  <a:tcPr/>
                </a:tc>
                <a:extLst>
                  <a:ext uri="{0D108BD9-81ED-4DB2-BD59-A6C34878D82A}">
                    <a16:rowId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latin typeface="Times New Roman" panose="02020603050405020304" pitchFamily="18" charset="0"/>
                          <a:cs typeface="Times New Roman" panose="02020603050405020304" pitchFamily="18" charset="0"/>
                        </a:rPr>
                        <a:t>0    1    0</a:t>
                      </a:r>
                    </a:p>
                  </a:txBody>
                  <a:tcPr/>
                </a:tc>
                <a:tc>
                  <a:txBody>
                    <a:bodyPr/>
                    <a:lstStyle/>
                    <a:p>
                      <a:pPr algn="ctr"/>
                      <a:r>
                        <a:rPr lang="en-US" sz="2400" b="1" dirty="0">
                          <a:latin typeface="Times New Roman" panose="02020603050405020304" pitchFamily="18" charset="0"/>
                          <a:cs typeface="Times New Roman" panose="02020603050405020304" pitchFamily="18" charset="0"/>
                        </a:rPr>
                        <a:t>7    5    3</a:t>
                      </a:r>
                    </a:p>
                  </a:txBody>
                  <a:tcPr/>
                </a:tc>
                <a:tc>
                  <a:txBody>
                    <a:bodyPr/>
                    <a:lstStyle/>
                    <a:p>
                      <a:pPr algn="ctr"/>
                      <a:r>
                        <a:rPr lang="en-US" sz="2400" b="1" dirty="0">
                          <a:latin typeface="Times New Roman" panose="02020603050405020304" pitchFamily="18" charset="0"/>
                          <a:cs typeface="Times New Roman" panose="02020603050405020304" pitchFamily="18" charset="0"/>
                        </a:rPr>
                        <a:t>3    3    2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latin typeface="Times New Roman" panose="02020603050405020304" pitchFamily="18" charset="0"/>
                          <a:cs typeface="Times New Roman" panose="02020603050405020304" pitchFamily="18" charset="0"/>
                        </a:rPr>
                        <a:t>2    0    0</a:t>
                      </a:r>
                    </a:p>
                  </a:txBody>
                  <a:tcPr/>
                </a:tc>
                <a:tc>
                  <a:txBody>
                    <a:bodyPr/>
                    <a:lstStyle/>
                    <a:p>
                      <a:pPr algn="ctr"/>
                      <a:r>
                        <a:rPr lang="en-US" sz="2400" b="1" dirty="0">
                          <a:latin typeface="Times New Roman" panose="02020603050405020304" pitchFamily="18" charset="0"/>
                          <a:cs typeface="Times New Roman" panose="02020603050405020304" pitchFamily="18" charset="0"/>
                        </a:rPr>
                        <a:t>3    2    2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latin typeface="Times New Roman" panose="02020603050405020304" pitchFamily="18" charset="0"/>
                          <a:cs typeface="Times New Roman" panose="02020603050405020304" pitchFamily="18" charset="0"/>
                        </a:rPr>
                        <a:t>3    0    2</a:t>
                      </a:r>
                    </a:p>
                  </a:txBody>
                  <a:tcPr/>
                </a:tc>
                <a:tc>
                  <a:txBody>
                    <a:bodyPr/>
                    <a:lstStyle/>
                    <a:p>
                      <a:pPr algn="ctr"/>
                      <a:r>
                        <a:rPr lang="en-US" sz="2400" b="1" dirty="0">
                          <a:latin typeface="Times New Roman" panose="02020603050405020304" pitchFamily="18" charset="0"/>
                          <a:cs typeface="Times New Roman" panose="02020603050405020304" pitchFamily="18" charset="0"/>
                        </a:rPr>
                        <a:t>9    0    2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latin typeface="Times New Roman" panose="02020603050405020304" pitchFamily="18" charset="0"/>
                          <a:cs typeface="Times New Roman" panose="02020603050405020304" pitchFamily="18" charset="0"/>
                        </a:rPr>
                        <a:t>2    1    1</a:t>
                      </a:r>
                    </a:p>
                  </a:txBody>
                  <a:tcPr/>
                </a:tc>
                <a:tc>
                  <a:txBody>
                    <a:bodyPr/>
                    <a:lstStyle/>
                    <a:p>
                      <a:pPr algn="ctr"/>
                      <a:r>
                        <a:rPr lang="en-US" sz="2400" b="1" dirty="0">
                          <a:latin typeface="Times New Roman" panose="02020603050405020304" pitchFamily="18" charset="0"/>
                          <a:cs typeface="Times New Roman" panose="02020603050405020304" pitchFamily="18" charset="0"/>
                        </a:rPr>
                        <a:t>2    2    2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latin typeface="Times New Roman" panose="02020603050405020304" pitchFamily="18" charset="0"/>
                          <a:cs typeface="Times New Roman" panose="02020603050405020304" pitchFamily="18" charset="0"/>
                        </a:rPr>
                        <a:t>0    0    2</a:t>
                      </a:r>
                    </a:p>
                  </a:txBody>
                  <a:tcPr/>
                </a:tc>
                <a:tc>
                  <a:txBody>
                    <a:bodyPr/>
                    <a:lstStyle/>
                    <a:p>
                      <a:pPr algn="ctr"/>
                      <a:r>
                        <a:rPr lang="en-US" sz="2400" b="1" dirty="0">
                          <a:latin typeface="Times New Roman" panose="02020603050405020304" pitchFamily="18" charset="0"/>
                          <a:cs typeface="Times New Roman" panose="02020603050405020304" pitchFamily="18" charset="0"/>
                        </a:rPr>
                        <a:t>4    3    3</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91198167"/>
                  </a:ext>
                </a:extLst>
              </a:tr>
            </a:tbl>
          </a:graphicData>
        </a:graphic>
      </p:graphicFrame>
    </p:spTree>
    <p:extLst>
      <p:ext uri="{BB962C8B-B14F-4D97-AF65-F5344CB8AC3E}">
        <p14:creationId xmlns:p14="http://schemas.microsoft.com/office/powerpoint/2010/main" val="2994762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150000"/>
              </a:lnSpc>
              <a:buNone/>
              <a:defRPr/>
            </a:pPr>
            <a:r>
              <a:rPr lang="en-US" b="1" dirty="0">
                <a:solidFill>
                  <a:srgbClr val="FF0000"/>
                </a:solidFill>
                <a:latin typeface="Times New Roman" panose="02020603050405020304" pitchFamily="18" charset="0"/>
                <a:cs typeface="Times New Roman" panose="02020603050405020304" pitchFamily="18" charset="0"/>
              </a:rPr>
              <a:t>Allocation</a:t>
            </a:r>
            <a:r>
              <a:rPr lang="en-US" b="1" dirty="0">
                <a:latin typeface="Times New Roman" panose="02020603050405020304" pitchFamily="18" charset="0"/>
                <a:cs typeface="Times New Roman" panose="02020603050405020304" pitchFamily="18" charset="0"/>
              </a:rPr>
              <a:t>: Currently allocated units of a resources to processes.</a:t>
            </a:r>
          </a:p>
          <a:p>
            <a:pPr marL="400050" lvl="1" indent="0" algn="just">
              <a:lnSpc>
                <a:spcPct val="200000"/>
              </a:lnSpc>
              <a:buNone/>
              <a:defRPr/>
            </a:pPr>
            <a:endParaRPr lang="en-US"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a16="http://schemas.microsoft.com/office/drawing/2014/main" id="{4A2A4BAF-ADE9-4671-91E3-945512C8E9F3}"/>
              </a:ext>
            </a:extLst>
          </p:cNvPr>
          <p:cNvGraphicFramePr>
            <a:graphicFrameLocks noGrp="1"/>
          </p:cNvGraphicFramePr>
          <p:nvPr>
            <p:extLst>
              <p:ext uri="{D42A27DB-BD31-4B8C-83A1-F6EECF244321}">
                <p14:modId xmlns:p14="http://schemas.microsoft.com/office/powerpoint/2010/main" val="4180189164"/>
              </p:ext>
            </p:extLst>
          </p:nvPr>
        </p:nvGraphicFramePr>
        <p:xfrm>
          <a:off x="3078480" y="2590800"/>
          <a:ext cx="2987040" cy="3581403"/>
        </p:xfrm>
        <a:graphic>
          <a:graphicData uri="http://schemas.openxmlformats.org/drawingml/2006/table">
            <a:tbl>
              <a:tblPr firstRow="1" bandRow="1">
                <a:tableStyleId>{5940675A-B579-460E-94D1-54222C63F5DA}</a:tableStyleId>
              </a:tblPr>
              <a:tblGrid>
                <a:gridCol w="1295400">
                  <a:extLst>
                    <a:ext uri="{9D8B030D-6E8A-4147-A177-3AD203B41FA5}">
                      <a16:colId xmlns:a16="http://schemas.microsoft.com/office/drawing/2014/main" val="2908865961"/>
                    </a:ext>
                  </a:extLst>
                </a:gridCol>
                <a:gridCol w="1691640">
                  <a:extLst>
                    <a:ext uri="{9D8B030D-6E8A-4147-A177-3AD203B41FA5}">
                      <a16:colId xmlns:a16="http://schemas.microsoft.com/office/drawing/2014/main" val="1617579748"/>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Allocation</a:t>
                      </a:r>
                    </a:p>
                  </a:txBody>
                  <a:tcPr/>
                </a:tc>
                <a:extLst>
                  <a:ext uri="{0D108BD9-81ED-4DB2-BD59-A6C34878D82A}">
                    <a16:rowId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latin typeface="Times New Roman" panose="02020603050405020304" pitchFamily="18" charset="0"/>
                          <a:cs typeface="Times New Roman" panose="02020603050405020304" pitchFamily="18" charset="0"/>
                        </a:rPr>
                        <a:t>0    1    0</a:t>
                      </a:r>
                    </a:p>
                  </a:txBody>
                  <a:tcPr/>
                </a:tc>
                <a:extLst>
                  <a:ext uri="{0D108BD9-81ED-4DB2-BD59-A6C34878D82A}">
                    <a16:rowId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latin typeface="Times New Roman" panose="02020603050405020304" pitchFamily="18" charset="0"/>
                          <a:cs typeface="Times New Roman" panose="02020603050405020304" pitchFamily="18" charset="0"/>
                        </a:rPr>
                        <a:t>2    0    0</a:t>
                      </a:r>
                    </a:p>
                  </a:txBody>
                  <a:tcPr/>
                </a:tc>
                <a:extLst>
                  <a:ext uri="{0D108BD9-81ED-4DB2-BD59-A6C34878D82A}">
                    <a16:rowId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latin typeface="Times New Roman" panose="02020603050405020304" pitchFamily="18" charset="0"/>
                          <a:cs typeface="Times New Roman" panose="02020603050405020304" pitchFamily="18" charset="0"/>
                        </a:rPr>
                        <a:t>3    0    2</a:t>
                      </a:r>
                    </a:p>
                  </a:txBody>
                  <a:tcPr/>
                </a:tc>
                <a:extLst>
                  <a:ext uri="{0D108BD9-81ED-4DB2-BD59-A6C34878D82A}">
                    <a16:rowId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latin typeface="Times New Roman" panose="02020603050405020304" pitchFamily="18" charset="0"/>
                          <a:cs typeface="Times New Roman" panose="02020603050405020304" pitchFamily="18" charset="0"/>
                        </a:rPr>
                        <a:t>2    1    1</a:t>
                      </a:r>
                    </a:p>
                  </a:txBody>
                  <a:tcPr/>
                </a:tc>
                <a:extLst>
                  <a:ext uri="{0D108BD9-81ED-4DB2-BD59-A6C34878D82A}">
                    <a16:rowId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latin typeface="Times New Roman" panose="02020603050405020304" pitchFamily="18" charset="0"/>
                          <a:cs typeface="Times New Roman" panose="02020603050405020304" pitchFamily="18" charset="0"/>
                        </a:rPr>
                        <a:t>0    0    2</a:t>
                      </a:r>
                    </a:p>
                  </a:txBody>
                  <a:tcPr/>
                </a:tc>
                <a:extLst>
                  <a:ext uri="{0D108BD9-81ED-4DB2-BD59-A6C34878D82A}">
                    <a16:rowId xmlns:a16="http://schemas.microsoft.com/office/drawing/2014/main" val="1891198167"/>
                  </a:ext>
                </a:extLst>
              </a:tr>
            </a:tbl>
          </a:graphicData>
        </a:graphic>
      </p:graphicFrame>
    </p:spTree>
    <p:extLst>
      <p:ext uri="{BB962C8B-B14F-4D97-AF65-F5344CB8AC3E}">
        <p14:creationId xmlns:p14="http://schemas.microsoft.com/office/powerpoint/2010/main" val="2063024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150000"/>
              </a:lnSpc>
              <a:buNone/>
              <a:defRPr/>
            </a:pPr>
            <a:r>
              <a:rPr lang="en-US" b="1" dirty="0">
                <a:solidFill>
                  <a:srgbClr val="FF0000"/>
                </a:solidFill>
                <a:latin typeface="Times New Roman" panose="02020603050405020304" pitchFamily="18" charset="0"/>
                <a:cs typeface="Times New Roman" panose="02020603050405020304" pitchFamily="18" charset="0"/>
              </a:rPr>
              <a:t>Max(Maximum)</a:t>
            </a:r>
            <a:r>
              <a:rPr lang="en-US" b="1" dirty="0">
                <a:latin typeface="Times New Roman" panose="02020603050405020304" pitchFamily="18" charset="0"/>
                <a:cs typeface="Times New Roman" panose="02020603050405020304" pitchFamily="18" charset="0"/>
              </a:rPr>
              <a:t>: Maximum number of units that can be assigned to any process.</a:t>
            </a:r>
          </a:p>
          <a:p>
            <a:pPr marL="400050" lvl="1" indent="0" algn="just">
              <a:lnSpc>
                <a:spcPct val="200000"/>
              </a:lnSpc>
              <a:buNone/>
              <a:defRPr/>
            </a:pPr>
            <a:endParaRPr lang="en-US"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a16="http://schemas.microsoft.com/office/drawing/2014/main" id="{4A2A4BAF-ADE9-4671-91E3-945512C8E9F3}"/>
              </a:ext>
            </a:extLst>
          </p:cNvPr>
          <p:cNvGraphicFramePr>
            <a:graphicFrameLocks noGrp="1"/>
          </p:cNvGraphicFramePr>
          <p:nvPr>
            <p:extLst>
              <p:ext uri="{D42A27DB-BD31-4B8C-83A1-F6EECF244321}">
                <p14:modId xmlns:p14="http://schemas.microsoft.com/office/powerpoint/2010/main" val="755176320"/>
              </p:ext>
            </p:extLst>
          </p:nvPr>
        </p:nvGraphicFramePr>
        <p:xfrm>
          <a:off x="3177540" y="2667000"/>
          <a:ext cx="2788920" cy="3581403"/>
        </p:xfrm>
        <a:graphic>
          <a:graphicData uri="http://schemas.openxmlformats.org/drawingml/2006/table">
            <a:tbl>
              <a:tblPr firstRow="1" bandRow="1">
                <a:tableStyleId>{5940675A-B579-460E-94D1-54222C63F5DA}</a:tableStyleId>
              </a:tblPr>
              <a:tblGrid>
                <a:gridCol w="1295400">
                  <a:extLst>
                    <a:ext uri="{9D8B030D-6E8A-4147-A177-3AD203B41FA5}">
                      <a16:colId xmlns:a16="http://schemas.microsoft.com/office/drawing/2014/main" val="2908865961"/>
                    </a:ext>
                  </a:extLst>
                </a:gridCol>
                <a:gridCol w="1493520">
                  <a:extLst>
                    <a:ext uri="{9D8B030D-6E8A-4147-A177-3AD203B41FA5}">
                      <a16:colId xmlns:a16="http://schemas.microsoft.com/office/drawing/2014/main" val="4235394219"/>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Max</a:t>
                      </a:r>
                    </a:p>
                  </a:txBody>
                  <a:tcPr/>
                </a:tc>
                <a:extLst>
                  <a:ext uri="{0D108BD9-81ED-4DB2-BD59-A6C34878D82A}">
                    <a16:rowId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latin typeface="Times New Roman" panose="02020603050405020304" pitchFamily="18" charset="0"/>
                          <a:cs typeface="Times New Roman" panose="02020603050405020304" pitchFamily="18" charset="0"/>
                        </a:rPr>
                        <a:t>7    5    3</a:t>
                      </a:r>
                    </a:p>
                  </a:txBody>
                  <a:tcPr/>
                </a:tc>
                <a:extLst>
                  <a:ext uri="{0D108BD9-81ED-4DB2-BD59-A6C34878D82A}">
                    <a16:rowId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latin typeface="Times New Roman" panose="02020603050405020304" pitchFamily="18" charset="0"/>
                          <a:cs typeface="Times New Roman" panose="02020603050405020304" pitchFamily="18" charset="0"/>
                        </a:rPr>
                        <a:t>3    2    2</a:t>
                      </a:r>
                    </a:p>
                  </a:txBody>
                  <a:tcPr/>
                </a:tc>
                <a:extLst>
                  <a:ext uri="{0D108BD9-81ED-4DB2-BD59-A6C34878D82A}">
                    <a16:rowId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latin typeface="Times New Roman" panose="02020603050405020304" pitchFamily="18" charset="0"/>
                          <a:cs typeface="Times New Roman" panose="02020603050405020304" pitchFamily="18" charset="0"/>
                        </a:rPr>
                        <a:t>9    0    2</a:t>
                      </a:r>
                    </a:p>
                  </a:txBody>
                  <a:tcPr/>
                </a:tc>
                <a:extLst>
                  <a:ext uri="{0D108BD9-81ED-4DB2-BD59-A6C34878D82A}">
                    <a16:rowId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latin typeface="Times New Roman" panose="02020603050405020304" pitchFamily="18" charset="0"/>
                          <a:cs typeface="Times New Roman" panose="02020603050405020304" pitchFamily="18" charset="0"/>
                        </a:rPr>
                        <a:t>2    2    2</a:t>
                      </a:r>
                    </a:p>
                  </a:txBody>
                  <a:tcPr/>
                </a:tc>
                <a:extLst>
                  <a:ext uri="{0D108BD9-81ED-4DB2-BD59-A6C34878D82A}">
                    <a16:rowId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latin typeface="Times New Roman" panose="02020603050405020304" pitchFamily="18" charset="0"/>
                          <a:cs typeface="Times New Roman" panose="02020603050405020304" pitchFamily="18" charset="0"/>
                        </a:rPr>
                        <a:t>4    3    3</a:t>
                      </a:r>
                    </a:p>
                  </a:txBody>
                  <a:tcPr/>
                </a:tc>
                <a:extLst>
                  <a:ext uri="{0D108BD9-81ED-4DB2-BD59-A6C34878D82A}">
                    <a16:rowId xmlns:a16="http://schemas.microsoft.com/office/drawing/2014/main" val="1891198167"/>
                  </a:ext>
                </a:extLst>
              </a:tr>
            </a:tbl>
          </a:graphicData>
        </a:graphic>
      </p:graphicFrame>
    </p:spTree>
    <p:extLst>
      <p:ext uri="{BB962C8B-B14F-4D97-AF65-F5344CB8AC3E}">
        <p14:creationId xmlns:p14="http://schemas.microsoft.com/office/powerpoint/2010/main" val="3744457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lnSpc>
                <a:spcPct val="200000"/>
              </a:lnSpc>
              <a:buNone/>
              <a:defRPr/>
            </a:pPr>
            <a:r>
              <a:rPr lang="en-US" b="1" dirty="0">
                <a:solidFill>
                  <a:srgbClr val="FF0000"/>
                </a:solidFill>
                <a:latin typeface="Times New Roman" panose="02020603050405020304" pitchFamily="18" charset="0"/>
                <a:cs typeface="Times New Roman" panose="02020603050405020304" pitchFamily="18" charset="0"/>
              </a:rPr>
              <a:t>Available:</a:t>
            </a:r>
            <a:r>
              <a:rPr lang="en-US" b="1" dirty="0">
                <a:latin typeface="Times New Roman" panose="02020603050405020304" pitchFamily="18" charset="0"/>
                <a:cs typeface="Times New Roman" panose="02020603050405020304" pitchFamily="18" charset="0"/>
              </a:rPr>
              <a:t> Total available units of any resource.</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a16="http://schemas.microsoft.com/office/drawing/2014/main" id="{4A2A4BAF-ADE9-4671-91E3-945512C8E9F3}"/>
              </a:ext>
            </a:extLst>
          </p:cNvPr>
          <p:cNvGraphicFramePr>
            <a:graphicFrameLocks noGrp="1"/>
          </p:cNvGraphicFramePr>
          <p:nvPr/>
        </p:nvGraphicFramePr>
        <p:xfrm>
          <a:off x="990600" y="2438400"/>
          <a:ext cx="7467600" cy="3581403"/>
        </p:xfrm>
        <a:graphic>
          <a:graphicData uri="http://schemas.openxmlformats.org/drawingml/2006/table">
            <a:tbl>
              <a:tblPr firstRow="1" bandRow="1">
                <a:tableStyleId>{5940675A-B579-460E-94D1-54222C63F5DA}</a:tableStyleId>
              </a:tblPr>
              <a:tblGrid>
                <a:gridCol w="1295400">
                  <a:extLst>
                    <a:ext uri="{9D8B030D-6E8A-4147-A177-3AD203B41FA5}">
                      <a16:colId xmlns:a16="http://schemas.microsoft.com/office/drawing/2014/main" val="2908865961"/>
                    </a:ext>
                  </a:extLst>
                </a:gridCol>
                <a:gridCol w="1691640">
                  <a:extLst>
                    <a:ext uri="{9D8B030D-6E8A-4147-A177-3AD203B41FA5}">
                      <a16:colId xmlns:a16="http://schemas.microsoft.com/office/drawing/2014/main" val="1617579748"/>
                    </a:ext>
                  </a:extLst>
                </a:gridCol>
                <a:gridCol w="1493520">
                  <a:extLst>
                    <a:ext uri="{9D8B030D-6E8A-4147-A177-3AD203B41FA5}">
                      <a16:colId xmlns:a16="http://schemas.microsoft.com/office/drawing/2014/main" val="4235394219"/>
                    </a:ext>
                  </a:extLst>
                </a:gridCol>
                <a:gridCol w="1493520">
                  <a:extLst>
                    <a:ext uri="{9D8B030D-6E8A-4147-A177-3AD203B41FA5}">
                      <a16:colId xmlns:a16="http://schemas.microsoft.com/office/drawing/2014/main" val="1099261521"/>
                    </a:ext>
                  </a:extLst>
                </a:gridCol>
                <a:gridCol w="1493520">
                  <a:extLst>
                    <a:ext uri="{9D8B030D-6E8A-4147-A177-3AD203B41FA5}">
                      <a16:colId xmlns:a16="http://schemas.microsoft.com/office/drawing/2014/main" val="322951685"/>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Allocation</a:t>
                      </a:r>
                    </a:p>
                  </a:txBody>
                  <a:tcPr/>
                </a:tc>
                <a:tc>
                  <a:txBody>
                    <a:bodyPr/>
                    <a:lstStyle/>
                    <a:p>
                      <a:pPr algn="ctr"/>
                      <a:r>
                        <a:rPr lang="en-US" sz="2400" b="1" dirty="0">
                          <a:latin typeface="Times New Roman" panose="02020603050405020304" pitchFamily="18" charset="0"/>
                          <a:cs typeface="Times New Roman" panose="02020603050405020304" pitchFamily="18" charset="0"/>
                        </a:rPr>
                        <a:t>Max</a:t>
                      </a:r>
                    </a:p>
                  </a:txBody>
                  <a:tcPr/>
                </a:tc>
                <a:tc>
                  <a:txBody>
                    <a:bodyPr/>
                    <a:lstStyle/>
                    <a:p>
                      <a:pPr algn="ctr"/>
                      <a:r>
                        <a:rPr lang="en-US" sz="2400" b="1" dirty="0">
                          <a:latin typeface="Times New Roman" panose="02020603050405020304" pitchFamily="18" charset="0"/>
                          <a:cs typeface="Times New Roman" panose="02020603050405020304" pitchFamily="18" charset="0"/>
                        </a:rPr>
                        <a:t>Available</a:t>
                      </a:r>
                    </a:p>
                  </a:txBody>
                  <a:tcPr/>
                </a:tc>
                <a:tc>
                  <a:txBody>
                    <a:bodyPr/>
                    <a:lstStyle/>
                    <a:p>
                      <a:pPr algn="ctr"/>
                      <a:r>
                        <a:rPr lang="en-US" sz="2400" b="1" dirty="0">
                          <a:latin typeface="Times New Roman" panose="02020603050405020304" pitchFamily="18" charset="0"/>
                          <a:cs typeface="Times New Roman" panose="02020603050405020304" pitchFamily="18" charset="0"/>
                        </a:rPr>
                        <a:t>Need=?</a:t>
                      </a:r>
                    </a:p>
                  </a:txBody>
                  <a:tcPr/>
                </a:tc>
                <a:extLst>
                  <a:ext uri="{0D108BD9-81ED-4DB2-BD59-A6C34878D82A}">
                    <a16:rowId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latin typeface="Times New Roman" panose="02020603050405020304" pitchFamily="18" charset="0"/>
                          <a:cs typeface="Times New Roman" panose="02020603050405020304" pitchFamily="18" charset="0"/>
                        </a:rPr>
                        <a:t>0    1    0</a:t>
                      </a:r>
                    </a:p>
                  </a:txBody>
                  <a:tcPr/>
                </a:tc>
                <a:tc>
                  <a:txBody>
                    <a:bodyPr/>
                    <a:lstStyle/>
                    <a:p>
                      <a:pPr algn="ctr"/>
                      <a:r>
                        <a:rPr lang="en-US" sz="2400" b="1" dirty="0">
                          <a:latin typeface="Times New Roman" panose="02020603050405020304" pitchFamily="18" charset="0"/>
                          <a:cs typeface="Times New Roman" panose="02020603050405020304" pitchFamily="18" charset="0"/>
                        </a:rPr>
                        <a:t>7    5    3</a:t>
                      </a:r>
                    </a:p>
                  </a:txBody>
                  <a:tcPr/>
                </a:tc>
                <a:tc>
                  <a:txBody>
                    <a:bodyPr/>
                    <a:lstStyle/>
                    <a:p>
                      <a:pPr algn="ctr"/>
                      <a:r>
                        <a:rPr lang="en-US" sz="2400" b="1" dirty="0">
                          <a:latin typeface="Times New Roman" panose="02020603050405020304" pitchFamily="18" charset="0"/>
                          <a:cs typeface="Times New Roman" panose="02020603050405020304" pitchFamily="18" charset="0"/>
                        </a:rPr>
                        <a:t>3    3    2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latin typeface="Times New Roman" panose="02020603050405020304" pitchFamily="18" charset="0"/>
                          <a:cs typeface="Times New Roman" panose="02020603050405020304" pitchFamily="18" charset="0"/>
                        </a:rPr>
                        <a:t>2    0    0</a:t>
                      </a:r>
                    </a:p>
                  </a:txBody>
                  <a:tcPr/>
                </a:tc>
                <a:tc>
                  <a:txBody>
                    <a:bodyPr/>
                    <a:lstStyle/>
                    <a:p>
                      <a:pPr algn="ctr"/>
                      <a:r>
                        <a:rPr lang="en-US" sz="2400" b="1" dirty="0">
                          <a:latin typeface="Times New Roman" panose="02020603050405020304" pitchFamily="18" charset="0"/>
                          <a:cs typeface="Times New Roman" panose="02020603050405020304" pitchFamily="18" charset="0"/>
                        </a:rPr>
                        <a:t>3    2    2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latin typeface="Times New Roman" panose="02020603050405020304" pitchFamily="18" charset="0"/>
                          <a:cs typeface="Times New Roman" panose="02020603050405020304" pitchFamily="18" charset="0"/>
                        </a:rPr>
                        <a:t>3    0    2</a:t>
                      </a:r>
                    </a:p>
                  </a:txBody>
                  <a:tcPr/>
                </a:tc>
                <a:tc>
                  <a:txBody>
                    <a:bodyPr/>
                    <a:lstStyle/>
                    <a:p>
                      <a:pPr algn="ctr"/>
                      <a:r>
                        <a:rPr lang="en-US" sz="2400" b="1" dirty="0">
                          <a:latin typeface="Times New Roman" panose="02020603050405020304" pitchFamily="18" charset="0"/>
                          <a:cs typeface="Times New Roman" panose="02020603050405020304" pitchFamily="18" charset="0"/>
                        </a:rPr>
                        <a:t>9    0    2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latin typeface="Times New Roman" panose="02020603050405020304" pitchFamily="18" charset="0"/>
                          <a:cs typeface="Times New Roman" panose="02020603050405020304" pitchFamily="18" charset="0"/>
                        </a:rPr>
                        <a:t>2    1    1</a:t>
                      </a:r>
                    </a:p>
                  </a:txBody>
                  <a:tcPr/>
                </a:tc>
                <a:tc>
                  <a:txBody>
                    <a:bodyPr/>
                    <a:lstStyle/>
                    <a:p>
                      <a:pPr algn="ctr"/>
                      <a:r>
                        <a:rPr lang="en-US" sz="2400" b="1" dirty="0">
                          <a:latin typeface="Times New Roman" panose="02020603050405020304" pitchFamily="18" charset="0"/>
                          <a:cs typeface="Times New Roman" panose="02020603050405020304" pitchFamily="18" charset="0"/>
                        </a:rPr>
                        <a:t>2    2    2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latin typeface="Times New Roman" panose="02020603050405020304" pitchFamily="18" charset="0"/>
                          <a:cs typeface="Times New Roman" panose="02020603050405020304" pitchFamily="18" charset="0"/>
                        </a:rPr>
                        <a:t>0    0    2</a:t>
                      </a:r>
                    </a:p>
                  </a:txBody>
                  <a:tcPr/>
                </a:tc>
                <a:tc>
                  <a:txBody>
                    <a:bodyPr/>
                    <a:lstStyle/>
                    <a:p>
                      <a:pPr algn="ctr"/>
                      <a:r>
                        <a:rPr lang="en-US" sz="2400" b="1" dirty="0">
                          <a:latin typeface="Times New Roman" panose="02020603050405020304" pitchFamily="18" charset="0"/>
                          <a:cs typeface="Times New Roman" panose="02020603050405020304" pitchFamily="18" charset="0"/>
                        </a:rPr>
                        <a:t>4    3    3</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91198167"/>
                  </a:ext>
                </a:extLst>
              </a:tr>
            </a:tbl>
          </a:graphicData>
        </a:graphic>
      </p:graphicFrame>
    </p:spTree>
    <p:extLst>
      <p:ext uri="{BB962C8B-B14F-4D97-AF65-F5344CB8AC3E}">
        <p14:creationId xmlns:p14="http://schemas.microsoft.com/office/powerpoint/2010/main" val="193678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buNone/>
              <a:defRPr/>
            </a:pPr>
            <a:r>
              <a:rPr lang="en-US" b="1" dirty="0">
                <a:latin typeface="Times New Roman" panose="02020603050405020304" pitchFamily="18" charset="0"/>
                <a:cs typeface="Times New Roman" panose="02020603050405020304" pitchFamily="18" charset="0"/>
              </a:rPr>
              <a:t>First Find Need:</a:t>
            </a:r>
          </a:p>
          <a:p>
            <a:pPr marL="400050" lvl="1" indent="0" algn="just">
              <a:buNone/>
              <a:defRPr/>
            </a:pPr>
            <a:r>
              <a:rPr lang="en-US" b="1" dirty="0">
                <a:latin typeface="Times New Roman" panose="02020603050405020304" pitchFamily="18" charset="0"/>
                <a:cs typeface="Times New Roman" panose="02020603050405020304" pitchFamily="18" charset="0"/>
              </a:rPr>
              <a:t>Need=Maximum-Allocation</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a16="http://schemas.microsoft.com/office/drawing/2014/main" id="{4A2A4BAF-ADE9-4671-91E3-945512C8E9F3}"/>
              </a:ext>
            </a:extLst>
          </p:cNvPr>
          <p:cNvGraphicFramePr>
            <a:graphicFrameLocks noGrp="1"/>
          </p:cNvGraphicFramePr>
          <p:nvPr/>
        </p:nvGraphicFramePr>
        <p:xfrm>
          <a:off x="381000" y="2057400"/>
          <a:ext cx="8382000" cy="3892734"/>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2908865961"/>
                    </a:ext>
                  </a:extLst>
                </a:gridCol>
                <a:gridCol w="1600200">
                  <a:extLst>
                    <a:ext uri="{9D8B030D-6E8A-4147-A177-3AD203B41FA5}">
                      <a16:colId xmlns:a16="http://schemas.microsoft.com/office/drawing/2014/main" val="1617579748"/>
                    </a:ext>
                  </a:extLst>
                </a:gridCol>
                <a:gridCol w="1600200">
                  <a:extLst>
                    <a:ext uri="{9D8B030D-6E8A-4147-A177-3AD203B41FA5}">
                      <a16:colId xmlns:a16="http://schemas.microsoft.com/office/drawing/2014/main" val="4235394219"/>
                    </a:ext>
                  </a:extLst>
                </a:gridCol>
                <a:gridCol w="1524000">
                  <a:extLst>
                    <a:ext uri="{9D8B030D-6E8A-4147-A177-3AD203B41FA5}">
                      <a16:colId xmlns:a16="http://schemas.microsoft.com/office/drawing/2014/main" val="1099261521"/>
                    </a:ext>
                  </a:extLst>
                </a:gridCol>
                <a:gridCol w="2438400">
                  <a:extLst>
                    <a:ext uri="{9D8B030D-6E8A-4147-A177-3AD203B41FA5}">
                      <a16:colId xmlns:a16="http://schemas.microsoft.com/office/drawing/2014/main" val="322951685"/>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Allocation</a:t>
                      </a:r>
                    </a:p>
                  </a:txBody>
                  <a:tcPr/>
                </a:tc>
                <a:tc>
                  <a:txBody>
                    <a:bodyPr/>
                    <a:lstStyle/>
                    <a:p>
                      <a:pPr algn="ctr"/>
                      <a:r>
                        <a:rPr lang="en-US" sz="2400" b="1" dirty="0">
                          <a:latin typeface="Times New Roman" panose="02020603050405020304" pitchFamily="18" charset="0"/>
                          <a:cs typeface="Times New Roman" panose="02020603050405020304" pitchFamily="18" charset="0"/>
                        </a:rPr>
                        <a:t>Max</a:t>
                      </a:r>
                    </a:p>
                  </a:txBody>
                  <a:tcPr/>
                </a:tc>
                <a:tc>
                  <a:txBody>
                    <a:bodyPr/>
                    <a:lstStyle/>
                    <a:p>
                      <a:pPr algn="ctr"/>
                      <a:r>
                        <a:rPr lang="en-US" sz="2400" b="1" dirty="0">
                          <a:latin typeface="Times New Roman" panose="02020603050405020304" pitchFamily="18" charset="0"/>
                          <a:cs typeface="Times New Roman" panose="02020603050405020304" pitchFamily="18" charset="0"/>
                        </a:rPr>
                        <a:t>Available</a:t>
                      </a:r>
                    </a:p>
                  </a:txBody>
                  <a:tcPr/>
                </a:tc>
                <a:tc>
                  <a:txBody>
                    <a:bodyPr/>
                    <a:lstStyle/>
                    <a:p>
                      <a:pPr algn="ctr"/>
                      <a:r>
                        <a:rPr lang="en-US" sz="2400" b="1" dirty="0">
                          <a:latin typeface="Times New Roman" panose="02020603050405020304" pitchFamily="18" charset="0"/>
                          <a:cs typeface="Times New Roman" panose="02020603050405020304" pitchFamily="18" charset="0"/>
                        </a:rPr>
                        <a:t>Need=</a:t>
                      </a:r>
                    </a:p>
                    <a:p>
                      <a:pPr algn="ctr"/>
                      <a:r>
                        <a:rPr lang="en-US" sz="2400" b="1" dirty="0">
                          <a:latin typeface="Times New Roman" panose="02020603050405020304" pitchFamily="18" charset="0"/>
                          <a:cs typeface="Times New Roman" panose="02020603050405020304" pitchFamily="18" charset="0"/>
                        </a:rPr>
                        <a:t>Max-Allocation</a:t>
                      </a:r>
                    </a:p>
                  </a:txBody>
                  <a:tcPr/>
                </a:tc>
                <a:extLst>
                  <a:ext uri="{0D108BD9-81ED-4DB2-BD59-A6C34878D82A}">
                    <a16:rowId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latin typeface="Times New Roman" panose="02020603050405020304" pitchFamily="18" charset="0"/>
                          <a:cs typeface="Times New Roman" panose="02020603050405020304" pitchFamily="18" charset="0"/>
                        </a:rPr>
                        <a:t>0    1    0</a:t>
                      </a:r>
                    </a:p>
                  </a:txBody>
                  <a:tcPr/>
                </a:tc>
                <a:tc>
                  <a:txBody>
                    <a:bodyPr/>
                    <a:lstStyle/>
                    <a:p>
                      <a:pPr algn="ctr"/>
                      <a:r>
                        <a:rPr lang="en-US" sz="2400" b="1" dirty="0">
                          <a:latin typeface="Times New Roman" panose="02020603050405020304" pitchFamily="18" charset="0"/>
                          <a:cs typeface="Times New Roman" panose="02020603050405020304" pitchFamily="18" charset="0"/>
                        </a:rPr>
                        <a:t>7    5    3</a:t>
                      </a:r>
                    </a:p>
                  </a:txBody>
                  <a:tcPr/>
                </a:tc>
                <a:tc>
                  <a:txBody>
                    <a:bodyPr/>
                    <a:lstStyle/>
                    <a:p>
                      <a:pPr algn="ctr"/>
                      <a:r>
                        <a:rPr lang="en-US" sz="2400" b="1" dirty="0">
                          <a:latin typeface="Times New Roman" panose="02020603050405020304" pitchFamily="18" charset="0"/>
                          <a:cs typeface="Times New Roman" panose="02020603050405020304" pitchFamily="18" charset="0"/>
                        </a:rPr>
                        <a:t>3    3    2</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7    4    3</a:t>
                      </a:r>
                    </a:p>
                  </a:txBody>
                  <a:tcPr/>
                </a:tc>
                <a:extLst>
                  <a:ext uri="{0D108BD9-81ED-4DB2-BD59-A6C34878D82A}">
                    <a16:rowId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latin typeface="Times New Roman" panose="02020603050405020304" pitchFamily="18" charset="0"/>
                          <a:cs typeface="Times New Roman" panose="02020603050405020304" pitchFamily="18" charset="0"/>
                        </a:rPr>
                        <a:t>2    0    0</a:t>
                      </a:r>
                    </a:p>
                  </a:txBody>
                  <a:tcPr/>
                </a:tc>
                <a:tc>
                  <a:txBody>
                    <a:bodyPr/>
                    <a:lstStyle/>
                    <a:p>
                      <a:pPr algn="ctr"/>
                      <a:r>
                        <a:rPr lang="en-US" sz="2400" b="1" dirty="0">
                          <a:latin typeface="Times New Roman" panose="02020603050405020304" pitchFamily="18" charset="0"/>
                          <a:cs typeface="Times New Roman" panose="02020603050405020304" pitchFamily="18" charset="0"/>
                        </a:rPr>
                        <a:t>3    2    2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1    2    2</a:t>
                      </a:r>
                    </a:p>
                  </a:txBody>
                  <a:tcPr/>
                </a:tc>
                <a:extLst>
                  <a:ext uri="{0D108BD9-81ED-4DB2-BD59-A6C34878D82A}">
                    <a16:rowId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latin typeface="Times New Roman" panose="02020603050405020304" pitchFamily="18" charset="0"/>
                          <a:cs typeface="Times New Roman" panose="02020603050405020304" pitchFamily="18" charset="0"/>
                        </a:rPr>
                        <a:t>3    0    2</a:t>
                      </a:r>
                    </a:p>
                  </a:txBody>
                  <a:tcPr/>
                </a:tc>
                <a:tc>
                  <a:txBody>
                    <a:bodyPr/>
                    <a:lstStyle/>
                    <a:p>
                      <a:pPr algn="ctr"/>
                      <a:r>
                        <a:rPr lang="en-US" sz="2400" b="1" dirty="0">
                          <a:latin typeface="Times New Roman" panose="02020603050405020304" pitchFamily="18" charset="0"/>
                          <a:cs typeface="Times New Roman" panose="02020603050405020304" pitchFamily="18" charset="0"/>
                        </a:rPr>
                        <a:t>9    0    2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6    0    0</a:t>
                      </a:r>
                    </a:p>
                  </a:txBody>
                  <a:tcPr/>
                </a:tc>
                <a:extLst>
                  <a:ext uri="{0D108BD9-81ED-4DB2-BD59-A6C34878D82A}">
                    <a16:rowId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latin typeface="Times New Roman" panose="02020603050405020304" pitchFamily="18" charset="0"/>
                          <a:cs typeface="Times New Roman" panose="02020603050405020304" pitchFamily="18" charset="0"/>
                        </a:rPr>
                        <a:t>2    1    1</a:t>
                      </a:r>
                    </a:p>
                  </a:txBody>
                  <a:tcPr/>
                </a:tc>
                <a:tc>
                  <a:txBody>
                    <a:bodyPr/>
                    <a:lstStyle/>
                    <a:p>
                      <a:pPr algn="ctr"/>
                      <a:r>
                        <a:rPr lang="en-US" sz="2400" b="1" dirty="0">
                          <a:latin typeface="Times New Roman" panose="02020603050405020304" pitchFamily="18" charset="0"/>
                          <a:cs typeface="Times New Roman" panose="02020603050405020304" pitchFamily="18" charset="0"/>
                        </a:rPr>
                        <a:t>2    2    2</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0    1    1</a:t>
                      </a:r>
                    </a:p>
                  </a:txBody>
                  <a:tcPr/>
                </a:tc>
                <a:extLst>
                  <a:ext uri="{0D108BD9-81ED-4DB2-BD59-A6C34878D82A}">
                    <a16:rowId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latin typeface="Times New Roman" panose="02020603050405020304" pitchFamily="18" charset="0"/>
                          <a:cs typeface="Times New Roman" panose="02020603050405020304" pitchFamily="18" charset="0"/>
                        </a:rPr>
                        <a:t>0    0    2</a:t>
                      </a:r>
                    </a:p>
                  </a:txBody>
                  <a:tcPr/>
                </a:tc>
                <a:tc>
                  <a:txBody>
                    <a:bodyPr/>
                    <a:lstStyle/>
                    <a:p>
                      <a:pPr algn="ctr"/>
                      <a:r>
                        <a:rPr lang="en-US" sz="2400" b="1" dirty="0">
                          <a:latin typeface="Times New Roman" panose="02020603050405020304" pitchFamily="18" charset="0"/>
                          <a:cs typeface="Times New Roman" panose="02020603050405020304" pitchFamily="18" charset="0"/>
                        </a:rPr>
                        <a:t>4    3    3</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4    3    1</a:t>
                      </a:r>
                    </a:p>
                  </a:txBody>
                  <a:tcPr/>
                </a:tc>
                <a:extLst>
                  <a:ext uri="{0D108BD9-81ED-4DB2-BD59-A6C34878D82A}">
                    <a16:rowId xmlns:a16="http://schemas.microsoft.com/office/drawing/2014/main" val="1891198167"/>
                  </a:ext>
                </a:extLst>
              </a:tr>
            </a:tbl>
          </a:graphicData>
        </a:graphic>
      </p:graphicFrame>
    </p:spTree>
    <p:extLst>
      <p:ext uri="{BB962C8B-B14F-4D97-AF65-F5344CB8AC3E}">
        <p14:creationId xmlns:p14="http://schemas.microsoft.com/office/powerpoint/2010/main" val="2894427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98240"/>
            <a:ext cx="9144000" cy="6059760"/>
          </a:xfrm>
        </p:spPr>
        <p:txBody>
          <a:bodyPr>
            <a:noAutofit/>
          </a:bodyPr>
          <a:lstStyle/>
          <a:p>
            <a:pPr marL="400050" lvl="1" indent="0" algn="just">
              <a:buNone/>
              <a:defRPr/>
            </a:pPr>
            <a:r>
              <a:rPr lang="en-US" b="1" dirty="0">
                <a:latin typeface="Times New Roman" panose="02020603050405020304" pitchFamily="18" charset="0"/>
                <a:cs typeface="Times New Roman" panose="02020603050405020304" pitchFamily="18" charset="0"/>
              </a:rPr>
              <a:t>If Need&lt;=Available then process is </a:t>
            </a:r>
            <a:r>
              <a:rPr lang="en-US" b="1" dirty="0">
                <a:solidFill>
                  <a:srgbClr val="FF0000"/>
                </a:solidFill>
                <a:latin typeface="Times New Roman" panose="02020603050405020304" pitchFamily="18" charset="0"/>
                <a:cs typeface="Times New Roman" panose="02020603050405020304" pitchFamily="18" charset="0"/>
              </a:rPr>
              <a:t>safe</a:t>
            </a:r>
            <a:r>
              <a:rPr lang="en-US" b="1" dirty="0">
                <a:latin typeface="Times New Roman" panose="02020603050405020304" pitchFamily="18" charset="0"/>
                <a:cs typeface="Times New Roman" panose="02020603050405020304" pitchFamily="18" charset="0"/>
              </a:rPr>
              <a:t>, otherwise it is </a:t>
            </a:r>
            <a:r>
              <a:rPr lang="en-US" b="1" dirty="0">
                <a:solidFill>
                  <a:srgbClr val="FF0000"/>
                </a:solidFill>
                <a:latin typeface="Times New Roman" panose="02020603050405020304" pitchFamily="18" charset="0"/>
                <a:cs typeface="Times New Roman" panose="02020603050405020304" pitchFamily="18" charset="0"/>
              </a:rPr>
              <a:t>unsafe</a:t>
            </a:r>
            <a:r>
              <a:rPr lang="en-US" b="1" dirty="0">
                <a:latin typeface="Times New Roman" panose="02020603050405020304" pitchFamily="18" charset="0"/>
                <a:cs typeface="Times New Roman" panose="02020603050405020304" pitchFamily="18" charset="0"/>
              </a:rPr>
              <a:t>.</a:t>
            </a:r>
          </a:p>
        </p:txBody>
      </p:sp>
      <p:sp>
        <p:nvSpPr>
          <p:cNvPr id="8" name="Title 7">
            <a:extLst>
              <a:ext uri="{FF2B5EF4-FFF2-40B4-BE49-F238E27FC236}">
                <a16:creationId xmlns:a16="http://schemas.microsoft.com/office/drawing/2014/main"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Banker’s Algorithm: Example</a:t>
            </a:r>
          </a:p>
        </p:txBody>
      </p:sp>
      <p:graphicFrame>
        <p:nvGraphicFramePr>
          <p:cNvPr id="4" name="Table 3">
            <a:extLst>
              <a:ext uri="{FF2B5EF4-FFF2-40B4-BE49-F238E27FC236}">
                <a16:creationId xmlns:a16="http://schemas.microsoft.com/office/drawing/2014/main" id="{4A2A4BAF-ADE9-4671-91E3-945512C8E9F3}"/>
              </a:ext>
            </a:extLst>
          </p:cNvPr>
          <p:cNvGraphicFramePr>
            <a:graphicFrameLocks noGrp="1"/>
          </p:cNvGraphicFramePr>
          <p:nvPr>
            <p:extLst>
              <p:ext uri="{D42A27DB-BD31-4B8C-83A1-F6EECF244321}">
                <p14:modId xmlns:p14="http://schemas.microsoft.com/office/powerpoint/2010/main" val="1622798407"/>
              </p:ext>
            </p:extLst>
          </p:nvPr>
        </p:nvGraphicFramePr>
        <p:xfrm>
          <a:off x="1181100" y="2209800"/>
          <a:ext cx="6781800" cy="3892734"/>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2908865961"/>
                    </a:ext>
                  </a:extLst>
                </a:gridCol>
                <a:gridCol w="2286000">
                  <a:extLst>
                    <a:ext uri="{9D8B030D-6E8A-4147-A177-3AD203B41FA5}">
                      <a16:colId xmlns:a16="http://schemas.microsoft.com/office/drawing/2014/main" val="4235394219"/>
                    </a:ext>
                  </a:extLst>
                </a:gridCol>
                <a:gridCol w="1676400">
                  <a:extLst>
                    <a:ext uri="{9D8B030D-6E8A-4147-A177-3AD203B41FA5}">
                      <a16:colId xmlns:a16="http://schemas.microsoft.com/office/drawing/2014/main" val="1099261521"/>
                    </a:ext>
                  </a:extLst>
                </a:gridCol>
                <a:gridCol w="1600200">
                  <a:extLst>
                    <a:ext uri="{9D8B030D-6E8A-4147-A177-3AD203B41FA5}">
                      <a16:colId xmlns:a16="http://schemas.microsoft.com/office/drawing/2014/main" val="322951685"/>
                    </a:ext>
                  </a:extLst>
                </a:gridCol>
              </a:tblGrid>
              <a:tr h="511629">
                <a:tc>
                  <a:txBody>
                    <a:bodyPr/>
                    <a:lstStyle/>
                    <a:p>
                      <a:pPr algn="ctr"/>
                      <a:r>
                        <a:rPr lang="en-US" sz="2400" b="1" dirty="0">
                          <a:latin typeface="Times New Roman" panose="02020603050405020304" pitchFamily="18" charset="0"/>
                          <a:cs typeface="Times New Roman" panose="02020603050405020304" pitchFamily="18" charset="0"/>
                        </a:rPr>
                        <a:t>Process</a:t>
                      </a:r>
                    </a:p>
                  </a:txBody>
                  <a:tcPr/>
                </a:tc>
                <a:tc>
                  <a:txBody>
                    <a:bodyPr/>
                    <a:lstStyle/>
                    <a:p>
                      <a:pPr algn="ctr"/>
                      <a:r>
                        <a:rPr lang="en-US" sz="2400" b="1" dirty="0">
                          <a:latin typeface="Times New Roman" panose="02020603050405020304" pitchFamily="18" charset="0"/>
                          <a:cs typeface="Times New Roman" panose="02020603050405020304" pitchFamily="18" charset="0"/>
                        </a:rPr>
                        <a:t>Need=</a:t>
                      </a:r>
                    </a:p>
                    <a:p>
                      <a:pPr algn="ctr"/>
                      <a:r>
                        <a:rPr lang="en-US" sz="2400" b="1" dirty="0">
                          <a:latin typeface="Times New Roman" panose="02020603050405020304" pitchFamily="18" charset="0"/>
                          <a:cs typeface="Times New Roman" panose="02020603050405020304" pitchFamily="18" charset="0"/>
                        </a:rPr>
                        <a:t>Max-Allocation</a:t>
                      </a:r>
                    </a:p>
                  </a:txBody>
                  <a:tcPr/>
                </a:tc>
                <a:tc>
                  <a:txBody>
                    <a:bodyPr/>
                    <a:lstStyle/>
                    <a:p>
                      <a:pPr algn="ctr"/>
                      <a:r>
                        <a:rPr lang="en-US" sz="2400" b="1" dirty="0">
                          <a:latin typeface="Times New Roman" panose="02020603050405020304" pitchFamily="18" charset="0"/>
                          <a:cs typeface="Times New Roman" panose="02020603050405020304" pitchFamily="18" charset="0"/>
                        </a:rPr>
                        <a:t>Available</a:t>
                      </a:r>
                    </a:p>
                  </a:txBody>
                  <a:tcPr/>
                </a:tc>
                <a:tc>
                  <a:txBody>
                    <a:bodyPr/>
                    <a:lstStyle/>
                    <a:p>
                      <a:pPr algn="ctr"/>
                      <a:r>
                        <a:rPr lang="en-US" sz="2400" b="1" dirty="0">
                          <a:latin typeface="Times New Roman" panose="02020603050405020304" pitchFamily="18" charset="0"/>
                          <a:cs typeface="Times New Roman" panose="02020603050405020304" pitchFamily="18" charset="0"/>
                        </a:rPr>
                        <a:t>State</a:t>
                      </a:r>
                    </a:p>
                  </a:txBody>
                  <a:tcPr/>
                </a:tc>
                <a:extLst>
                  <a:ext uri="{0D108BD9-81ED-4DB2-BD59-A6C34878D82A}">
                    <a16:rowId xmlns:a16="http://schemas.microsoft.com/office/drawing/2014/main" val="1192223270"/>
                  </a:ext>
                </a:extLst>
              </a:tr>
              <a:tr h="511629">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tc>
                  <a:txBody>
                    <a:bodyPr/>
                    <a:lstStyle/>
                    <a:p>
                      <a:pPr algn="ctr"/>
                      <a:r>
                        <a:rPr lang="en-US" sz="2400" b="1" dirty="0">
                          <a:latin typeface="Times New Roman" panose="02020603050405020304" pitchFamily="18" charset="0"/>
                          <a:cs typeface="Times New Roman" panose="02020603050405020304" pitchFamily="18" charset="0"/>
                        </a:rPr>
                        <a:t>A    B    C</a:t>
                      </a:r>
                    </a:p>
                  </a:txBody>
                  <a:tcPr/>
                </a:tc>
                <a:extLst>
                  <a:ext uri="{0D108BD9-81ED-4DB2-BD59-A6C34878D82A}">
                    <a16:rowId xmlns:a16="http://schemas.microsoft.com/office/drawing/2014/main" val="1940850957"/>
                  </a:ext>
                </a:extLst>
              </a:tr>
              <a:tr h="511629">
                <a:tc>
                  <a:txBody>
                    <a:bodyPr/>
                    <a:lstStyle/>
                    <a:p>
                      <a:pPr algn="ctr"/>
                      <a:r>
                        <a:rPr lang="en-US" sz="2400" b="1" dirty="0">
                          <a:latin typeface="Times New Roman" panose="02020603050405020304" pitchFamily="18" charset="0"/>
                          <a:cs typeface="Times New Roman" panose="02020603050405020304" pitchFamily="18" charset="0"/>
                        </a:rPr>
                        <a:t>P0</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7    4    3</a:t>
                      </a:r>
                    </a:p>
                  </a:txBody>
                  <a:tcPr/>
                </a:tc>
                <a:tc>
                  <a:txBody>
                    <a:bodyPr/>
                    <a:lstStyle/>
                    <a:p>
                      <a:pPr algn="ctr"/>
                      <a:r>
                        <a:rPr lang="en-US" sz="2400" b="1" dirty="0">
                          <a:latin typeface="Times New Roman" panose="02020603050405020304" pitchFamily="18" charset="0"/>
                          <a:cs typeface="Times New Roman" panose="02020603050405020304" pitchFamily="18" charset="0"/>
                        </a:rPr>
                        <a:t>3    3    2</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Unsafe</a:t>
                      </a:r>
                    </a:p>
                  </a:txBody>
                  <a:tcPr/>
                </a:tc>
                <a:extLst>
                  <a:ext uri="{0D108BD9-81ED-4DB2-BD59-A6C34878D82A}">
                    <a16:rowId xmlns:a16="http://schemas.microsoft.com/office/drawing/2014/main" val="3307577800"/>
                  </a:ext>
                </a:extLst>
              </a:tr>
              <a:tr h="511629">
                <a:tc>
                  <a:txBody>
                    <a:bodyPr/>
                    <a:lstStyle/>
                    <a:p>
                      <a:pPr algn="ctr"/>
                      <a:r>
                        <a:rPr lang="en-US" sz="2400" b="1" dirty="0">
                          <a:latin typeface="Times New Roman" panose="02020603050405020304" pitchFamily="18" charset="0"/>
                          <a:cs typeface="Times New Roman" panose="02020603050405020304" pitchFamily="18" charset="0"/>
                        </a:rPr>
                        <a:t>P1</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1    2    2</a:t>
                      </a:r>
                    </a:p>
                  </a:txBody>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Safe</a:t>
                      </a:r>
                    </a:p>
                  </a:txBody>
                  <a:tcPr/>
                </a:tc>
                <a:extLst>
                  <a:ext uri="{0D108BD9-81ED-4DB2-BD59-A6C34878D82A}">
                    <a16:rowId xmlns:a16="http://schemas.microsoft.com/office/drawing/2014/main" val="756600126"/>
                  </a:ext>
                </a:extLst>
              </a:tr>
              <a:tr h="511629">
                <a:tc>
                  <a:txBody>
                    <a:bodyPr/>
                    <a:lstStyle/>
                    <a:p>
                      <a:pPr algn="ctr"/>
                      <a:r>
                        <a:rPr lang="en-US" sz="2400" b="1" dirty="0">
                          <a:latin typeface="Times New Roman" panose="02020603050405020304" pitchFamily="18" charset="0"/>
                          <a:cs typeface="Times New Roman" panose="02020603050405020304" pitchFamily="18" charset="0"/>
                        </a:rPr>
                        <a:t>P2</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6    0    0</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Unsafe</a:t>
                      </a:r>
                    </a:p>
                  </a:txBody>
                  <a:tcPr/>
                </a:tc>
                <a:extLst>
                  <a:ext uri="{0D108BD9-81ED-4DB2-BD59-A6C34878D82A}">
                    <a16:rowId xmlns:a16="http://schemas.microsoft.com/office/drawing/2014/main" val="1506905352"/>
                  </a:ext>
                </a:extLst>
              </a:tr>
              <a:tr h="511629">
                <a:tc>
                  <a:txBody>
                    <a:bodyPr/>
                    <a:lstStyle/>
                    <a:p>
                      <a:pPr algn="ctr"/>
                      <a:r>
                        <a:rPr lang="en-US" sz="2400" b="1" dirty="0">
                          <a:latin typeface="Times New Roman" panose="02020603050405020304" pitchFamily="18" charset="0"/>
                          <a:cs typeface="Times New Roman" panose="02020603050405020304" pitchFamily="18" charset="0"/>
                        </a:rPr>
                        <a:t>P3</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0    1    1</a:t>
                      </a:r>
                    </a:p>
                  </a:txBody>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Safe</a:t>
                      </a:r>
                    </a:p>
                  </a:txBody>
                  <a:tcPr/>
                </a:tc>
                <a:extLst>
                  <a:ext uri="{0D108BD9-81ED-4DB2-BD59-A6C34878D82A}">
                    <a16:rowId xmlns:a16="http://schemas.microsoft.com/office/drawing/2014/main" val="3576624577"/>
                  </a:ext>
                </a:extLst>
              </a:tr>
              <a:tr h="511629">
                <a:tc>
                  <a:txBody>
                    <a:bodyPr/>
                    <a:lstStyle/>
                    <a:p>
                      <a:pPr algn="ctr"/>
                      <a:r>
                        <a:rPr lang="en-US" sz="2400" b="1" dirty="0">
                          <a:latin typeface="Times New Roman" panose="02020603050405020304" pitchFamily="18" charset="0"/>
                          <a:cs typeface="Times New Roman" panose="02020603050405020304" pitchFamily="18" charset="0"/>
                        </a:rPr>
                        <a:t>P4</a:t>
                      </a: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4    3    1</a:t>
                      </a:r>
                    </a:p>
                  </a:txBody>
                  <a:tcPr/>
                </a:tc>
                <a:tc>
                  <a:txBody>
                    <a:bodyPr/>
                    <a:lstStyle/>
                    <a:p>
                      <a:pPr algn="ctr"/>
                      <a:endParaRPr lang="en-US" sz="2400" b="1">
                        <a:latin typeface="Times New Roman" panose="02020603050405020304" pitchFamily="18" charset="0"/>
                        <a:cs typeface="Times New Roman" panose="02020603050405020304" pitchFamily="18" charset="0"/>
                      </a:endParaRPr>
                    </a:p>
                  </a:txBody>
                  <a:tcPr/>
                </a:tc>
                <a:tc>
                  <a:txBody>
                    <a:bodyPr/>
                    <a:lstStyle/>
                    <a:p>
                      <a:pPr algn="ctr"/>
                      <a:r>
                        <a:rPr lang="en-US" sz="2400" b="1" dirty="0">
                          <a:solidFill>
                            <a:srgbClr val="FF0000"/>
                          </a:solidFill>
                          <a:latin typeface="Times New Roman" panose="02020603050405020304" pitchFamily="18" charset="0"/>
                          <a:cs typeface="Times New Roman" panose="02020603050405020304" pitchFamily="18" charset="0"/>
                        </a:rPr>
                        <a:t>Unsafe</a:t>
                      </a:r>
                    </a:p>
                  </a:txBody>
                  <a:tcPr/>
                </a:tc>
                <a:extLst>
                  <a:ext uri="{0D108BD9-81ED-4DB2-BD59-A6C34878D82A}">
                    <a16:rowId xmlns:a16="http://schemas.microsoft.com/office/drawing/2014/main" val="1891198167"/>
                  </a:ext>
                </a:extLst>
              </a:tr>
            </a:tbl>
          </a:graphicData>
        </a:graphic>
      </p:graphicFrame>
    </p:spTree>
    <p:extLst>
      <p:ext uri="{BB962C8B-B14F-4D97-AF65-F5344CB8AC3E}">
        <p14:creationId xmlns:p14="http://schemas.microsoft.com/office/powerpoint/2010/main" val="3857781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C:\Users\Muhammad Adnan Malik\Desktop\empty-fuel-gage.gif"/>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extLst>
      <p:ext uri="{BB962C8B-B14F-4D97-AF65-F5344CB8AC3E}">
        <p14:creationId xmlns:p14="http://schemas.microsoft.com/office/powerpoint/2010/main" val="2790437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4740</TotalTime>
  <Words>1468</Words>
  <Application>Microsoft Office PowerPoint</Application>
  <PresentationFormat>On-screen Show (4:3)</PresentationFormat>
  <Paragraphs>256</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Times New Roman</vt:lpstr>
      <vt:lpstr>Wingdings</vt:lpstr>
      <vt:lpstr>Office Theme</vt:lpstr>
      <vt:lpstr>PowerPoint Presentation</vt:lpstr>
      <vt:lpstr>PowerPoint Presentation</vt:lpstr>
      <vt:lpstr>DEADLOCK</vt:lpstr>
      <vt:lpstr>PowerPoint Presentation</vt:lpstr>
      <vt:lpstr>RESOURCE</vt:lpstr>
      <vt:lpstr>TYPES OF RESOURCE </vt:lpstr>
      <vt:lpstr>RESOURCE</vt:lpstr>
      <vt:lpstr>DEADLOCK</vt:lpstr>
      <vt:lpstr>DEADLOCK</vt:lpstr>
      <vt:lpstr>PowerPoint Presentation</vt:lpstr>
      <vt:lpstr>SEQUENCE OF STEPS TO USE A RESOURCE</vt:lpstr>
      <vt:lpstr>SQUENCE OF STEPS TO USE A RESOURCE</vt:lpstr>
      <vt:lpstr>PowerPoint Presentation</vt:lpstr>
      <vt:lpstr>Conditions For Creating Deadlock</vt:lpstr>
      <vt:lpstr>Conditions For Creating Deadlock</vt:lpstr>
      <vt:lpstr>Conditions For Creating Deadlock</vt:lpstr>
      <vt:lpstr>Conditions For Creating Deadlock</vt:lpstr>
      <vt:lpstr>Important</vt:lpstr>
      <vt:lpstr>PowerPoint Presentation</vt:lpstr>
      <vt:lpstr>Strategies to deal with deadlocks</vt:lpstr>
      <vt:lpstr>Strategies to deal with deadlocks</vt:lpstr>
      <vt:lpstr>Strategies to deal with deadlocks</vt:lpstr>
      <vt:lpstr>PowerPoint Presentation</vt:lpstr>
      <vt:lpstr>Safe and Unsafe State in Deadlock</vt:lpstr>
      <vt:lpstr>Safe and Unsafe State in Deadlock</vt:lpstr>
      <vt:lpstr>PowerPoint Presentation</vt:lpstr>
      <vt:lpstr>Starvation</vt:lpstr>
      <vt:lpstr>Starvation</vt:lpstr>
      <vt:lpstr>PowerPoint Presentation</vt:lpstr>
      <vt:lpstr>Banker’s Algorithm</vt:lpstr>
      <vt:lpstr>Banker’s Algorithm</vt:lpstr>
      <vt:lpstr>Banker’s Algorithm: Example</vt:lpstr>
      <vt:lpstr>Banker’s Algorithm: Example</vt:lpstr>
      <vt:lpstr>Banker’s Algorithm: Example</vt:lpstr>
      <vt:lpstr>Banker’s Algorithm: Example</vt:lpstr>
      <vt:lpstr>Banker’s Algorithm: Example</vt:lpstr>
      <vt:lpstr>Banker’s Algorithm: Example</vt:lpstr>
      <vt:lpstr>Banker’s Algorithm: 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ADDNAN</dc:creator>
  <cp:lastModifiedBy>pc</cp:lastModifiedBy>
  <cp:revision>204</cp:revision>
  <dcterms:created xsi:type="dcterms:W3CDTF">2006-08-16T00:00:00Z</dcterms:created>
  <dcterms:modified xsi:type="dcterms:W3CDTF">2025-11-25T18:16:33Z</dcterms:modified>
</cp:coreProperties>
</file>