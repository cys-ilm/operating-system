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397" r:id="rId3"/>
    <p:sldId id="399" r:id="rId4"/>
    <p:sldId id="400" r:id="rId5"/>
    <p:sldId id="401" r:id="rId6"/>
    <p:sldId id="403" r:id="rId7"/>
    <p:sldId id="407" r:id="rId8"/>
    <p:sldId id="404" r:id="rId9"/>
    <p:sldId id="439" r:id="rId10"/>
    <p:sldId id="405" r:id="rId11"/>
    <p:sldId id="406" r:id="rId12"/>
    <p:sldId id="428" r:id="rId13"/>
    <p:sldId id="429" r:id="rId14"/>
    <p:sldId id="408" r:id="rId15"/>
    <p:sldId id="418" r:id="rId16"/>
    <p:sldId id="409" r:id="rId17"/>
    <p:sldId id="412" r:id="rId18"/>
    <p:sldId id="411" r:id="rId19"/>
    <p:sldId id="414" r:id="rId20"/>
    <p:sldId id="415" r:id="rId21"/>
    <p:sldId id="416" r:id="rId22"/>
    <p:sldId id="417" r:id="rId23"/>
    <p:sldId id="431" r:id="rId24"/>
    <p:sldId id="442" r:id="rId25"/>
    <p:sldId id="419" r:id="rId26"/>
    <p:sldId id="420" r:id="rId27"/>
    <p:sldId id="441" r:id="rId28"/>
    <p:sldId id="421" r:id="rId29"/>
    <p:sldId id="422" r:id="rId30"/>
    <p:sldId id="423" r:id="rId31"/>
    <p:sldId id="443" r:id="rId32"/>
    <p:sldId id="444" r:id="rId33"/>
    <p:sldId id="445" r:id="rId34"/>
    <p:sldId id="446" r:id="rId35"/>
    <p:sldId id="424" r:id="rId36"/>
    <p:sldId id="425" r:id="rId37"/>
    <p:sldId id="426" r:id="rId38"/>
    <p:sldId id="427" r:id="rId39"/>
    <p:sldId id="432" r:id="rId40"/>
    <p:sldId id="433" r:id="rId41"/>
    <p:sldId id="434" r:id="rId42"/>
    <p:sldId id="435" r:id="rId43"/>
    <p:sldId id="436" r:id="rId44"/>
    <p:sldId id="437" r:id="rId45"/>
    <p:sldId id="438" r:id="rId46"/>
    <p:sldId id="356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>
      <p:cViewPr varScale="1">
        <p:scale>
          <a:sx n="61" d="100"/>
          <a:sy n="61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BB1CA-D4D1-4052-BB55-2B7D3E8029F1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A5784-93A2-494A-AA95-91D34290EA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60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2057400"/>
            <a:ext cx="4038600" cy="4068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057400"/>
            <a:ext cx="4038600" cy="4068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2D039A8-6B2D-46B2-9F06-B3F4BB0F33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2863" y="42863"/>
            <a:ext cx="9066212" cy="6773862"/>
          </a:xfrm>
          <a:prstGeom prst="rect">
            <a:avLst/>
          </a:prstGeom>
          <a:solidFill>
            <a:srgbClr val="CC9900"/>
          </a:solidFill>
          <a:ln w="76200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pic>
        <p:nvPicPr>
          <p:cNvPr id="3075" name="Picture 3" descr="C:\My Pictures\surveyart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8382000" cy="628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42863" y="920679"/>
            <a:ext cx="905827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3500" dir="2212194" algn="ctr" rotWithShape="0">
              <a:srgbClr val="663300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7200" b="1" dirty="0">
                <a:solidFill>
                  <a:schemeClr val="bg1"/>
                </a:solidFill>
              </a:rPr>
              <a:t>Operating Systems</a:t>
            </a:r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1409700" y="2098699"/>
            <a:ext cx="6324600" cy="3456682"/>
          </a:xfrm>
          <a:prstGeom prst="flowChartDecision">
            <a:avLst/>
          </a:prstGeom>
          <a:solidFill>
            <a:schemeClr val="bg1"/>
          </a:solidFill>
          <a:ln w="76200">
            <a:solidFill>
              <a:srgbClr val="CC9900"/>
            </a:solidFill>
            <a:miter lim="800000"/>
            <a:headEnd/>
            <a:tailEnd/>
          </a:ln>
          <a:effectLst>
            <a:prstShdw prst="shdw17" dist="17961" dir="13500000">
              <a:schemeClr val="tx1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i="1" dirty="0">
                <a:solidFill>
                  <a:srgbClr val="7030A0"/>
                </a:solidFill>
              </a:rPr>
              <a:t>Lecture#4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7030A0"/>
                </a:solidFill>
              </a:rPr>
              <a:t>Scheduler and its types,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7030A0"/>
                </a:solidFill>
              </a:rPr>
              <a:t> Scheduling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and Scheduler</a:t>
            </a:r>
          </a:p>
        </p:txBody>
      </p:sp>
    </p:spTree>
    <p:extLst>
      <p:ext uri="{BB962C8B-B14F-4D97-AF65-F5344CB8AC3E}">
        <p14:creationId xmlns:p14="http://schemas.microsoft.com/office/powerpoint/2010/main" val="3117533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0597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When more than one process is runnable, the operating system must decide which one run first. The part of the operating system concerned with this decision is called the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scheduler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algorithm it uses is called the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scheduling algorithm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and Scheduler</a:t>
            </a:r>
          </a:p>
        </p:txBody>
      </p:sp>
    </p:spTree>
    <p:extLst>
      <p:ext uri="{BB962C8B-B14F-4D97-AF65-F5344CB8AC3E}">
        <p14:creationId xmlns:p14="http://schemas.microsoft.com/office/powerpoint/2010/main" val="282559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0597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Scheduler</a:t>
            </a: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8D60FA20-6663-4EE6-B4B7-06F19884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050" y="2085975"/>
            <a:ext cx="4211638" cy="5191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Types of Scheduler</a:t>
            </a:r>
          </a:p>
        </p:txBody>
      </p:sp>
      <p:sp>
        <p:nvSpPr>
          <p:cNvPr id="5" name="Line 11">
            <a:extLst>
              <a:ext uri="{FF2B5EF4-FFF2-40B4-BE49-F238E27FC236}">
                <a16:creationId xmlns:a16="http://schemas.microsoft.com/office/drawing/2014/main" id="{6B5A2263-6155-4AEF-9239-22CE7BAFE0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5263" y="2600325"/>
            <a:ext cx="1584325" cy="180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" name="Line 12">
            <a:extLst>
              <a:ext uri="{FF2B5EF4-FFF2-40B4-BE49-F238E27FC236}">
                <a16:creationId xmlns:a16="http://schemas.microsoft.com/office/drawing/2014/main" id="{F0F15C2B-1918-4912-B362-295766FAF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0700" y="2592388"/>
            <a:ext cx="2197100" cy="1820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1C5E2D34-1BDD-41EF-ADC4-DBA1DC25E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03725"/>
            <a:ext cx="2574925" cy="935038"/>
          </a:xfrm>
          <a:prstGeom prst="flowChartAlternateProcess">
            <a:avLst/>
          </a:prstGeom>
          <a:gradFill rotWithShape="1">
            <a:gsLst>
              <a:gs pos="0">
                <a:schemeClr val="accent1"/>
              </a:gs>
              <a:gs pos="100000">
                <a:srgbClr val="0000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Primary Scheduler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2DA7C064-6044-4DE3-A2ED-8931F666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402138"/>
            <a:ext cx="2819400" cy="935037"/>
          </a:xfrm>
          <a:prstGeom prst="flowChartAlternateProcess">
            <a:avLst/>
          </a:prstGeom>
          <a:gradFill rotWithShape="1">
            <a:gsLst>
              <a:gs pos="0">
                <a:schemeClr val="accent1"/>
              </a:gs>
              <a:gs pos="100000">
                <a:srgbClr val="0000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Scheduler</a:t>
            </a:r>
          </a:p>
        </p:txBody>
      </p:sp>
    </p:spTree>
    <p:extLst>
      <p:ext uri="{BB962C8B-B14F-4D97-AF65-F5344CB8AC3E}">
        <p14:creationId xmlns:p14="http://schemas.microsoft.com/office/powerpoint/2010/main" val="167227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602560"/>
          </a:xfrm>
        </p:spPr>
        <p:txBody>
          <a:bodyPr>
            <a:noAutofit/>
          </a:bodyPr>
          <a:lstStyle/>
          <a:p>
            <a:pPr marL="0" indent="0" algn="just">
              <a:buNone/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Primary Scheduler </a:t>
            </a:r>
            <a:endParaRPr lang="en-US" b="1" u="sng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Runs threads with the highest priority.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then compares their priority and assigns resources to them, depending on their priority. 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Threads with the highest priority will be executed for the current time slice.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With two or more threads with the same priority, they are put on a stack to allow each run on a given time slot.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4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and Scheduler: Primary Scheduler</a:t>
            </a:r>
          </a:p>
        </p:txBody>
      </p:sp>
    </p:spTree>
    <p:extLst>
      <p:ext uri="{BB962C8B-B14F-4D97-AF65-F5344CB8AC3E}">
        <p14:creationId xmlns:p14="http://schemas.microsoft.com/office/powerpoint/2010/main" val="335078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059760"/>
          </a:xfrm>
        </p:spPr>
        <p:txBody>
          <a:bodyPr>
            <a:noAutofit/>
          </a:bodyPr>
          <a:lstStyle/>
          <a:p>
            <a:pPr marL="0" indent="0" algn="just">
              <a:buNone/>
              <a:defRPr/>
            </a:pP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Secondary Scheduler </a:t>
            </a:r>
            <a:endParaRPr lang="en-US" b="1" u="sng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is responsible for increasing the priority of non-executing threads.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is important that those low-priority threads are given a chance to run on the operating system and this is the function of this type of scheduler.</a:t>
            </a:r>
          </a:p>
          <a:p>
            <a:pPr algn="just"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and Scheduler: Secondary Scheduler</a:t>
            </a:r>
          </a:p>
        </p:txBody>
      </p:sp>
    </p:spTree>
    <p:extLst>
      <p:ext uri="{BB962C8B-B14F-4D97-AF65-F5344CB8AC3E}">
        <p14:creationId xmlns:p14="http://schemas.microsoft.com/office/powerpoint/2010/main" val="288706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scheduler knows the current status of each process?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 need to define states of processes so that scheduler can respond to each process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and Scheduler</a:t>
            </a:r>
          </a:p>
        </p:txBody>
      </p:sp>
    </p:spTree>
    <p:extLst>
      <p:ext uri="{BB962C8B-B14F-4D97-AF65-F5344CB8AC3E}">
        <p14:creationId xmlns:p14="http://schemas.microsoft.com/office/powerpoint/2010/main" val="161769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STATES OF PROCESS</a:t>
            </a:r>
          </a:p>
        </p:txBody>
      </p:sp>
    </p:spTree>
    <p:extLst>
      <p:ext uri="{BB962C8B-B14F-4D97-AF65-F5344CB8AC3E}">
        <p14:creationId xmlns:p14="http://schemas.microsoft.com/office/powerpoint/2010/main" val="1440778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New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Ready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Running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Waiting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Terminated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STATES OF PROCESS</a:t>
            </a:r>
          </a:p>
        </p:txBody>
      </p:sp>
    </p:spTree>
    <p:extLst>
      <p:ext uri="{BB962C8B-B14F-4D97-AF65-F5344CB8AC3E}">
        <p14:creationId xmlns:p14="http://schemas.microsoft.com/office/powerpoint/2010/main" val="24519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Ready: </a:t>
            </a: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The process is in the main memory(RAM) and available for execution.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Blocked: </a:t>
            </a: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The process is in the main memory and awaiting response.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Blocked/Suspend:</a:t>
            </a: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 The process is in secondary memory(hard disk) and awaiting response.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Ready/Suspend: </a:t>
            </a: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The process is in the secondary memory(hard disk) but is available for execution as soon as it is loaded into the main memory.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STATES OF PROCESS</a:t>
            </a:r>
          </a:p>
        </p:txBody>
      </p:sp>
    </p:spTree>
    <p:extLst>
      <p:ext uri="{BB962C8B-B14F-4D97-AF65-F5344CB8AC3E}">
        <p14:creationId xmlns:p14="http://schemas.microsoft.com/office/powerpoint/2010/main" val="120940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These four states helps the scheduler to respond to each process according to its current state so that process can be handled efficiently.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STATES OF PROCESS</a:t>
            </a:r>
          </a:p>
        </p:txBody>
      </p:sp>
    </p:spTree>
    <p:extLst>
      <p:ext uri="{BB962C8B-B14F-4D97-AF65-F5344CB8AC3E}">
        <p14:creationId xmlns:p14="http://schemas.microsoft.com/office/powerpoint/2010/main" val="227087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Goals</a:t>
            </a:r>
          </a:p>
        </p:txBody>
      </p:sp>
    </p:spTree>
    <p:extLst>
      <p:ext uri="{BB962C8B-B14F-4D97-AF65-F5344CB8AC3E}">
        <p14:creationId xmlns:p14="http://schemas.microsoft.com/office/powerpoint/2010/main" val="1985400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Scheduler makes sure that each process gets its fair share of the CPU.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Scheduler must keeps the CPU busy 100 percent of the time.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Scheduler should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waiting time for job.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Turnaround: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Scheduler should minimize the time of how long processes must wait for output.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Scheduler should  maximize the number of jobs processed per hour.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Goals</a:t>
            </a:r>
          </a:p>
        </p:txBody>
      </p:sp>
    </p:spTree>
    <p:extLst>
      <p:ext uri="{BB962C8B-B14F-4D97-AF65-F5344CB8AC3E}">
        <p14:creationId xmlns:p14="http://schemas.microsoft.com/office/powerpoint/2010/main" val="275966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Algorithms</a:t>
            </a:r>
          </a:p>
        </p:txBody>
      </p:sp>
    </p:spTree>
    <p:extLst>
      <p:ext uri="{BB962C8B-B14F-4D97-AF65-F5344CB8AC3E}">
        <p14:creationId xmlns:p14="http://schemas.microsoft.com/office/powerpoint/2010/main" val="594220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58311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Two types of scheduling algorithms: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Non-preemptive Scheduling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scheduling is non-preemptive if, once a process has been given to the CPU, it cannot be taken away.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Preemptive Scheduling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scheduling is preemptive if, once a process has been given to the CPU, it can be taken away.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Preemptive and Non- Preemptive Scheduling Algorithms</a:t>
            </a:r>
          </a:p>
        </p:txBody>
      </p:sp>
    </p:spTree>
    <p:extLst>
      <p:ext uri="{BB962C8B-B14F-4D97-AF65-F5344CB8AC3E}">
        <p14:creationId xmlns:p14="http://schemas.microsoft.com/office/powerpoint/2010/main" val="409826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buFontTx/>
              <a:buAutoNum type="arabicPeriod"/>
            </a:pP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FCFS Scheduling </a:t>
            </a:r>
          </a:p>
          <a:p>
            <a:pPr>
              <a:lnSpc>
                <a:spcPct val="200000"/>
              </a:lnSpc>
              <a:buFontTx/>
              <a:buAutoNum type="arabicPeriod"/>
            </a:pP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SJF Scheduling</a:t>
            </a:r>
          </a:p>
          <a:p>
            <a:pPr>
              <a:lnSpc>
                <a:spcPct val="200000"/>
              </a:lnSpc>
              <a:buFontTx/>
              <a:buAutoNum type="arabicPeriod"/>
            </a:pP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SRTN Scheduling</a:t>
            </a:r>
          </a:p>
          <a:p>
            <a:pPr>
              <a:lnSpc>
                <a:spcPct val="200000"/>
              </a:lnSpc>
              <a:buFontTx/>
              <a:buAutoNum type="arabicPeriod"/>
            </a:pP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Priority Scheduling</a:t>
            </a:r>
          </a:p>
          <a:p>
            <a:pPr>
              <a:lnSpc>
                <a:spcPct val="200000"/>
              </a:lnSpc>
              <a:buFontTx/>
              <a:buAutoNum type="arabicPeriod"/>
            </a:pP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Round Robin (RR) Scheduling 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4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7428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FCFS(First Come First Serve)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2755711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 is Non-preemptive Algorithm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Follows First-In-First-Out (FIFO) rule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Run-to-Completion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Run-Until-Finish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FCFS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377684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Runs the processes in the order they arrive.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Removes a process from the processor only if it is in block state or terminates.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Advantage: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Good for long processes when they finally get on.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Disadvantage: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Bad for short processes if they are behind a long process.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FCFS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315695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FCFS Scheduling algorithm</a:t>
            </a:r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0B10294A-F78B-4AD3-9448-229944871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865040"/>
            <a:ext cx="6496050" cy="369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08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SJF(Shortest Job First)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1365399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Shortest-Job-First (SJF) is a non-preemptive scheduling algorithm.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 this algorithm the process which takes the shortest time to complete is run first.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It thus completes the processes that need a short time to be served and hence processes can be efficiently handled.</a:t>
            </a:r>
          </a:p>
          <a:p>
            <a:pPr algn="just">
              <a:lnSpc>
                <a:spcPct val="150000"/>
              </a:lnSpc>
            </a:pP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SJF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10566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P3 has shortest time unit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of 2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and hence is scheduled first.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Process with same time units can be placed one after other.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SJF Scheduling algorithm</a:t>
            </a:r>
          </a:p>
        </p:txBody>
      </p:sp>
      <p:pic>
        <p:nvPicPr>
          <p:cNvPr id="4" name="Picture 11" descr="sjf">
            <a:extLst>
              <a:ext uri="{FF2B5EF4-FFF2-40B4-BE49-F238E27FC236}">
                <a16:creationId xmlns:a16="http://schemas.microsoft.com/office/drawing/2014/main" id="{CA2882FA-C07B-4AE9-B450-6D6343DBF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" y="4114800"/>
            <a:ext cx="8172450" cy="1944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827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SJF Scheduling algorithm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0833" t="44071" r="71667" b="30731"/>
          <a:stretch/>
        </p:blipFill>
        <p:spPr>
          <a:xfrm>
            <a:off x="1752600" y="1600200"/>
            <a:ext cx="4572000" cy="370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89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SRTN(Shortest Remaining Time Next)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732524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50000"/>
              </a:lnSpc>
              <a:buFont typeface="Interstate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It is preemptive version of SJF.</a:t>
            </a:r>
          </a:p>
          <a:p>
            <a:pPr marL="514350" indent="-514350" algn="just">
              <a:lnSpc>
                <a:spcPct val="150000"/>
              </a:lnSpc>
              <a:buFont typeface="Interstate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Short job is given immediate preference to a running longer job.</a:t>
            </a:r>
          </a:p>
          <a:p>
            <a:pPr marL="514350" indent="-514350" algn="just">
              <a:lnSpc>
                <a:spcPct val="150000"/>
              </a:lnSpc>
              <a:buFont typeface="Interstate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The scheduler always chooses the process whose remaining run time is the shortest.</a:t>
            </a:r>
          </a:p>
          <a:p>
            <a:pPr marL="514350" indent="-514350" algn="just">
              <a:lnSpc>
                <a:spcPct val="150000"/>
              </a:lnSpc>
              <a:buFont typeface="Interstate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Must estimate expected remaining processing time</a:t>
            </a:r>
          </a:p>
          <a:p>
            <a:pPr marL="514350" indent="-514350" algn="just">
              <a:lnSpc>
                <a:spcPct val="150000"/>
              </a:lnSpc>
              <a:buFont typeface="Interstate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If the new job needs less time to finish than the current process, the current SJF process is suspended and the new job is finished by SRTN.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SRTN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137063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SRTN Scheduling algorithm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8333" t="35178" r="80000" b="39625"/>
          <a:stretch/>
        </p:blipFill>
        <p:spPr>
          <a:xfrm>
            <a:off x="2514600" y="1371600"/>
            <a:ext cx="2971800" cy="360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35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1772463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Each process is assigned a priority, and priority based process is allowed to run first.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Equal-Priority processes are scheduled in FCFS order.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shortest-Job-First (SJF) algorithm is a special case of general priority scheduling algorithm.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311091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algorithm</a:t>
            </a:r>
          </a:p>
        </p:txBody>
      </p:sp>
      <p:pic>
        <p:nvPicPr>
          <p:cNvPr id="2050" name="Picture 2" descr="Image result for Priority Scheduling">
            <a:extLst>
              <a:ext uri="{FF2B5EF4-FFF2-40B4-BE49-F238E27FC236}">
                <a16:creationId xmlns:a16="http://schemas.microsoft.com/office/drawing/2014/main" id="{DF05601F-6B09-492A-A28E-C5A1FDF31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865040"/>
            <a:ext cx="4053663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32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r>
              <a:rPr lang="en-US" sz="2800" dirty="0"/>
              <a:t>Examples of Internal priorities are</a:t>
            </a:r>
          </a:p>
          <a:p>
            <a:pPr lvl="1"/>
            <a:r>
              <a:rPr lang="en-US" sz="2400" dirty="0"/>
              <a:t>Time limits.</a:t>
            </a:r>
          </a:p>
          <a:p>
            <a:pPr lvl="1"/>
            <a:r>
              <a:rPr lang="en-US" sz="2400" dirty="0"/>
              <a:t>Memory requirements.</a:t>
            </a:r>
          </a:p>
          <a:p>
            <a:pPr lvl="1"/>
            <a:r>
              <a:rPr lang="en-US" sz="2400" dirty="0"/>
              <a:t>File requirements, </a:t>
            </a:r>
            <a:br>
              <a:rPr lang="en-US" sz="2400" dirty="0"/>
            </a:br>
            <a:r>
              <a:rPr lang="en-US" sz="2400" dirty="0"/>
              <a:t>    for example, number of open files.</a:t>
            </a:r>
          </a:p>
          <a:p>
            <a:pPr lvl="1"/>
            <a:r>
              <a:rPr lang="en-US" sz="2400" dirty="0"/>
              <a:t>CPU Vs I/O requirements.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188833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r>
              <a:rPr lang="en-US" sz="2800" dirty="0"/>
              <a:t>Externally defined priorities are set by criteria that are external to operating system such as</a:t>
            </a:r>
          </a:p>
          <a:p>
            <a:pPr lvl="1"/>
            <a:r>
              <a:rPr lang="en-US" sz="2400" dirty="0"/>
              <a:t>The importance of process.</a:t>
            </a:r>
          </a:p>
          <a:p>
            <a:pPr lvl="1"/>
            <a:r>
              <a:rPr lang="en-US" sz="2400" dirty="0"/>
              <a:t>Type or amount of funds being paid for computer use.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108841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r>
              <a:rPr lang="en-US" sz="2800" dirty="0"/>
              <a:t>Priority scheduling can be either preemptive or non preemptive</a:t>
            </a:r>
          </a:p>
          <a:p>
            <a:pPr lvl="1"/>
            <a:r>
              <a:rPr lang="en-US" sz="2400" dirty="0"/>
              <a:t>A preemptive priority algorithm will preempt the CPU if the priority of the newly arrival process is higher than the priority of the currently running process.</a:t>
            </a:r>
          </a:p>
          <a:p>
            <a:pPr lvl="1"/>
            <a:r>
              <a:rPr lang="en-US" sz="2400" dirty="0"/>
              <a:t>A non-preemptive priority algorithm will simply put the new process at the head of the ready queue.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74786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r>
              <a:rPr lang="en-US" sz="2800" dirty="0"/>
              <a:t>A major problem with priority scheduling is indefinite blocking or starvation. </a:t>
            </a:r>
          </a:p>
          <a:p>
            <a:r>
              <a:rPr lang="en-US" sz="2800" dirty="0"/>
              <a:t>A solution to the problem of indefinite blockage of the low-priority process is </a:t>
            </a:r>
            <a:r>
              <a:rPr lang="en-US" sz="2800" i="1" dirty="0"/>
              <a:t>aging</a:t>
            </a:r>
            <a:r>
              <a:rPr lang="en-US" sz="2800" dirty="0"/>
              <a:t>. </a:t>
            </a:r>
          </a:p>
          <a:p>
            <a:r>
              <a:rPr lang="en-US" sz="2800" dirty="0"/>
              <a:t>Aging is a technique of gradually increasing the priority of processes that wait in the system for a long period of time.</a:t>
            </a:r>
            <a:endParaRPr lang="en-US" sz="24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414671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Robin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20183088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Round-robin (RR) is one of the algorithms employed by process and network schedulers in computing.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algorithms time units or slices are allotted to process.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time unit is also called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quanta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or quantum.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Equal time slices are allotted to each process in form of a queue.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Once the time or quantum has passed for a particular process, the process is sent to the end of the queue and next one is handled.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Robin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126657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Here q is quantum or time slice.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Robin Scheduling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7BEB44-F1D2-43AE-A5E1-7701767AD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325" y="1728787"/>
            <a:ext cx="62293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2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Advantage of RR Algorithm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It is fair because each process gets equal share of CPU.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Disadvantage of RR Algorithm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If time slice is too short for any process, the CPU will get overloaded and it will also cause delay in process handling. 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Robin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304088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 a computer for example, the user starts three applications, Email, a web browser, and a word processor.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These applications are loaded into system memory as processes and each is allowed to run without the user considering which applications are running in the background.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RR Scheduling algorithm</a:t>
            </a:r>
          </a:p>
        </p:txBody>
      </p:sp>
    </p:spTree>
    <p:extLst>
      <p:ext uri="{BB962C8B-B14F-4D97-AF65-F5344CB8AC3E}">
        <p14:creationId xmlns:p14="http://schemas.microsoft.com/office/powerpoint/2010/main" val="379003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10874235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 this section we will now study some important concepts related to deadlocks.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This is also a major problem that an O.S has to solve.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Recall how a deadlock occurs.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a situation in which two computer programs sharing the same resource are preventing each other from accessing the resource, resulting in both programs ceasing to function. 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176360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4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</a:p>
        </p:txBody>
      </p:sp>
    </p:spTree>
    <p:extLst>
      <p:ext uri="{BB962C8B-B14F-4D97-AF65-F5344CB8AC3E}">
        <p14:creationId xmlns:p14="http://schemas.microsoft.com/office/powerpoint/2010/main" val="21331110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marL="228600" indent="-2286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resource is anything that can be used by only a  single process at any instant of time.</a:t>
            </a:r>
          </a:p>
          <a:p>
            <a:pPr marL="228600" indent="-2286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resource can be the hardware device or a piece of information.</a:t>
            </a:r>
          </a:p>
          <a:p>
            <a:pPr marL="228600" indent="-2286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 a printer is a hardware resource.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</a:p>
        </p:txBody>
      </p:sp>
    </p:spTree>
    <p:extLst>
      <p:ext uri="{BB962C8B-B14F-4D97-AF65-F5344CB8AC3E}">
        <p14:creationId xmlns:p14="http://schemas.microsoft.com/office/powerpoint/2010/main" val="283181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  <a:defRPr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RESOURCE 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67C7B348-2AE7-416E-BD16-62DA5FF345F1}"/>
              </a:ext>
            </a:extLst>
          </p:cNvPr>
          <p:cNvSpPr/>
          <p:nvPr/>
        </p:nvSpPr>
        <p:spPr>
          <a:xfrm>
            <a:off x="2857500" y="2102644"/>
            <a:ext cx="3143250" cy="64293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Resources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89200D3E-90B2-4D3F-83FD-2AF8CC55EA7E}"/>
              </a:ext>
            </a:extLst>
          </p:cNvPr>
          <p:cNvSpPr/>
          <p:nvPr/>
        </p:nvSpPr>
        <p:spPr>
          <a:xfrm>
            <a:off x="571500" y="4102894"/>
            <a:ext cx="3500438" cy="107156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</a:rPr>
              <a:t>Preemptable Resource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C6877221-BB98-40E0-B781-E9235B04AABA}"/>
              </a:ext>
            </a:extLst>
          </p:cNvPr>
          <p:cNvSpPr/>
          <p:nvPr/>
        </p:nvSpPr>
        <p:spPr>
          <a:xfrm>
            <a:off x="4764991" y="4102894"/>
            <a:ext cx="4143375" cy="107156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dirty="0">
                <a:solidFill>
                  <a:schemeClr val="tx1"/>
                </a:solidFill>
              </a:rPr>
              <a:t>Non-</a:t>
            </a:r>
            <a:r>
              <a:rPr lang="en-US" sz="2800" dirty="0" err="1">
                <a:solidFill>
                  <a:schemeClr val="tx1"/>
                </a:solidFill>
              </a:rPr>
              <a:t>Preemptable</a:t>
            </a:r>
            <a:r>
              <a:rPr lang="en-US" sz="2800" dirty="0">
                <a:solidFill>
                  <a:schemeClr val="tx1"/>
                </a:solidFill>
              </a:rPr>
              <a:t> Resource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DD3D92-9BBA-4839-BCE1-D609DAD4FD8D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321719" y="2745582"/>
            <a:ext cx="2107406" cy="135731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58C3AB-953D-48EC-942C-3782E85007E4}"/>
              </a:ext>
            </a:extLst>
          </p:cNvPr>
          <p:cNvCxnSpPr/>
          <p:nvPr/>
        </p:nvCxnSpPr>
        <p:spPr>
          <a:xfrm rot="16200000" flipH="1">
            <a:off x="4852938" y="2334419"/>
            <a:ext cx="1357312" cy="21796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42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240"/>
            <a:ext cx="9144000" cy="6059760"/>
          </a:xfrm>
        </p:spPr>
        <p:txBody>
          <a:bodyPr>
            <a:noAutofit/>
          </a:bodyPr>
          <a:lstStyle/>
          <a:p>
            <a:pPr marL="0" indent="0" algn="just">
              <a:buNone/>
              <a:defRPr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Preemptable Resource :</a:t>
            </a:r>
          </a:p>
          <a:p>
            <a:pPr algn="just"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one that can be taken away from the process owing it. </a:t>
            </a:r>
          </a:p>
          <a:p>
            <a:pPr algn="just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memory(RAM) is an example of preemptable resource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  <a:defRPr/>
            </a:pP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Non-Preemptable Resource:</a:t>
            </a:r>
          </a:p>
          <a:p>
            <a:pPr algn="just"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one that cannot be taken away from the process owing it.</a:t>
            </a:r>
          </a:p>
          <a:p>
            <a:pPr algn="just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CD-ROM, Tape Drives, Printers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examples of non-preemptable resources.</a:t>
            </a:r>
          </a:p>
          <a:p>
            <a:pPr marL="228600" indent="-2286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A01A5E-1549-4006-8590-69182A1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</a:p>
        </p:txBody>
      </p:sp>
    </p:spTree>
    <p:extLst>
      <p:ext uri="{BB962C8B-B14F-4D97-AF65-F5344CB8AC3E}">
        <p14:creationId xmlns:p14="http://schemas.microsoft.com/office/powerpoint/2010/main" val="380247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C:\Users\Muhammad Adnan Malik\Desktop\empty-fuel-gage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0437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3756</TotalTime>
  <Words>1369</Words>
  <Application>Microsoft Office PowerPoint</Application>
  <PresentationFormat>On-screen Show (4:3)</PresentationFormat>
  <Paragraphs>154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Interstate</vt:lpstr>
      <vt:lpstr>Times New Roman</vt:lpstr>
      <vt:lpstr>Wingdings</vt:lpstr>
      <vt:lpstr>Office Theme</vt:lpstr>
      <vt:lpstr>PowerPoint Presentation</vt:lpstr>
      <vt:lpstr>PowerPoint Presentation</vt:lpstr>
      <vt:lpstr>Scheduling and Scheduler</vt:lpstr>
      <vt:lpstr>Types of Scheduler</vt:lpstr>
      <vt:lpstr>Scheduling and Scheduler: Primary Scheduler</vt:lpstr>
      <vt:lpstr>Scheduling and Scheduler: Secondary Scheduler</vt:lpstr>
      <vt:lpstr>Scheduling and Scheduler</vt:lpstr>
      <vt:lpstr>PowerPoint Presentation</vt:lpstr>
      <vt:lpstr>FOUR STATES OF PROCESS</vt:lpstr>
      <vt:lpstr>FOUR STATES OF PROCESS</vt:lpstr>
      <vt:lpstr>FOUR STATES OF PROCESS</vt:lpstr>
      <vt:lpstr>PowerPoint Presentation</vt:lpstr>
      <vt:lpstr>Scheduling Goals</vt:lpstr>
      <vt:lpstr>PowerPoint Presentation</vt:lpstr>
      <vt:lpstr>Preemptive and Non- Preemptive Scheduling Algorithms</vt:lpstr>
      <vt:lpstr>Scheduling Algorithms</vt:lpstr>
      <vt:lpstr>PowerPoint Presentation</vt:lpstr>
      <vt:lpstr>FCFS Scheduling algorithm</vt:lpstr>
      <vt:lpstr>FCFS Scheduling algorithm</vt:lpstr>
      <vt:lpstr>FCFS Scheduling algorithm</vt:lpstr>
      <vt:lpstr>PowerPoint Presentation</vt:lpstr>
      <vt:lpstr>SJF Scheduling algorithm</vt:lpstr>
      <vt:lpstr>SJF Scheduling algorithm</vt:lpstr>
      <vt:lpstr>SJF Scheduling algorithm</vt:lpstr>
      <vt:lpstr>PowerPoint Presentation</vt:lpstr>
      <vt:lpstr>SRTN Scheduling algorithm</vt:lpstr>
      <vt:lpstr>SRTN Scheduling algorithm</vt:lpstr>
      <vt:lpstr>PowerPoint Presentation</vt:lpstr>
      <vt:lpstr>Priority Scheduling algorithm</vt:lpstr>
      <vt:lpstr>Priority Scheduling algorithm</vt:lpstr>
      <vt:lpstr>Priority Scheduling algorithm</vt:lpstr>
      <vt:lpstr>Priority Scheduling algorithm</vt:lpstr>
      <vt:lpstr>Priority Scheduling algorithm</vt:lpstr>
      <vt:lpstr>Priority Scheduling algorithm</vt:lpstr>
      <vt:lpstr>PowerPoint Presentation</vt:lpstr>
      <vt:lpstr>Round Robin Scheduling algorithm</vt:lpstr>
      <vt:lpstr>Round Robin Scheduling algorithm</vt:lpstr>
      <vt:lpstr>Round Robin Scheduling algorithm</vt:lpstr>
      <vt:lpstr>Application of RR Scheduling algorithm</vt:lpstr>
      <vt:lpstr>PowerPoint Presentation</vt:lpstr>
      <vt:lpstr>DEADLOCK</vt:lpstr>
      <vt:lpstr>PowerPoint Presentation</vt:lpstr>
      <vt:lpstr>RESOURCE</vt:lpstr>
      <vt:lpstr>TYPES OF RESOURCE </vt:lpstr>
      <vt:lpstr>RESOURCE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ADDNAN</dc:creator>
  <cp:lastModifiedBy>pc</cp:lastModifiedBy>
  <cp:revision>185</cp:revision>
  <dcterms:created xsi:type="dcterms:W3CDTF">2006-08-16T00:00:00Z</dcterms:created>
  <dcterms:modified xsi:type="dcterms:W3CDTF">2025-11-11T16:19:27Z</dcterms:modified>
</cp:coreProperties>
</file>